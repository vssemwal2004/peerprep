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Press Start 2P" panose="020B0604020202020204" charset="0"/>
      <p:regular r:id="rId9"/>
    </p:embeddedFont>
    <p:embeddedFont>
      <p:font typeface="Segoe UI" panose="020B0502040204020203" pitchFamily="34" charset="0"/>
      <p:regular r:id="rId10"/>
      <p:bold r:id="rId11"/>
      <p:italic r:id="rId12"/>
      <p:boldItalic r:id="rId13"/>
    </p:embeddedFont>
    <p:embeddedFont>
      <p:font typeface="Segoe UI Semibold" panose="020B0702040204020203" pitchFamily="34" charset="0"/>
      <p:bold r:id="rId14"/>
      <p:boldItalic r:id="rId15"/>
    </p:embeddedFont>
  </p:embeddedFontLst>
  <p:defaultTextStyle>
    <a:defPPr marR="0" algn="l">
      <a:lnSpc>
        <a:spcPct val="100000"/>
      </a:lnSpc>
      <a:spcBef>
        <a:spcPts val="0"/>
      </a:spcBef>
      <a:spcAft>
        <a:spcPts val="0"/>
      </a:spcAft>
      <a:buNone/>
    </a:defPPr>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ADE4148-FFA2-403C-8162-F8E462DD34A3}">
  <a:tblStyle styleId="{5ADE4148-FFA2-403C-8162-F8E462DD34A3}"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28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PeerPrep is a placement preparation and skill development platform for students. Team leader: Anubhav Dhyani. Team members: Vivek Semwal and Akshit Rawat. Graphic Era Hill University, Dehradun, Uttarakhand.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Students need to understand their interview readiness and skill gaps. Coordinators need a consolidated view to target support before placements. National research context: Economic Survey 2025–26, Government of India, Chapter 12, printed page 497, section 12.48, identifies mismatches between industry needs and training. https://www.indiabudget.gov.in/economicsurvey/doc/eschapter/echap12.pdf . This source covers the national skilling ecosystem and does not quantify readiness at Graphic Era Hill University.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PeerPrep proposes one platform linking student preparation to university readiness tracking. Structured learning and coding practice build technical skills. Assessments and mock interviews provide preparation feedback, while analytics identify gaps and track progress. Coordinators and administrators use role-based dashboards to monitor student cohorts and target support. The proposed connection between individual preparation and institutional visibility is the design focus.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r>
              <a:t>PeerPrep's current implementation uses React 19 and Vite for the frontend, Node.js and Express.js for backend services, and MongoDB with Mongoose for preparation data. Socket.IO provides real-time notifications. Valkey/Redis queues and dedicated compiler and assessment workers integrate with Judge0 for coding execution. Browser-based assessment monitoring uses MediaPipe, TensorFlow.js and COCO-SSD. Existing modules include role-based student, coordinator and administrator dashboards, resume building, coding practice, assessments, mock interview workflows, analytics and placement readiness tracking. The analytics are primarily rules-based. Company-specific assessments, explainable skill mapping, personalized improvement recommendations and AI-driven mock interviews are planned enhancements. The platform does not yet have a fully AI-powered interviewer. Monitoring occurs during assessments alongside submission processing; the numbered sections describe the main components rather than a rigid single sequence.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ct val="100000"/>
              </a:lnSpc>
              <a:spcBef>
                <a:spcPts val="0"/>
              </a:spcBef>
              <a:spcAft>
                <a:spcPts val="0"/>
              </a:spcAft>
              <a:buSzPts val="1100"/>
              <a:buNone/>
            </a:pP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12" name="Google Shape;12;p2">
            <a:extLst>
              <a:ext uri="{FF2B5EF4-FFF2-40B4-BE49-F238E27FC236}">
                <a16:creationId xmlns:a16="http://schemas.microsoft.com/office/drawing/2014/main" id="{1202FFA5-D466-4160-ABD4-6D859648730E}"/>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3" name="Google Shape;13;p2">
            <a:extLst>
              <a:ext uri="{FF2B5EF4-FFF2-40B4-BE49-F238E27FC236}">
                <a16:creationId xmlns:a16="http://schemas.microsoft.com/office/drawing/2014/main" id="{AE576692-1169-44F8-8B36-7839535DBA26}"/>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4" name="Google Shape;14;p2">
            <a:extLst>
              <a:ext uri="{FF2B5EF4-FFF2-40B4-BE49-F238E27FC236}">
                <a16:creationId xmlns:a16="http://schemas.microsoft.com/office/drawing/2014/main" id="{BB88569C-C446-42CD-8D54-748E0ACE0D55}"/>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16" name="Google Shape;16;p3">
            <a:extLst>
              <a:ext uri="{FF2B5EF4-FFF2-40B4-BE49-F238E27FC236}">
                <a16:creationId xmlns:a16="http://schemas.microsoft.com/office/drawing/2014/main" id="{1A743240-D00C-48CE-AD81-546132A9B967}"/>
              </a:ext>
            </a:extLst>
          </p:cNvPr>
          <p:cNvSpPr>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7" name="Google Shape;17;p3">
            <a:extLst>
              <a:ext uri="{FF2B5EF4-FFF2-40B4-BE49-F238E27FC236}">
                <a16:creationId xmlns:a16="http://schemas.microsoft.com/office/drawing/2014/main" id="{DF0C3C6B-AB68-48EB-8C6E-72B94FDAAD59}"/>
              </a:ext>
            </a:extLst>
          </p:cNvPr>
          <p:cNvSpPr>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ormAutofit/>
          </a:bodyPr>
          <a:lstStyle>
            <a:lvl1pPr algn="ctr">
              <a:lnSpc>
                <a:spcPct val="100000"/>
              </a:lnSpc>
              <a:spcBef>
                <a:spcPts val="640"/>
              </a:spcBef>
              <a:spcAft>
                <a:spcPts val="0"/>
              </a:spcAft>
              <a:buClr>
                <a:srgbClr val="888888"/>
              </a:buClr>
              <a:buSzPts val="3200"/>
              <a:buNone/>
              <a:defRPr>
                <a:solidFill>
                  <a:srgbClr val="888888"/>
                </a:solidFill>
              </a:defRPr>
            </a:lvl1pPr>
            <a:lvl2pPr algn="ctr">
              <a:lnSpc>
                <a:spcPct val="100000"/>
              </a:lnSpc>
              <a:spcBef>
                <a:spcPts val="560"/>
              </a:spcBef>
              <a:spcAft>
                <a:spcPts val="0"/>
              </a:spcAft>
              <a:buClr>
                <a:srgbClr val="888888"/>
              </a:buClr>
              <a:buSzPts val="2800"/>
              <a:buNone/>
              <a:defRPr>
                <a:solidFill>
                  <a:srgbClr val="888888"/>
                </a:solidFill>
              </a:defRPr>
            </a:lvl2pPr>
            <a:lvl3pPr algn="ctr">
              <a:lnSpc>
                <a:spcPct val="100000"/>
              </a:lnSpc>
              <a:spcBef>
                <a:spcPts val="480"/>
              </a:spcBef>
              <a:spcAft>
                <a:spcPts val="0"/>
              </a:spcAft>
              <a:buClr>
                <a:srgbClr val="888888"/>
              </a:buClr>
              <a:buSzPts val="2400"/>
              <a:buNone/>
              <a:defRPr>
                <a:solidFill>
                  <a:srgbClr val="888888"/>
                </a:solidFill>
              </a:defRPr>
            </a:lvl3pPr>
            <a:lvl4pPr algn="ctr">
              <a:lnSpc>
                <a:spcPct val="100000"/>
              </a:lnSpc>
              <a:spcBef>
                <a:spcPts val="400"/>
              </a:spcBef>
              <a:spcAft>
                <a:spcPts val="0"/>
              </a:spcAft>
              <a:buClr>
                <a:srgbClr val="888888"/>
              </a:buClr>
              <a:buSzPts val="2000"/>
              <a:buNone/>
              <a:defRPr>
                <a:solidFill>
                  <a:srgbClr val="888888"/>
                </a:solidFill>
              </a:defRPr>
            </a:lvl4pPr>
            <a:lvl5pPr algn="ctr">
              <a:lnSpc>
                <a:spcPct val="100000"/>
              </a:lnSpc>
              <a:spcBef>
                <a:spcPts val="400"/>
              </a:spcBef>
              <a:spcAft>
                <a:spcPts val="0"/>
              </a:spcAft>
              <a:buClr>
                <a:srgbClr val="888888"/>
              </a:buClr>
              <a:buSzPts val="2000"/>
              <a:buNone/>
              <a:defRPr>
                <a:solidFill>
                  <a:srgbClr val="888888"/>
                </a:solidFill>
              </a:defRPr>
            </a:lvl5pPr>
            <a:lvl6pPr algn="ctr">
              <a:lnSpc>
                <a:spcPct val="100000"/>
              </a:lnSpc>
              <a:spcBef>
                <a:spcPts val="400"/>
              </a:spcBef>
              <a:spcAft>
                <a:spcPts val="0"/>
              </a:spcAft>
              <a:buClr>
                <a:srgbClr val="888888"/>
              </a:buClr>
              <a:buSzPts val="2000"/>
              <a:buNone/>
              <a:defRPr>
                <a:solidFill>
                  <a:srgbClr val="888888"/>
                </a:solidFill>
              </a:defRPr>
            </a:lvl6pPr>
            <a:lvl7pPr algn="ctr">
              <a:lnSpc>
                <a:spcPct val="100000"/>
              </a:lnSpc>
              <a:spcBef>
                <a:spcPts val="400"/>
              </a:spcBef>
              <a:spcAft>
                <a:spcPts val="0"/>
              </a:spcAft>
              <a:buClr>
                <a:srgbClr val="888888"/>
              </a:buClr>
              <a:buSzPts val="2000"/>
              <a:buNone/>
              <a:defRPr>
                <a:solidFill>
                  <a:srgbClr val="888888"/>
                </a:solidFill>
              </a:defRPr>
            </a:lvl7pPr>
            <a:lvl8pPr algn="ctr">
              <a:lnSpc>
                <a:spcPct val="100000"/>
              </a:lnSpc>
              <a:spcBef>
                <a:spcPts val="400"/>
              </a:spcBef>
              <a:spcAft>
                <a:spcPts val="0"/>
              </a:spcAft>
              <a:buClr>
                <a:srgbClr val="888888"/>
              </a:buClr>
              <a:buSzPts val="2000"/>
              <a:buNone/>
              <a:defRPr>
                <a:solidFill>
                  <a:srgbClr val="888888"/>
                </a:solidFill>
              </a:defRPr>
            </a:lvl8pPr>
            <a:lvl9pPr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3">
            <a:extLst>
              <a:ext uri="{FF2B5EF4-FFF2-40B4-BE49-F238E27FC236}">
                <a16:creationId xmlns:a16="http://schemas.microsoft.com/office/drawing/2014/main" id="{DD9B673F-2F96-4A73-9382-84C49D7AC6DB}"/>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19" name="Google Shape;19;p3">
            <a:extLst>
              <a:ext uri="{FF2B5EF4-FFF2-40B4-BE49-F238E27FC236}">
                <a16:creationId xmlns:a16="http://schemas.microsoft.com/office/drawing/2014/main" id="{182C51A2-AB14-46E8-A039-5907F06E7D67}"/>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0" name="Google Shape;20;p3">
            <a:extLst>
              <a:ext uri="{FF2B5EF4-FFF2-40B4-BE49-F238E27FC236}">
                <a16:creationId xmlns:a16="http://schemas.microsoft.com/office/drawing/2014/main" id="{7C21AC4E-C0B6-4C15-8F3A-875939FFD318}"/>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
        <p:cNvGrpSpPr/>
        <p:nvPr/>
      </p:nvGrpSpPr>
      <p:grpSpPr>
        <a:xfrm>
          <a:off x="0" y="0"/>
          <a:ext cx="0" cy="0"/>
          <a:chOff x="0" y="0"/>
          <a:chExt cx="0" cy="0"/>
        </a:xfrm>
      </p:grpSpPr>
      <p:sp>
        <p:nvSpPr>
          <p:cNvPr id="22" name="Google Shape;22;p4">
            <a:extLst>
              <a:ext uri="{FF2B5EF4-FFF2-40B4-BE49-F238E27FC236}">
                <a16:creationId xmlns:a16="http://schemas.microsoft.com/office/drawing/2014/main" id="{7B427CA6-7027-4648-83C5-7674500D24E5}"/>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3" name="Google Shape;23;p4">
            <a:extLst>
              <a:ext uri="{FF2B5EF4-FFF2-40B4-BE49-F238E27FC236}">
                <a16:creationId xmlns:a16="http://schemas.microsoft.com/office/drawing/2014/main" id="{07FE07F8-1A01-4539-AF69-C1A4782AF933}"/>
              </a:ext>
            </a:extLst>
          </p:cNvPr>
          <p:cNvSpPr>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ormAutofit/>
          </a:bodyPr>
          <a:lstStyle>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a:endParaRPr/>
          </a:p>
        </p:txBody>
      </p:sp>
      <p:sp>
        <p:nvSpPr>
          <p:cNvPr id="24" name="Google Shape;24;p4">
            <a:extLst>
              <a:ext uri="{FF2B5EF4-FFF2-40B4-BE49-F238E27FC236}">
                <a16:creationId xmlns:a16="http://schemas.microsoft.com/office/drawing/2014/main" id="{0037874D-AC6D-4259-8836-71B7B796F637}"/>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5" name="Google Shape;25;p4">
            <a:extLst>
              <a:ext uri="{FF2B5EF4-FFF2-40B4-BE49-F238E27FC236}">
                <a16:creationId xmlns:a16="http://schemas.microsoft.com/office/drawing/2014/main" id="{CC76F72F-8087-4C4E-8611-D22527EDB830}"/>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6" name="Google Shape;26;p4">
            <a:extLst>
              <a:ext uri="{FF2B5EF4-FFF2-40B4-BE49-F238E27FC236}">
                <a16:creationId xmlns:a16="http://schemas.microsoft.com/office/drawing/2014/main" id="{879D57F0-DBC1-4888-A016-5BD425FA4967}"/>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28" name="Google Shape;28;p5">
            <a:extLst>
              <a:ext uri="{FF2B5EF4-FFF2-40B4-BE49-F238E27FC236}">
                <a16:creationId xmlns:a16="http://schemas.microsoft.com/office/drawing/2014/main" id="{B9B1CD2E-D560-4C86-BFF7-4C0F04273326}"/>
              </a:ext>
            </a:extLst>
          </p:cNvPr>
          <p:cNvSpPr>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ormAutofit/>
          </a:bodyPr>
          <a:lstStyle>
            <a:lvl1pPr algn="l">
              <a:lnSpc>
                <a:spcPct val="100000"/>
              </a:lnSpc>
              <a:spcBef>
                <a:spcPts val="0"/>
              </a:spcBef>
              <a:spcAft>
                <a:spcPts val="0"/>
              </a:spcAft>
              <a:buClr>
                <a:schemeClr val="dk1"/>
              </a:buClr>
              <a:buSzPts val="4000"/>
              <a:buFont typeface="Calibri"/>
              <a:buNone/>
              <a:defRPr sz="4000" b="1"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29" name="Google Shape;29;p5">
            <a:extLst>
              <a:ext uri="{FF2B5EF4-FFF2-40B4-BE49-F238E27FC236}">
                <a16:creationId xmlns:a16="http://schemas.microsoft.com/office/drawing/2014/main" id="{8E41DCC4-3198-4D85-BEC9-2D5EF65FC23A}"/>
              </a:ext>
            </a:extLst>
          </p:cNvPr>
          <p:cNvSpPr>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ormAutofit/>
          </a:bodyPr>
          <a:lstStyle>
            <a:lvl1pPr marL="457200" indent="-228600" algn="l">
              <a:lnSpc>
                <a:spcPct val="100000"/>
              </a:lnSpc>
              <a:spcBef>
                <a:spcPts val="400"/>
              </a:spcBef>
              <a:spcAft>
                <a:spcPts val="0"/>
              </a:spcAft>
              <a:buClr>
                <a:srgbClr val="888888"/>
              </a:buClr>
              <a:buSzPts val="2000"/>
              <a:buNone/>
              <a:defRPr sz="2000">
                <a:solidFill>
                  <a:srgbClr val="888888"/>
                </a:solidFill>
              </a:defRPr>
            </a:lvl1pPr>
            <a:lvl2pPr marL="914400" indent="-228600" algn="l">
              <a:lnSpc>
                <a:spcPct val="100000"/>
              </a:lnSpc>
              <a:spcBef>
                <a:spcPts val="360"/>
              </a:spcBef>
              <a:spcAft>
                <a:spcPts val="0"/>
              </a:spcAft>
              <a:buClr>
                <a:srgbClr val="888888"/>
              </a:buClr>
              <a:buSzPts val="1800"/>
              <a:buNone/>
              <a:defRPr sz="1800">
                <a:solidFill>
                  <a:srgbClr val="888888"/>
                </a:solidFill>
              </a:defRPr>
            </a:lvl2pPr>
            <a:lvl3pPr marL="1371600" indent="-228600" algn="l">
              <a:lnSpc>
                <a:spcPct val="100000"/>
              </a:lnSpc>
              <a:spcBef>
                <a:spcPts val="320"/>
              </a:spcBef>
              <a:spcAft>
                <a:spcPts val="0"/>
              </a:spcAft>
              <a:buClr>
                <a:srgbClr val="888888"/>
              </a:buClr>
              <a:buSzPts val="1600"/>
              <a:buNone/>
              <a:defRPr sz="1600">
                <a:solidFill>
                  <a:srgbClr val="888888"/>
                </a:solidFill>
              </a:defRPr>
            </a:lvl3pPr>
            <a:lvl4pPr marL="1828800" indent="-228600" algn="l">
              <a:lnSpc>
                <a:spcPct val="100000"/>
              </a:lnSpc>
              <a:spcBef>
                <a:spcPts val="280"/>
              </a:spcBef>
              <a:spcAft>
                <a:spcPts val="0"/>
              </a:spcAft>
              <a:buClr>
                <a:srgbClr val="888888"/>
              </a:buClr>
              <a:buSzPts val="1400"/>
              <a:buNone/>
              <a:defRPr sz="1400">
                <a:solidFill>
                  <a:srgbClr val="888888"/>
                </a:solidFill>
              </a:defRPr>
            </a:lvl4pPr>
            <a:lvl5pPr marL="2286000" indent="-228600" algn="l">
              <a:lnSpc>
                <a:spcPct val="100000"/>
              </a:lnSpc>
              <a:spcBef>
                <a:spcPts val="280"/>
              </a:spcBef>
              <a:spcAft>
                <a:spcPts val="0"/>
              </a:spcAft>
              <a:buClr>
                <a:srgbClr val="888888"/>
              </a:buClr>
              <a:buSzPts val="1400"/>
              <a:buNone/>
              <a:defRPr sz="1400">
                <a:solidFill>
                  <a:srgbClr val="888888"/>
                </a:solidFill>
              </a:defRPr>
            </a:lvl5pPr>
            <a:lvl6pPr marL="2743200" indent="-228600" algn="l">
              <a:lnSpc>
                <a:spcPct val="100000"/>
              </a:lnSpc>
              <a:spcBef>
                <a:spcPts val="280"/>
              </a:spcBef>
              <a:spcAft>
                <a:spcPts val="0"/>
              </a:spcAft>
              <a:buClr>
                <a:srgbClr val="888888"/>
              </a:buClr>
              <a:buSzPts val="1400"/>
              <a:buNone/>
              <a:defRPr sz="1400">
                <a:solidFill>
                  <a:srgbClr val="888888"/>
                </a:solidFill>
              </a:defRPr>
            </a:lvl6pPr>
            <a:lvl7pPr marL="3200400" indent="-228600" algn="l">
              <a:lnSpc>
                <a:spcPct val="100000"/>
              </a:lnSpc>
              <a:spcBef>
                <a:spcPts val="280"/>
              </a:spcBef>
              <a:spcAft>
                <a:spcPts val="0"/>
              </a:spcAft>
              <a:buClr>
                <a:srgbClr val="888888"/>
              </a:buClr>
              <a:buSzPts val="1400"/>
              <a:buNone/>
              <a:defRPr sz="1400">
                <a:solidFill>
                  <a:srgbClr val="888888"/>
                </a:solidFill>
              </a:defRPr>
            </a:lvl7pPr>
            <a:lvl8pPr marL="3657600" indent="-228600" algn="l">
              <a:lnSpc>
                <a:spcPct val="100000"/>
              </a:lnSpc>
              <a:spcBef>
                <a:spcPts val="280"/>
              </a:spcBef>
              <a:spcAft>
                <a:spcPts val="0"/>
              </a:spcAft>
              <a:buClr>
                <a:srgbClr val="888888"/>
              </a:buClr>
              <a:buSzPts val="1400"/>
              <a:buNone/>
              <a:defRPr sz="1400">
                <a:solidFill>
                  <a:srgbClr val="888888"/>
                </a:solidFill>
              </a:defRPr>
            </a:lvl8pPr>
            <a:lvl9pPr marL="4114800"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5">
            <a:extLst>
              <a:ext uri="{FF2B5EF4-FFF2-40B4-BE49-F238E27FC236}">
                <a16:creationId xmlns:a16="http://schemas.microsoft.com/office/drawing/2014/main" id="{38C48AC5-177C-424A-AD75-C3D5327D72D1}"/>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1" name="Google Shape;31;p5">
            <a:extLst>
              <a:ext uri="{FF2B5EF4-FFF2-40B4-BE49-F238E27FC236}">
                <a16:creationId xmlns:a16="http://schemas.microsoft.com/office/drawing/2014/main" id="{32C6E7E9-889E-41D2-BA14-32AEFBC6724E}"/>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2" name="Google Shape;32;p5">
            <a:extLst>
              <a:ext uri="{FF2B5EF4-FFF2-40B4-BE49-F238E27FC236}">
                <a16:creationId xmlns:a16="http://schemas.microsoft.com/office/drawing/2014/main" id="{EEA17CCB-1D89-4E57-8DF2-6CA7E6308721}"/>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
        <p:cNvGrpSpPr/>
        <p:nvPr/>
      </p:nvGrpSpPr>
      <p:grpSpPr>
        <a:xfrm>
          <a:off x="0" y="0"/>
          <a:ext cx="0" cy="0"/>
          <a:chOff x="0" y="0"/>
          <a:chExt cx="0" cy="0"/>
        </a:xfrm>
      </p:grpSpPr>
      <p:sp>
        <p:nvSpPr>
          <p:cNvPr id="34" name="Google Shape;34;p6">
            <a:extLst>
              <a:ext uri="{FF2B5EF4-FFF2-40B4-BE49-F238E27FC236}">
                <a16:creationId xmlns:a16="http://schemas.microsoft.com/office/drawing/2014/main" id="{9724837A-5EC9-477C-842F-0EF9871C48C4}"/>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5" name="Google Shape;35;p6">
            <a:extLst>
              <a:ext uri="{FF2B5EF4-FFF2-40B4-BE49-F238E27FC236}">
                <a16:creationId xmlns:a16="http://schemas.microsoft.com/office/drawing/2014/main" id="{AE52E1F4-FA8D-42FF-A25F-DE4E5B884B1B}"/>
              </a:ext>
            </a:extLst>
          </p:cNvPr>
          <p:cNvSpPr>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ormAutofit/>
          </a:bodyPr>
          <a:lstStyle>
            <a:lvl1pPr marL="457200" indent="-406400" algn="l">
              <a:lnSpc>
                <a:spcPct val="100000"/>
              </a:lnSpc>
              <a:spcBef>
                <a:spcPts val="560"/>
              </a:spcBef>
              <a:spcAft>
                <a:spcPts val="0"/>
              </a:spcAft>
              <a:buClr>
                <a:schemeClr val="dk1"/>
              </a:buClr>
              <a:buSzPts val="2800"/>
              <a:buChar char="•"/>
              <a:defRPr sz="2800"/>
            </a:lvl1pPr>
            <a:lvl2pPr marL="914400" indent="-381000" algn="l">
              <a:lnSpc>
                <a:spcPct val="100000"/>
              </a:lnSpc>
              <a:spcBef>
                <a:spcPts val="480"/>
              </a:spcBef>
              <a:spcAft>
                <a:spcPts val="0"/>
              </a:spcAft>
              <a:buClr>
                <a:schemeClr val="dk1"/>
              </a:buClr>
              <a:buSzPts val="2400"/>
              <a:buChar char="–"/>
              <a:defRPr sz="2400"/>
            </a:lvl2pPr>
            <a:lvl3pPr marL="1371600" indent="-355600" algn="l">
              <a:lnSpc>
                <a:spcPct val="100000"/>
              </a:lnSpc>
              <a:spcBef>
                <a:spcPts val="400"/>
              </a:spcBef>
              <a:spcAft>
                <a:spcPts val="0"/>
              </a:spcAft>
              <a:buClr>
                <a:schemeClr val="dk1"/>
              </a:buClr>
              <a:buSzPts val="2000"/>
              <a:buChar char="•"/>
              <a:defRPr sz="2000"/>
            </a:lvl3pPr>
            <a:lvl4pPr marL="1828800" indent="-342900" algn="l">
              <a:lnSpc>
                <a:spcPct val="100000"/>
              </a:lnSpc>
              <a:spcBef>
                <a:spcPts val="360"/>
              </a:spcBef>
              <a:spcAft>
                <a:spcPts val="0"/>
              </a:spcAft>
              <a:buClr>
                <a:schemeClr val="dk1"/>
              </a:buClr>
              <a:buSzPts val="1800"/>
              <a:buChar char="–"/>
              <a:defRPr sz="1800"/>
            </a:lvl4pPr>
            <a:lvl5pPr marL="2286000" indent="-342900" algn="l">
              <a:lnSpc>
                <a:spcPct val="100000"/>
              </a:lnSpc>
              <a:spcBef>
                <a:spcPts val="360"/>
              </a:spcBef>
              <a:spcAft>
                <a:spcPts val="0"/>
              </a:spcAft>
              <a:buClr>
                <a:schemeClr val="dk1"/>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6">
            <a:extLst>
              <a:ext uri="{FF2B5EF4-FFF2-40B4-BE49-F238E27FC236}">
                <a16:creationId xmlns:a16="http://schemas.microsoft.com/office/drawing/2014/main" id="{2695C97E-14F5-47EA-BF3B-A40B9255B30F}"/>
              </a:ext>
            </a:extLst>
          </p:cNvPr>
          <p:cNvSpPr>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ormAutofit/>
          </a:bodyPr>
          <a:lstStyle>
            <a:lvl1pPr marL="457200" indent="-406400" algn="l">
              <a:lnSpc>
                <a:spcPct val="100000"/>
              </a:lnSpc>
              <a:spcBef>
                <a:spcPts val="560"/>
              </a:spcBef>
              <a:spcAft>
                <a:spcPts val="0"/>
              </a:spcAft>
              <a:buClr>
                <a:schemeClr val="dk1"/>
              </a:buClr>
              <a:buSzPts val="2800"/>
              <a:buChar char="•"/>
              <a:defRPr sz="2800"/>
            </a:lvl1pPr>
            <a:lvl2pPr marL="914400" indent="-381000" algn="l">
              <a:lnSpc>
                <a:spcPct val="100000"/>
              </a:lnSpc>
              <a:spcBef>
                <a:spcPts val="480"/>
              </a:spcBef>
              <a:spcAft>
                <a:spcPts val="0"/>
              </a:spcAft>
              <a:buClr>
                <a:schemeClr val="dk1"/>
              </a:buClr>
              <a:buSzPts val="2400"/>
              <a:buChar char="–"/>
              <a:defRPr sz="2400"/>
            </a:lvl2pPr>
            <a:lvl3pPr marL="1371600" indent="-355600" algn="l">
              <a:lnSpc>
                <a:spcPct val="100000"/>
              </a:lnSpc>
              <a:spcBef>
                <a:spcPts val="400"/>
              </a:spcBef>
              <a:spcAft>
                <a:spcPts val="0"/>
              </a:spcAft>
              <a:buClr>
                <a:schemeClr val="dk1"/>
              </a:buClr>
              <a:buSzPts val="2000"/>
              <a:buChar char="•"/>
              <a:defRPr sz="2000"/>
            </a:lvl3pPr>
            <a:lvl4pPr marL="1828800" indent="-342900" algn="l">
              <a:lnSpc>
                <a:spcPct val="100000"/>
              </a:lnSpc>
              <a:spcBef>
                <a:spcPts val="360"/>
              </a:spcBef>
              <a:spcAft>
                <a:spcPts val="0"/>
              </a:spcAft>
              <a:buClr>
                <a:schemeClr val="dk1"/>
              </a:buClr>
              <a:buSzPts val="1800"/>
              <a:buChar char="–"/>
              <a:defRPr sz="1800"/>
            </a:lvl4pPr>
            <a:lvl5pPr marL="2286000" indent="-342900" algn="l">
              <a:lnSpc>
                <a:spcPct val="100000"/>
              </a:lnSpc>
              <a:spcBef>
                <a:spcPts val="360"/>
              </a:spcBef>
              <a:spcAft>
                <a:spcPts val="0"/>
              </a:spcAft>
              <a:buClr>
                <a:schemeClr val="dk1"/>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6">
            <a:extLst>
              <a:ext uri="{FF2B5EF4-FFF2-40B4-BE49-F238E27FC236}">
                <a16:creationId xmlns:a16="http://schemas.microsoft.com/office/drawing/2014/main" id="{8FF56E61-CCE1-4096-BD9C-832BDD01F312}"/>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8" name="Google Shape;38;p6">
            <a:extLst>
              <a:ext uri="{FF2B5EF4-FFF2-40B4-BE49-F238E27FC236}">
                <a16:creationId xmlns:a16="http://schemas.microsoft.com/office/drawing/2014/main" id="{1A1939DF-E848-42F5-8EA6-D168D3ECE3E7}"/>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39" name="Google Shape;39;p6">
            <a:extLst>
              <a:ext uri="{FF2B5EF4-FFF2-40B4-BE49-F238E27FC236}">
                <a16:creationId xmlns:a16="http://schemas.microsoft.com/office/drawing/2014/main" id="{A7A5D2D6-BBB0-4825-931F-D5DDF2BF29E9}"/>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
        <p:cNvGrpSpPr/>
        <p:nvPr/>
      </p:nvGrpSpPr>
      <p:grpSpPr>
        <a:xfrm>
          <a:off x="0" y="0"/>
          <a:ext cx="0" cy="0"/>
          <a:chOff x="0" y="0"/>
          <a:chExt cx="0" cy="0"/>
        </a:xfrm>
      </p:grpSpPr>
      <p:sp>
        <p:nvSpPr>
          <p:cNvPr id="41" name="Google Shape;41;p7">
            <a:extLst>
              <a:ext uri="{FF2B5EF4-FFF2-40B4-BE49-F238E27FC236}">
                <a16:creationId xmlns:a16="http://schemas.microsoft.com/office/drawing/2014/main" id="{FC42D08B-90C7-4968-B0F9-3EB3470E2B4C}"/>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4400"/>
              <a:buFont typeface="Calibri"/>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2" name="Google Shape;42;p7">
            <a:extLst>
              <a:ext uri="{FF2B5EF4-FFF2-40B4-BE49-F238E27FC236}">
                <a16:creationId xmlns:a16="http://schemas.microsoft.com/office/drawing/2014/main" id="{05858897-4E53-47C9-9BDA-04B52053750E}"/>
              </a:ext>
            </a:extLst>
          </p:cNvPr>
          <p:cNvSpPr>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ormAutofit/>
          </a:bodyPr>
          <a:lstStyle>
            <a:lvl1pPr marL="457200" indent="-228600" algn="l">
              <a:lnSpc>
                <a:spcPct val="100000"/>
              </a:lnSpc>
              <a:spcBef>
                <a:spcPts val="480"/>
              </a:spcBef>
              <a:spcAft>
                <a:spcPts val="0"/>
              </a:spcAft>
              <a:buClr>
                <a:schemeClr val="dk1"/>
              </a:buClr>
              <a:buSzPts val="2400"/>
              <a:buNone/>
              <a:defRPr sz="2400" b="1"/>
            </a:lvl1pPr>
            <a:lvl2pPr marL="914400" indent="-228600" algn="l">
              <a:lnSpc>
                <a:spcPct val="100000"/>
              </a:lnSpc>
              <a:spcBef>
                <a:spcPts val="400"/>
              </a:spcBef>
              <a:spcAft>
                <a:spcPts val="0"/>
              </a:spcAft>
              <a:buClr>
                <a:schemeClr val="dk1"/>
              </a:buClr>
              <a:buSzPts val="2000"/>
              <a:buNone/>
              <a:defRPr sz="2000" b="1"/>
            </a:lvl2pPr>
            <a:lvl3pPr marL="1371600" indent="-228600" algn="l">
              <a:lnSpc>
                <a:spcPct val="100000"/>
              </a:lnSpc>
              <a:spcBef>
                <a:spcPts val="360"/>
              </a:spcBef>
              <a:spcAft>
                <a:spcPts val="0"/>
              </a:spcAft>
              <a:buClr>
                <a:schemeClr val="dk1"/>
              </a:buClr>
              <a:buSzPts val="1800"/>
              <a:buNone/>
              <a:defRPr sz="1800" b="1"/>
            </a:lvl3pPr>
            <a:lvl4pPr marL="1828800" indent="-228600" algn="l">
              <a:lnSpc>
                <a:spcPct val="100000"/>
              </a:lnSpc>
              <a:spcBef>
                <a:spcPts val="320"/>
              </a:spcBef>
              <a:spcAft>
                <a:spcPts val="0"/>
              </a:spcAft>
              <a:buClr>
                <a:schemeClr val="dk1"/>
              </a:buClr>
              <a:buSzPts val="1600"/>
              <a:buNone/>
              <a:defRPr sz="1600" b="1"/>
            </a:lvl4pPr>
            <a:lvl5pPr marL="2286000" indent="-228600" algn="l">
              <a:lnSpc>
                <a:spcPct val="100000"/>
              </a:lnSpc>
              <a:spcBef>
                <a:spcPts val="320"/>
              </a:spcBef>
              <a:spcAft>
                <a:spcPts val="0"/>
              </a:spcAft>
              <a:buClr>
                <a:schemeClr val="dk1"/>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a:endParaRPr/>
          </a:p>
        </p:txBody>
      </p:sp>
      <p:sp>
        <p:nvSpPr>
          <p:cNvPr id="43" name="Google Shape;43;p7">
            <a:extLst>
              <a:ext uri="{FF2B5EF4-FFF2-40B4-BE49-F238E27FC236}">
                <a16:creationId xmlns:a16="http://schemas.microsoft.com/office/drawing/2014/main" id="{2DD0CBE1-5C65-4C81-87CF-93873B7071FD}"/>
              </a:ext>
            </a:extLst>
          </p:cNvPr>
          <p:cNvSpPr>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ormAutofit/>
          </a:bodyPr>
          <a:lstStyle>
            <a:lvl1pPr marL="457200" indent="-381000" algn="l">
              <a:lnSpc>
                <a:spcPct val="100000"/>
              </a:lnSpc>
              <a:spcBef>
                <a:spcPts val="480"/>
              </a:spcBef>
              <a:spcAft>
                <a:spcPts val="0"/>
              </a:spcAft>
              <a:buClr>
                <a:schemeClr val="dk1"/>
              </a:buClr>
              <a:buSzPts val="2400"/>
              <a:buChar char="•"/>
              <a:defRPr sz="2400"/>
            </a:lvl1pPr>
            <a:lvl2pPr marL="914400" indent="-355600" algn="l">
              <a:lnSpc>
                <a:spcPct val="100000"/>
              </a:lnSpc>
              <a:spcBef>
                <a:spcPts val="400"/>
              </a:spcBef>
              <a:spcAft>
                <a:spcPts val="0"/>
              </a:spcAft>
              <a:buClr>
                <a:schemeClr val="dk1"/>
              </a:buClr>
              <a:buSzPts val="2000"/>
              <a:buChar char="–"/>
              <a:defRPr sz="2000"/>
            </a:lvl2pPr>
            <a:lvl3pPr marL="1371600" indent="-342900" algn="l">
              <a:lnSpc>
                <a:spcPct val="100000"/>
              </a:lnSpc>
              <a:spcBef>
                <a:spcPts val="360"/>
              </a:spcBef>
              <a:spcAft>
                <a:spcPts val="0"/>
              </a:spcAft>
              <a:buClr>
                <a:schemeClr val="dk1"/>
              </a:buClr>
              <a:buSzPts val="1800"/>
              <a:buChar char="•"/>
              <a:defRPr sz="1800"/>
            </a:lvl3pPr>
            <a:lvl4pPr marL="1828800" indent="-330200" algn="l">
              <a:lnSpc>
                <a:spcPct val="100000"/>
              </a:lnSpc>
              <a:spcBef>
                <a:spcPts val="320"/>
              </a:spcBef>
              <a:spcAft>
                <a:spcPts val="0"/>
              </a:spcAft>
              <a:buClr>
                <a:schemeClr val="dk1"/>
              </a:buClr>
              <a:buSzPts val="1600"/>
              <a:buChar char="–"/>
              <a:defRPr sz="1600"/>
            </a:lvl4pPr>
            <a:lvl5pPr marL="2286000" indent="-330200" algn="l">
              <a:lnSpc>
                <a:spcPct val="100000"/>
              </a:lnSpc>
              <a:spcBef>
                <a:spcPts val="320"/>
              </a:spcBef>
              <a:spcAft>
                <a:spcPts val="0"/>
              </a:spcAft>
              <a:buClr>
                <a:schemeClr val="dk1"/>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7">
            <a:extLst>
              <a:ext uri="{FF2B5EF4-FFF2-40B4-BE49-F238E27FC236}">
                <a16:creationId xmlns:a16="http://schemas.microsoft.com/office/drawing/2014/main" id="{F31D8045-0BFA-4911-B200-402B71699256}"/>
              </a:ext>
            </a:extLst>
          </p:cNvPr>
          <p:cNvSpPr>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ormAutofit/>
          </a:bodyPr>
          <a:lstStyle>
            <a:lvl1pPr marL="457200" indent="-228600" algn="l">
              <a:lnSpc>
                <a:spcPct val="100000"/>
              </a:lnSpc>
              <a:spcBef>
                <a:spcPts val="480"/>
              </a:spcBef>
              <a:spcAft>
                <a:spcPts val="0"/>
              </a:spcAft>
              <a:buClr>
                <a:schemeClr val="dk1"/>
              </a:buClr>
              <a:buSzPts val="2400"/>
              <a:buNone/>
              <a:defRPr sz="2400" b="1"/>
            </a:lvl1pPr>
            <a:lvl2pPr marL="914400" indent="-228600" algn="l">
              <a:lnSpc>
                <a:spcPct val="100000"/>
              </a:lnSpc>
              <a:spcBef>
                <a:spcPts val="400"/>
              </a:spcBef>
              <a:spcAft>
                <a:spcPts val="0"/>
              </a:spcAft>
              <a:buClr>
                <a:schemeClr val="dk1"/>
              </a:buClr>
              <a:buSzPts val="2000"/>
              <a:buNone/>
              <a:defRPr sz="2000" b="1"/>
            </a:lvl2pPr>
            <a:lvl3pPr marL="1371600" indent="-228600" algn="l">
              <a:lnSpc>
                <a:spcPct val="100000"/>
              </a:lnSpc>
              <a:spcBef>
                <a:spcPts val="360"/>
              </a:spcBef>
              <a:spcAft>
                <a:spcPts val="0"/>
              </a:spcAft>
              <a:buClr>
                <a:schemeClr val="dk1"/>
              </a:buClr>
              <a:buSzPts val="1800"/>
              <a:buNone/>
              <a:defRPr sz="1800" b="1"/>
            </a:lvl3pPr>
            <a:lvl4pPr marL="1828800" indent="-228600" algn="l">
              <a:lnSpc>
                <a:spcPct val="100000"/>
              </a:lnSpc>
              <a:spcBef>
                <a:spcPts val="320"/>
              </a:spcBef>
              <a:spcAft>
                <a:spcPts val="0"/>
              </a:spcAft>
              <a:buClr>
                <a:schemeClr val="dk1"/>
              </a:buClr>
              <a:buSzPts val="1600"/>
              <a:buNone/>
              <a:defRPr sz="1600" b="1"/>
            </a:lvl4pPr>
            <a:lvl5pPr marL="2286000" indent="-228600" algn="l">
              <a:lnSpc>
                <a:spcPct val="100000"/>
              </a:lnSpc>
              <a:spcBef>
                <a:spcPts val="320"/>
              </a:spcBef>
              <a:spcAft>
                <a:spcPts val="0"/>
              </a:spcAft>
              <a:buClr>
                <a:schemeClr val="dk1"/>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a:endParaRPr/>
          </a:p>
        </p:txBody>
      </p:sp>
      <p:sp>
        <p:nvSpPr>
          <p:cNvPr id="45" name="Google Shape;45;p7">
            <a:extLst>
              <a:ext uri="{FF2B5EF4-FFF2-40B4-BE49-F238E27FC236}">
                <a16:creationId xmlns:a16="http://schemas.microsoft.com/office/drawing/2014/main" id="{D6FDBDB2-6847-4546-BA3F-BDB0C73294EE}"/>
              </a:ext>
            </a:extLst>
          </p:cNvPr>
          <p:cNvSpPr>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ormAutofit/>
          </a:bodyPr>
          <a:lstStyle>
            <a:lvl1pPr marL="457200" indent="-381000" algn="l">
              <a:lnSpc>
                <a:spcPct val="100000"/>
              </a:lnSpc>
              <a:spcBef>
                <a:spcPts val="480"/>
              </a:spcBef>
              <a:spcAft>
                <a:spcPts val="0"/>
              </a:spcAft>
              <a:buClr>
                <a:schemeClr val="dk1"/>
              </a:buClr>
              <a:buSzPts val="2400"/>
              <a:buChar char="•"/>
              <a:defRPr sz="2400"/>
            </a:lvl1pPr>
            <a:lvl2pPr marL="914400" indent="-355600" algn="l">
              <a:lnSpc>
                <a:spcPct val="100000"/>
              </a:lnSpc>
              <a:spcBef>
                <a:spcPts val="400"/>
              </a:spcBef>
              <a:spcAft>
                <a:spcPts val="0"/>
              </a:spcAft>
              <a:buClr>
                <a:schemeClr val="dk1"/>
              </a:buClr>
              <a:buSzPts val="2000"/>
              <a:buChar char="–"/>
              <a:defRPr sz="2000"/>
            </a:lvl2pPr>
            <a:lvl3pPr marL="1371600" indent="-342900" algn="l">
              <a:lnSpc>
                <a:spcPct val="100000"/>
              </a:lnSpc>
              <a:spcBef>
                <a:spcPts val="360"/>
              </a:spcBef>
              <a:spcAft>
                <a:spcPts val="0"/>
              </a:spcAft>
              <a:buClr>
                <a:schemeClr val="dk1"/>
              </a:buClr>
              <a:buSzPts val="1800"/>
              <a:buChar char="•"/>
              <a:defRPr sz="1800"/>
            </a:lvl3pPr>
            <a:lvl4pPr marL="1828800" indent="-330200" algn="l">
              <a:lnSpc>
                <a:spcPct val="100000"/>
              </a:lnSpc>
              <a:spcBef>
                <a:spcPts val="320"/>
              </a:spcBef>
              <a:spcAft>
                <a:spcPts val="0"/>
              </a:spcAft>
              <a:buClr>
                <a:schemeClr val="dk1"/>
              </a:buClr>
              <a:buSzPts val="1600"/>
              <a:buChar char="–"/>
              <a:defRPr sz="1600"/>
            </a:lvl4pPr>
            <a:lvl5pPr marL="2286000" indent="-330200" algn="l">
              <a:lnSpc>
                <a:spcPct val="100000"/>
              </a:lnSpc>
              <a:spcBef>
                <a:spcPts val="320"/>
              </a:spcBef>
              <a:spcAft>
                <a:spcPts val="0"/>
              </a:spcAft>
              <a:buClr>
                <a:schemeClr val="dk1"/>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7">
            <a:extLst>
              <a:ext uri="{FF2B5EF4-FFF2-40B4-BE49-F238E27FC236}">
                <a16:creationId xmlns:a16="http://schemas.microsoft.com/office/drawing/2014/main" id="{65766817-9118-4A90-8092-D62E26CABC56}"/>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7" name="Google Shape;47;p7">
            <a:extLst>
              <a:ext uri="{FF2B5EF4-FFF2-40B4-BE49-F238E27FC236}">
                <a16:creationId xmlns:a16="http://schemas.microsoft.com/office/drawing/2014/main" id="{6EA0F6D2-C7BD-4A66-B449-FDB8F87F1898}"/>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48" name="Google Shape;48;p7">
            <a:extLst>
              <a:ext uri="{FF2B5EF4-FFF2-40B4-BE49-F238E27FC236}">
                <a16:creationId xmlns:a16="http://schemas.microsoft.com/office/drawing/2014/main" id="{AAF1C2ED-AE18-43B6-ABD7-8BB5204D8B43}"/>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50" name="Google Shape;50;p8">
            <a:extLst>
              <a:ext uri="{FF2B5EF4-FFF2-40B4-BE49-F238E27FC236}">
                <a16:creationId xmlns:a16="http://schemas.microsoft.com/office/drawing/2014/main" id="{AA1F2067-B62F-4654-825C-A95FBD1FBDA0}"/>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1" name="Google Shape;51;p8">
            <a:extLst>
              <a:ext uri="{FF2B5EF4-FFF2-40B4-BE49-F238E27FC236}">
                <a16:creationId xmlns:a16="http://schemas.microsoft.com/office/drawing/2014/main" id="{6CAD7D9A-6796-423F-B387-3300CEE83A08}"/>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2" name="Google Shape;52;p8">
            <a:extLst>
              <a:ext uri="{FF2B5EF4-FFF2-40B4-BE49-F238E27FC236}">
                <a16:creationId xmlns:a16="http://schemas.microsoft.com/office/drawing/2014/main" id="{52521F4C-7036-45B5-A39B-B76C7D79FAC9}"/>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3" name="Google Shape;53;p8">
            <a:extLst>
              <a:ext uri="{FF2B5EF4-FFF2-40B4-BE49-F238E27FC236}">
                <a16:creationId xmlns:a16="http://schemas.microsoft.com/office/drawing/2014/main" id="{4854FBA8-50D6-4E96-96B8-1AEA833F01D2}"/>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
        <p:cNvGrpSpPr/>
        <p:nvPr/>
      </p:nvGrpSpPr>
      <p:grpSpPr>
        <a:xfrm>
          <a:off x="0" y="0"/>
          <a:ext cx="0" cy="0"/>
          <a:chOff x="0" y="0"/>
          <a:chExt cx="0" cy="0"/>
        </a:xfrm>
      </p:grpSpPr>
      <p:sp>
        <p:nvSpPr>
          <p:cNvPr id="55" name="Google Shape;55;p9">
            <a:extLst>
              <a:ext uri="{FF2B5EF4-FFF2-40B4-BE49-F238E27FC236}">
                <a16:creationId xmlns:a16="http://schemas.microsoft.com/office/drawing/2014/main" id="{0DD7CF61-C718-4C2F-BFCC-FF912C453459}"/>
              </a:ext>
            </a:extLst>
          </p:cNvPr>
          <p:cNvSpPr>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ormAutofit/>
          </a:bodyPr>
          <a:lstStyle>
            <a:lvl1pPr algn="l">
              <a:lnSpc>
                <a:spcPct val="100000"/>
              </a:lnSpc>
              <a:spcBef>
                <a:spcPts val="0"/>
              </a:spcBef>
              <a:spcAft>
                <a:spcPts val="0"/>
              </a:spcAft>
              <a:buClr>
                <a:schemeClr val="dk1"/>
              </a:buClr>
              <a:buSzPts val="2000"/>
              <a:buFont typeface="Calibri"/>
              <a:buNone/>
              <a:defRPr sz="2000"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6" name="Google Shape;56;p9">
            <a:extLst>
              <a:ext uri="{FF2B5EF4-FFF2-40B4-BE49-F238E27FC236}">
                <a16:creationId xmlns:a16="http://schemas.microsoft.com/office/drawing/2014/main" id="{6105D87A-9934-47EE-8CCC-497A02C6F720}"/>
              </a:ext>
            </a:extLst>
          </p:cNvPr>
          <p:cNvSpPr>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ormAutofit/>
          </a:bodyPr>
          <a:lstStyle>
            <a:lvl1pPr marL="457200" indent="-431800" algn="l">
              <a:lnSpc>
                <a:spcPct val="100000"/>
              </a:lnSpc>
              <a:spcBef>
                <a:spcPts val="640"/>
              </a:spcBef>
              <a:spcAft>
                <a:spcPts val="0"/>
              </a:spcAft>
              <a:buClr>
                <a:schemeClr val="dk1"/>
              </a:buClr>
              <a:buSzPts val="3200"/>
              <a:buChar char="•"/>
              <a:defRPr sz="3200"/>
            </a:lvl1pPr>
            <a:lvl2pPr marL="914400" indent="-406400" algn="l">
              <a:lnSpc>
                <a:spcPct val="100000"/>
              </a:lnSpc>
              <a:spcBef>
                <a:spcPts val="560"/>
              </a:spcBef>
              <a:spcAft>
                <a:spcPts val="0"/>
              </a:spcAft>
              <a:buClr>
                <a:schemeClr val="dk1"/>
              </a:buClr>
              <a:buSzPts val="2800"/>
              <a:buChar char="–"/>
              <a:defRPr sz="2800"/>
            </a:lvl2pPr>
            <a:lvl3pPr marL="1371600" indent="-381000" algn="l">
              <a:lnSpc>
                <a:spcPct val="100000"/>
              </a:lnSpc>
              <a:spcBef>
                <a:spcPts val="480"/>
              </a:spcBef>
              <a:spcAft>
                <a:spcPts val="0"/>
              </a:spcAft>
              <a:buClr>
                <a:schemeClr val="dk1"/>
              </a:buClr>
              <a:buSzPts val="2400"/>
              <a:buChar char="•"/>
              <a:defRPr sz="2400"/>
            </a:lvl3pPr>
            <a:lvl4pPr marL="1828800" indent="-355600" algn="l">
              <a:lnSpc>
                <a:spcPct val="100000"/>
              </a:lnSpc>
              <a:spcBef>
                <a:spcPts val="400"/>
              </a:spcBef>
              <a:spcAft>
                <a:spcPts val="0"/>
              </a:spcAft>
              <a:buClr>
                <a:schemeClr val="dk1"/>
              </a:buClr>
              <a:buSzPts val="2000"/>
              <a:buChar char="–"/>
              <a:defRPr sz="2000"/>
            </a:lvl4pPr>
            <a:lvl5pPr marL="2286000" indent="-355600" algn="l">
              <a:lnSpc>
                <a:spcPct val="100000"/>
              </a:lnSpc>
              <a:spcBef>
                <a:spcPts val="400"/>
              </a:spcBef>
              <a:spcAft>
                <a:spcPts val="0"/>
              </a:spcAft>
              <a:buClr>
                <a:schemeClr val="dk1"/>
              </a:buClr>
              <a:buSzPts val="2000"/>
              <a:buChar char="»"/>
              <a:defRPr sz="2000"/>
            </a:lvl5pPr>
            <a:lvl6pPr marL="2743200" indent="-355600" algn="l">
              <a:lnSpc>
                <a:spcPct val="100000"/>
              </a:lnSpc>
              <a:spcBef>
                <a:spcPts val="400"/>
              </a:spcBef>
              <a:spcAft>
                <a:spcPts val="0"/>
              </a:spcAft>
              <a:buClr>
                <a:schemeClr val="dk1"/>
              </a:buClr>
              <a:buSzPts val="2000"/>
              <a:buChar char="•"/>
              <a:defRPr sz="2000"/>
            </a:lvl6pPr>
            <a:lvl7pPr marL="3200400" indent="-355600" algn="l">
              <a:lnSpc>
                <a:spcPct val="100000"/>
              </a:lnSpc>
              <a:spcBef>
                <a:spcPts val="400"/>
              </a:spcBef>
              <a:spcAft>
                <a:spcPts val="0"/>
              </a:spcAft>
              <a:buClr>
                <a:schemeClr val="dk1"/>
              </a:buClr>
              <a:buSzPts val="2000"/>
              <a:buChar char="•"/>
              <a:defRPr sz="2000"/>
            </a:lvl7pPr>
            <a:lvl8pPr marL="3657600" indent="-355600" algn="l">
              <a:lnSpc>
                <a:spcPct val="100000"/>
              </a:lnSpc>
              <a:spcBef>
                <a:spcPts val="400"/>
              </a:spcBef>
              <a:spcAft>
                <a:spcPts val="0"/>
              </a:spcAft>
              <a:buClr>
                <a:schemeClr val="dk1"/>
              </a:buClr>
              <a:buSzPts val="2000"/>
              <a:buChar char="•"/>
              <a:defRPr sz="2000"/>
            </a:lvl8pPr>
            <a:lvl9pPr marL="4114800"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9">
            <a:extLst>
              <a:ext uri="{FF2B5EF4-FFF2-40B4-BE49-F238E27FC236}">
                <a16:creationId xmlns:a16="http://schemas.microsoft.com/office/drawing/2014/main" id="{E2BDD77E-E33F-427B-B646-03201F42A646}"/>
              </a:ext>
            </a:extLst>
          </p:cNvPr>
          <p:cNvSpPr>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ormAutofit/>
          </a:bodyPr>
          <a:lstStyle>
            <a:lvl1pPr marL="457200" indent="-228600" algn="l">
              <a:lnSpc>
                <a:spcPct val="100000"/>
              </a:lnSpc>
              <a:spcBef>
                <a:spcPts val="280"/>
              </a:spcBef>
              <a:spcAft>
                <a:spcPts val="0"/>
              </a:spcAft>
              <a:buClr>
                <a:schemeClr val="dk1"/>
              </a:buClr>
              <a:buSzPts val="1400"/>
              <a:buNone/>
              <a:defRPr sz="1400"/>
            </a:lvl1pPr>
            <a:lvl2pPr marL="914400" indent="-228600" algn="l">
              <a:lnSpc>
                <a:spcPct val="100000"/>
              </a:lnSpc>
              <a:spcBef>
                <a:spcPts val="240"/>
              </a:spcBef>
              <a:spcAft>
                <a:spcPts val="0"/>
              </a:spcAft>
              <a:buClr>
                <a:schemeClr val="dk1"/>
              </a:buClr>
              <a:buSzPts val="1200"/>
              <a:buNone/>
              <a:defRPr sz="1200"/>
            </a:lvl2pPr>
            <a:lvl3pPr marL="1371600" indent="-228600" algn="l">
              <a:lnSpc>
                <a:spcPct val="100000"/>
              </a:lnSpc>
              <a:spcBef>
                <a:spcPts val="200"/>
              </a:spcBef>
              <a:spcAft>
                <a:spcPts val="0"/>
              </a:spcAft>
              <a:buClr>
                <a:schemeClr val="dk1"/>
              </a:buClr>
              <a:buSzPts val="1000"/>
              <a:buNone/>
              <a:defRPr sz="1000"/>
            </a:lvl3pPr>
            <a:lvl4pPr marL="1828800" indent="-228600" algn="l">
              <a:lnSpc>
                <a:spcPct val="100000"/>
              </a:lnSpc>
              <a:spcBef>
                <a:spcPts val="180"/>
              </a:spcBef>
              <a:spcAft>
                <a:spcPts val="0"/>
              </a:spcAft>
              <a:buClr>
                <a:schemeClr val="dk1"/>
              </a:buClr>
              <a:buSzPts val="900"/>
              <a:buNone/>
              <a:defRPr sz="900"/>
            </a:lvl4pPr>
            <a:lvl5pPr marL="2286000" indent="-228600" algn="l">
              <a:lnSpc>
                <a:spcPct val="100000"/>
              </a:lnSpc>
              <a:spcBef>
                <a:spcPts val="180"/>
              </a:spcBef>
              <a:spcAft>
                <a:spcPts val="0"/>
              </a:spcAft>
              <a:buClr>
                <a:schemeClr val="dk1"/>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a:endParaRPr/>
          </a:p>
        </p:txBody>
      </p:sp>
      <p:sp>
        <p:nvSpPr>
          <p:cNvPr id="58" name="Google Shape;58;p9">
            <a:extLst>
              <a:ext uri="{FF2B5EF4-FFF2-40B4-BE49-F238E27FC236}">
                <a16:creationId xmlns:a16="http://schemas.microsoft.com/office/drawing/2014/main" id="{82EB1507-8677-42B0-8873-1E9D5A548DAF}"/>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59" name="Google Shape;59;p9">
            <a:extLst>
              <a:ext uri="{FF2B5EF4-FFF2-40B4-BE49-F238E27FC236}">
                <a16:creationId xmlns:a16="http://schemas.microsoft.com/office/drawing/2014/main" id="{7744259A-0970-45F9-978F-0D0A84191704}"/>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0" name="Google Shape;60;p9">
            <a:extLst>
              <a:ext uri="{FF2B5EF4-FFF2-40B4-BE49-F238E27FC236}">
                <a16:creationId xmlns:a16="http://schemas.microsoft.com/office/drawing/2014/main" id="{88E37584-C27A-4DF3-803D-FB3B16E7E900}"/>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
        <p:cNvGrpSpPr/>
        <p:nvPr/>
      </p:nvGrpSpPr>
      <p:grpSpPr>
        <a:xfrm>
          <a:off x="0" y="0"/>
          <a:ext cx="0" cy="0"/>
          <a:chOff x="0" y="0"/>
          <a:chExt cx="0" cy="0"/>
        </a:xfrm>
      </p:grpSpPr>
      <p:sp>
        <p:nvSpPr>
          <p:cNvPr id="62" name="Google Shape;62;p10">
            <a:extLst>
              <a:ext uri="{FF2B5EF4-FFF2-40B4-BE49-F238E27FC236}">
                <a16:creationId xmlns:a16="http://schemas.microsoft.com/office/drawing/2014/main" id="{D7EF9DBF-1FC7-4CD3-B3C5-62794EF4B7EC}"/>
              </a:ext>
            </a:extLst>
          </p:cNvPr>
          <p:cNvSpPr>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ormAutofit/>
          </a:bodyPr>
          <a:lstStyle>
            <a:lvl1pPr algn="l">
              <a:lnSpc>
                <a:spcPct val="100000"/>
              </a:lnSpc>
              <a:spcBef>
                <a:spcPts val="0"/>
              </a:spcBef>
              <a:spcAft>
                <a:spcPts val="0"/>
              </a:spcAft>
              <a:buClr>
                <a:schemeClr val="dk1"/>
              </a:buClr>
              <a:buSzPts val="2000"/>
              <a:buFont typeface="Calibri"/>
              <a:buNone/>
              <a:defRPr sz="2000"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3" name="Google Shape;63;p10">
            <a:extLst>
              <a:ext uri="{FF2B5EF4-FFF2-40B4-BE49-F238E27FC236}">
                <a16:creationId xmlns:a16="http://schemas.microsoft.com/office/drawing/2014/main" id="{D0B91AA1-6516-4195-B0C8-181E05D96EF9}"/>
              </a:ext>
            </a:extLst>
          </p:cNvPr>
          <p:cNvSpPr>
            <a:spLocks noGrp="1"/>
          </p:cNvSpPr>
          <p:nvPr>
            <p:ph type="pic" idx="2"/>
          </p:nvPr>
        </p:nvSpPr>
        <p:spPr>
          <a:xfrm>
            <a:off x="1792288" y="612775"/>
            <a:ext cx="5486400" cy="4114800"/>
          </a:xfrm>
          <a:prstGeom prst="rect">
            <a:avLst/>
          </a:prstGeom>
          <a:noFill/>
          <a:ln>
            <a:noFill/>
          </a:ln>
        </p:spPr>
      </p:sp>
      <p:sp>
        <p:nvSpPr>
          <p:cNvPr id="64" name="Google Shape;64;p10">
            <a:extLst>
              <a:ext uri="{FF2B5EF4-FFF2-40B4-BE49-F238E27FC236}">
                <a16:creationId xmlns:a16="http://schemas.microsoft.com/office/drawing/2014/main" id="{0EB80B48-10BC-41F4-8CA3-7C0EA5B2A9B5}"/>
              </a:ext>
            </a:extLst>
          </p:cNvPr>
          <p:cNvSpPr>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ormAutofit/>
          </a:bodyPr>
          <a:lstStyle>
            <a:lvl1pPr marL="457200" indent="-228600" algn="l">
              <a:lnSpc>
                <a:spcPct val="100000"/>
              </a:lnSpc>
              <a:spcBef>
                <a:spcPts val="280"/>
              </a:spcBef>
              <a:spcAft>
                <a:spcPts val="0"/>
              </a:spcAft>
              <a:buClr>
                <a:schemeClr val="dk1"/>
              </a:buClr>
              <a:buSzPts val="1400"/>
              <a:buNone/>
              <a:defRPr sz="1400"/>
            </a:lvl1pPr>
            <a:lvl2pPr marL="914400" indent="-228600" algn="l">
              <a:lnSpc>
                <a:spcPct val="100000"/>
              </a:lnSpc>
              <a:spcBef>
                <a:spcPts val="240"/>
              </a:spcBef>
              <a:spcAft>
                <a:spcPts val="0"/>
              </a:spcAft>
              <a:buClr>
                <a:schemeClr val="dk1"/>
              </a:buClr>
              <a:buSzPts val="1200"/>
              <a:buNone/>
              <a:defRPr sz="1200"/>
            </a:lvl2pPr>
            <a:lvl3pPr marL="1371600" indent="-228600" algn="l">
              <a:lnSpc>
                <a:spcPct val="100000"/>
              </a:lnSpc>
              <a:spcBef>
                <a:spcPts val="200"/>
              </a:spcBef>
              <a:spcAft>
                <a:spcPts val="0"/>
              </a:spcAft>
              <a:buClr>
                <a:schemeClr val="dk1"/>
              </a:buClr>
              <a:buSzPts val="1000"/>
              <a:buNone/>
              <a:defRPr sz="1000"/>
            </a:lvl3pPr>
            <a:lvl4pPr marL="1828800" indent="-228600" algn="l">
              <a:lnSpc>
                <a:spcPct val="100000"/>
              </a:lnSpc>
              <a:spcBef>
                <a:spcPts val="180"/>
              </a:spcBef>
              <a:spcAft>
                <a:spcPts val="0"/>
              </a:spcAft>
              <a:buClr>
                <a:schemeClr val="dk1"/>
              </a:buClr>
              <a:buSzPts val="900"/>
              <a:buNone/>
              <a:defRPr sz="900"/>
            </a:lvl4pPr>
            <a:lvl5pPr marL="2286000" indent="-228600" algn="l">
              <a:lnSpc>
                <a:spcPct val="100000"/>
              </a:lnSpc>
              <a:spcBef>
                <a:spcPts val="180"/>
              </a:spcBef>
              <a:spcAft>
                <a:spcPts val="0"/>
              </a:spcAft>
              <a:buClr>
                <a:schemeClr val="dk1"/>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a:endParaRPr/>
          </a:p>
        </p:txBody>
      </p:sp>
      <p:sp>
        <p:nvSpPr>
          <p:cNvPr id="65" name="Google Shape;65;p10">
            <a:extLst>
              <a:ext uri="{FF2B5EF4-FFF2-40B4-BE49-F238E27FC236}">
                <a16:creationId xmlns:a16="http://schemas.microsoft.com/office/drawing/2014/main" id="{A7F30BDE-F2D7-4FA1-BDCE-34ED49DD7689}"/>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6" name="Google Shape;66;p10">
            <a:extLst>
              <a:ext uri="{FF2B5EF4-FFF2-40B4-BE49-F238E27FC236}">
                <a16:creationId xmlns:a16="http://schemas.microsoft.com/office/drawing/2014/main" id="{AEC38C12-14A2-4E60-B305-51AE2C50731B}"/>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67" name="Google Shape;67;p10">
            <a:extLst>
              <a:ext uri="{FF2B5EF4-FFF2-40B4-BE49-F238E27FC236}">
                <a16:creationId xmlns:a16="http://schemas.microsoft.com/office/drawing/2014/main" id="{1C6B9804-3B5F-4C38-9C73-DE8D3133BFE1}"/>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
        <p:cNvGrpSpPr/>
        <p:nvPr/>
      </p:nvGrpSpPr>
      <p:grpSpPr>
        <a:xfrm>
          <a:off x="0" y="0"/>
          <a:ext cx="0" cy="0"/>
          <a:chOff x="0" y="0"/>
          <a:chExt cx="0" cy="0"/>
        </a:xfrm>
      </p:grpSpPr>
      <p:sp>
        <p:nvSpPr>
          <p:cNvPr id="69" name="Google Shape;69;p11">
            <a:extLst>
              <a:ext uri="{FF2B5EF4-FFF2-40B4-BE49-F238E27FC236}">
                <a16:creationId xmlns:a16="http://schemas.microsoft.com/office/drawing/2014/main" id="{898C92B8-8926-4D3F-918D-608FFAD95062}"/>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0" name="Google Shape;70;p11">
            <a:extLst>
              <a:ext uri="{FF2B5EF4-FFF2-40B4-BE49-F238E27FC236}">
                <a16:creationId xmlns:a16="http://schemas.microsoft.com/office/drawing/2014/main" id="{EE1C91A9-1340-4B6F-99DC-1F98C97B13B0}"/>
              </a:ext>
            </a:extLst>
          </p:cNvPr>
          <p:cNvSpPr>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ormAutofit/>
          </a:bodyPr>
          <a:lstStyle>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a:endParaRPr/>
          </a:p>
        </p:txBody>
      </p:sp>
      <p:sp>
        <p:nvSpPr>
          <p:cNvPr id="71" name="Google Shape;71;p11">
            <a:extLst>
              <a:ext uri="{FF2B5EF4-FFF2-40B4-BE49-F238E27FC236}">
                <a16:creationId xmlns:a16="http://schemas.microsoft.com/office/drawing/2014/main" id="{19AC2601-4683-444C-930E-27E0389FAB7E}"/>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2" name="Google Shape;72;p11">
            <a:extLst>
              <a:ext uri="{FF2B5EF4-FFF2-40B4-BE49-F238E27FC236}">
                <a16:creationId xmlns:a16="http://schemas.microsoft.com/office/drawing/2014/main" id="{369B9E01-C4C2-478B-8609-396B7026CA26}"/>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3" name="Google Shape;73;p11">
            <a:extLst>
              <a:ext uri="{FF2B5EF4-FFF2-40B4-BE49-F238E27FC236}">
                <a16:creationId xmlns:a16="http://schemas.microsoft.com/office/drawing/2014/main" id="{86EA9A67-A3AB-4F32-B0B6-D599A236F680}"/>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
        <p:cNvGrpSpPr/>
        <p:nvPr/>
      </p:nvGrpSpPr>
      <p:grpSpPr>
        <a:xfrm>
          <a:off x="0" y="0"/>
          <a:ext cx="0" cy="0"/>
          <a:chOff x="0" y="0"/>
          <a:chExt cx="0" cy="0"/>
        </a:xfrm>
      </p:grpSpPr>
      <p:sp>
        <p:nvSpPr>
          <p:cNvPr id="75" name="Google Shape;75;p12">
            <a:extLst>
              <a:ext uri="{FF2B5EF4-FFF2-40B4-BE49-F238E27FC236}">
                <a16:creationId xmlns:a16="http://schemas.microsoft.com/office/drawing/2014/main" id="{3508E79E-1BBD-42AF-9C46-40D8C0014A0A}"/>
              </a:ext>
            </a:extLst>
          </p:cNvPr>
          <p:cNvSpPr>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ormAutofit/>
          </a:bodyPr>
          <a:lstStyle>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6" name="Google Shape;76;p12">
            <a:extLst>
              <a:ext uri="{FF2B5EF4-FFF2-40B4-BE49-F238E27FC236}">
                <a16:creationId xmlns:a16="http://schemas.microsoft.com/office/drawing/2014/main" id="{88605C27-B023-478C-8807-D9A707602C7D}"/>
              </a:ext>
            </a:extLst>
          </p:cNvPr>
          <p:cNvSpPr>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ormAutofit/>
          </a:bodyPr>
          <a:lstStyle>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a:endParaRPr/>
          </a:p>
        </p:txBody>
      </p:sp>
      <p:sp>
        <p:nvSpPr>
          <p:cNvPr id="77" name="Google Shape;77;p12">
            <a:extLst>
              <a:ext uri="{FF2B5EF4-FFF2-40B4-BE49-F238E27FC236}">
                <a16:creationId xmlns:a16="http://schemas.microsoft.com/office/drawing/2014/main" id="{943F58FC-4595-4B8A-AF54-207A015FEBE0}"/>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8" name="Google Shape;78;p12">
            <a:extLst>
              <a:ext uri="{FF2B5EF4-FFF2-40B4-BE49-F238E27FC236}">
                <a16:creationId xmlns:a16="http://schemas.microsoft.com/office/drawing/2014/main" id="{72981AB0-1407-402D-86B8-DA03F474AB63}"/>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a:endParaRPr/>
          </a:p>
        </p:txBody>
      </p:sp>
      <p:sp>
        <p:nvSpPr>
          <p:cNvPr id="79" name="Google Shape;79;p12">
            <a:extLst>
              <a:ext uri="{FF2B5EF4-FFF2-40B4-BE49-F238E27FC236}">
                <a16:creationId xmlns:a16="http://schemas.microsoft.com/office/drawing/2014/main" id="{4F598A85-51CE-47B4-B446-226C7D674D89}"/>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09F3AE99-E025-4CCD-8F90-A32958DDD74A}"/>
              </a:ext>
            </a:extLst>
          </p:cNvPr>
          <p:cNvSpPr>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ormAutofit/>
          </a:bodyPr>
          <a:lstStyle>
            <a:lvl1pPr marR="0" algn="ctr">
              <a:lnSpc>
                <a:spcPct val="100000"/>
              </a:lnSpc>
              <a:spcBef>
                <a:spcPts val="0"/>
              </a:spcBef>
              <a:spcAft>
                <a:spcPts val="0"/>
              </a:spcAft>
              <a:buClr>
                <a:schemeClr val="dk1"/>
              </a:buClr>
              <a:buSzPts val="4400"/>
              <a:buFont typeface="Calibri"/>
              <a:buNone/>
              <a:defRPr sz="4400" b="0" i="0" u="none" strike="noStrike" cap="none" spc="0">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defRPr>
            </a:lvl9pPr>
          </a:lstStyle>
          <a:p>
            <a:endParaRPr/>
          </a:p>
        </p:txBody>
      </p:sp>
      <p:sp>
        <p:nvSpPr>
          <p:cNvPr id="7" name="Google Shape;7;p1">
            <a:extLst>
              <a:ext uri="{FF2B5EF4-FFF2-40B4-BE49-F238E27FC236}">
                <a16:creationId xmlns:a16="http://schemas.microsoft.com/office/drawing/2014/main" id="{37D5C173-EF64-427F-8650-AF8C5D887144}"/>
              </a:ext>
            </a:extLst>
          </p:cNvPr>
          <p:cNvSpPr>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ormAutofit/>
          </a:bodyPr>
          <a:lstStyle>
            <a:lvl1pPr marL="457200" marR="0" indent="-431800" algn="l">
              <a:lnSpc>
                <a:spcPct val="100000"/>
              </a:lnSpc>
              <a:spcBef>
                <a:spcPts val="640"/>
              </a:spcBef>
              <a:spcAft>
                <a:spcPts val="0"/>
              </a:spcAft>
              <a:buClr>
                <a:schemeClr val="dk1"/>
              </a:buClr>
              <a:buSzPts val="3200"/>
              <a:buFont typeface="Arial"/>
              <a:buChar char="•"/>
              <a:defRPr sz="3200" b="0" i="0" u="none" strike="noStrike" cap="none" spc="0">
                <a:solidFill>
                  <a:schemeClr val="dk1"/>
                </a:solidFill>
                <a:latin typeface="Calibri"/>
                <a:ea typeface="Calibri"/>
                <a:cs typeface="Calibri"/>
              </a:defRPr>
            </a:lvl1pPr>
            <a:lvl2pPr marL="914400" marR="0" indent="-406400" algn="l">
              <a:lnSpc>
                <a:spcPct val="100000"/>
              </a:lnSpc>
              <a:spcBef>
                <a:spcPts val="560"/>
              </a:spcBef>
              <a:spcAft>
                <a:spcPts val="0"/>
              </a:spcAft>
              <a:buClr>
                <a:schemeClr val="dk1"/>
              </a:buClr>
              <a:buSzPts val="2800"/>
              <a:buFont typeface="Arial"/>
              <a:buChar char="–"/>
              <a:defRPr sz="2800" b="0" i="0" u="none" strike="noStrike" cap="none" spc="0">
                <a:solidFill>
                  <a:schemeClr val="dk1"/>
                </a:solidFill>
                <a:latin typeface="Calibri"/>
                <a:ea typeface="Calibri"/>
                <a:cs typeface="Calibri"/>
              </a:defRPr>
            </a:lvl2pPr>
            <a:lvl3pPr marL="1371600" marR="0" indent="-381000" algn="l">
              <a:lnSpc>
                <a:spcPct val="100000"/>
              </a:lnSpc>
              <a:spcBef>
                <a:spcPts val="480"/>
              </a:spcBef>
              <a:spcAft>
                <a:spcPts val="0"/>
              </a:spcAft>
              <a:buClr>
                <a:schemeClr val="dk1"/>
              </a:buClr>
              <a:buSzPts val="2400"/>
              <a:buFont typeface="Arial"/>
              <a:buChar char="•"/>
              <a:defRPr sz="2400" b="0" i="0" u="none" strike="noStrike" cap="none" spc="0">
                <a:solidFill>
                  <a:schemeClr val="dk1"/>
                </a:solidFill>
                <a:latin typeface="Calibri"/>
                <a:ea typeface="Calibri"/>
                <a:cs typeface="Calibri"/>
              </a:defRPr>
            </a:lvl3pPr>
            <a:lvl4pPr marL="1828800" marR="0" indent="-355600" algn="l">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Calibri"/>
                <a:ea typeface="Calibri"/>
                <a:cs typeface="Calibri"/>
              </a:defRPr>
            </a:lvl4pPr>
            <a:lvl5pPr marL="2286000" marR="0" indent="-355600" algn="l">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Calibri"/>
                <a:ea typeface="Calibri"/>
                <a:cs typeface="Calibri"/>
              </a:defRPr>
            </a:lvl5pPr>
            <a:lvl6pPr marL="2743200" marR="0" indent="-355600" algn="l">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Calibri"/>
                <a:ea typeface="Calibri"/>
                <a:cs typeface="Calibri"/>
              </a:defRPr>
            </a:lvl6pPr>
            <a:lvl7pPr marL="3200400" marR="0" indent="-355600" algn="l">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Calibri"/>
                <a:ea typeface="Calibri"/>
                <a:cs typeface="Calibri"/>
              </a:defRPr>
            </a:lvl7pPr>
            <a:lvl8pPr marL="3657600" marR="0" indent="-355600" algn="l">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Calibri"/>
                <a:ea typeface="Calibri"/>
                <a:cs typeface="Calibri"/>
              </a:defRPr>
            </a:lvl8pPr>
            <a:lvl9pPr marL="4114800" marR="0" indent="-355600" algn="l">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Calibri"/>
                <a:ea typeface="Calibri"/>
                <a:cs typeface="Calibri"/>
              </a:defRPr>
            </a:lvl9pPr>
          </a:lstStyle>
          <a:p>
            <a:endParaRPr/>
          </a:p>
        </p:txBody>
      </p:sp>
      <p:sp>
        <p:nvSpPr>
          <p:cNvPr id="8" name="Google Shape;8;p1">
            <a:extLst>
              <a:ext uri="{FF2B5EF4-FFF2-40B4-BE49-F238E27FC236}">
                <a16:creationId xmlns:a16="http://schemas.microsoft.com/office/drawing/2014/main" id="{AD41B70B-EC17-49B1-AE86-9025EB0F13A1}"/>
              </a:ext>
            </a:extLst>
          </p:cNvPr>
          <p:cNvSpPr>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oAutofit/>
          </a:bodyPr>
          <a:lstStyle>
            <a:lvl1pPr marR="0" algn="l">
              <a:lnSpc>
                <a:spcPct val="100000"/>
              </a:lnSpc>
              <a:spcBef>
                <a:spcPts val="0"/>
              </a:spcBef>
              <a:spcAft>
                <a:spcPts val="0"/>
              </a:spcAft>
              <a:buClr>
                <a:srgbClr val="000000"/>
              </a:buClr>
              <a:buSzPts val="1400"/>
              <a:buFont typeface="Arial"/>
              <a:buNone/>
              <a:defRPr sz="1200" b="0" i="0" u="none" strike="noStrike" cap="none" spc="0">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9pPr>
          </a:lstStyle>
          <a:p>
            <a:endParaRPr/>
          </a:p>
        </p:txBody>
      </p:sp>
      <p:sp>
        <p:nvSpPr>
          <p:cNvPr id="9" name="Google Shape;9;p1">
            <a:extLst>
              <a:ext uri="{FF2B5EF4-FFF2-40B4-BE49-F238E27FC236}">
                <a16:creationId xmlns:a16="http://schemas.microsoft.com/office/drawing/2014/main" id="{0F5279FC-E9DD-4EFE-A444-E9FE2FF6D037}"/>
              </a:ext>
            </a:extLst>
          </p:cNvPr>
          <p:cNvSpPr>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oAutofit/>
          </a:bodyPr>
          <a:lstStyle>
            <a:lvl1pPr marR="0" algn="ctr">
              <a:lnSpc>
                <a:spcPct val="100000"/>
              </a:lnSpc>
              <a:spcBef>
                <a:spcPts val="0"/>
              </a:spcBef>
              <a:spcAft>
                <a:spcPts val="0"/>
              </a:spcAft>
              <a:buClr>
                <a:srgbClr val="000000"/>
              </a:buClr>
              <a:buSzPts val="1400"/>
              <a:buFont typeface="Arial"/>
              <a:buNone/>
              <a:defRPr sz="1200" b="0" i="0" u="none" strike="noStrike" cap="none" spc="0">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9pPr>
          </a:lstStyle>
          <a:p>
            <a:endParaRPr/>
          </a:p>
        </p:txBody>
      </p:sp>
      <p:sp>
        <p:nvSpPr>
          <p:cNvPr id="10" name="Google Shape;10;p1">
            <a:extLst>
              <a:ext uri="{FF2B5EF4-FFF2-40B4-BE49-F238E27FC236}">
                <a16:creationId xmlns:a16="http://schemas.microsoft.com/office/drawing/2014/main" id="{AA1761C9-FDBE-42D1-B12C-D013DD5A1FBD}"/>
              </a:ext>
            </a:extLst>
          </p:cNvPr>
          <p:cNvSpPr>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oAutofit/>
          </a:bodyPr>
          <a:lstStyle>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Google Shape;84;p13">
            <a:extLst>
              <a:ext uri="{FF2B5EF4-FFF2-40B4-BE49-F238E27FC236}">
                <a16:creationId xmlns:a16="http://schemas.microsoft.com/office/drawing/2014/main" id="{3FE0E034-8651-4FD6-A488-49760C0E06C9}"/>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rotWithShape="1">
            <a:blip r:embed="rId3">
              <a:alphaModFix/>
            </a:blip>
            <a:stretch>
              <a:fillRect l="-1613" r="-5942" b="-7556"/>
            </a:stretch>
          </a:blipFill>
          <a:ln>
            <a:noFill/>
          </a:ln>
        </p:spPr>
      </p:sp>
      <p:sp>
        <p:nvSpPr>
          <p:cNvPr id="86" name="Google Shape;86;p13">
            <a:extLst>
              <a:ext uri="{FF2B5EF4-FFF2-40B4-BE49-F238E27FC236}">
                <a16:creationId xmlns:a16="http://schemas.microsoft.com/office/drawing/2014/main" id="{80977CF1-9AA4-47C7-9B81-D3FADF971FFD}"/>
              </a:ext>
            </a:extLst>
          </p:cNvPr>
          <p:cNvSpPr>
            <a:spLocks noGrp="1"/>
          </p:cNvSpPr>
          <p:nvPr/>
        </p:nvSpPr>
        <p:spPr>
          <a:xfrm>
            <a:off x="0" y="0"/>
            <a:ext cx="18287644" cy="1620509"/>
          </a:xfrm>
          <a:custGeom>
            <a:avLst/>
            <a:gdLst/>
            <a:ahLst/>
            <a:cxnLst/>
            <a:rect l="l" t="t" r="r" b="b"/>
            <a:pathLst>
              <a:path w="9143822" h="1190500">
                <a:moveTo>
                  <a:pt x="0" y="0"/>
                </a:moveTo>
                <a:lnTo>
                  <a:pt x="9143822" y="0"/>
                </a:lnTo>
                <a:lnTo>
                  <a:pt x="9143822" y="1190500"/>
                </a:lnTo>
                <a:lnTo>
                  <a:pt x="0" y="1190500"/>
                </a:lnTo>
                <a:close/>
              </a:path>
            </a:pathLst>
          </a:custGeom>
          <a:solidFill>
            <a:srgbClr val="C2CCED"/>
          </a:solidFill>
          <a:ln>
            <a:noFill/>
          </a:ln>
        </p:spPr>
      </p:sp>
      <p:sp>
        <p:nvSpPr>
          <p:cNvPr id="88" name="Google Shape;88;p13">
            <a:extLst>
              <a:ext uri="{FF2B5EF4-FFF2-40B4-BE49-F238E27FC236}">
                <a16:creationId xmlns:a16="http://schemas.microsoft.com/office/drawing/2014/main" id="{3C9D51C5-8E37-4759-9F76-9AA165E91362}"/>
              </a:ext>
            </a:extLst>
          </p:cNvPr>
          <p:cNvSpPr>
            <a:spLocks noGrp="1"/>
          </p:cNvSpPr>
          <p:nvPr/>
        </p:nvSpPr>
        <p:spPr>
          <a:xfrm>
            <a:off x="4245979" y="9534525"/>
            <a:ext cx="826451" cy="1014050"/>
          </a:xfrm>
          <a:custGeom>
            <a:avLst/>
            <a:gdLst/>
            <a:ahLst/>
            <a:cxnLst/>
            <a:rect l="l" t="t" r="r" b="b"/>
            <a:pathLst>
              <a:path w="826451" h="1014050">
                <a:moveTo>
                  <a:pt x="0" y="0"/>
                </a:moveTo>
                <a:lnTo>
                  <a:pt x="826451" y="0"/>
                </a:lnTo>
                <a:lnTo>
                  <a:pt x="826451" y="1014050"/>
                </a:lnTo>
                <a:lnTo>
                  <a:pt x="0" y="1014050"/>
                </a:lnTo>
                <a:lnTo>
                  <a:pt x="0" y="0"/>
                </a:lnTo>
                <a:close/>
              </a:path>
            </a:pathLst>
          </a:custGeom>
          <a:blipFill rotWithShape="1">
            <a:blip r:embed="rId4">
              <a:alphaModFix/>
            </a:blip>
            <a:stretch>
              <a:fillRect/>
            </a:stretch>
          </a:blipFill>
          <a:ln>
            <a:noFill/>
          </a:ln>
        </p:spPr>
      </p:sp>
      <p:sp>
        <p:nvSpPr>
          <p:cNvPr id="89" name="Google Shape;89;p13">
            <a:extLst>
              <a:ext uri="{FF2B5EF4-FFF2-40B4-BE49-F238E27FC236}">
                <a16:creationId xmlns:a16="http://schemas.microsoft.com/office/drawing/2014/main" id="{84A9BD90-E2B4-4567-A2F9-E1F0B4F8CED2}"/>
              </a:ext>
            </a:extLst>
          </p:cNvPr>
          <p:cNvSpPr>
            <a:spLocks noGrp="1"/>
          </p:cNvSpPr>
          <p:nvPr/>
        </p:nvSpPr>
        <p:spPr>
          <a:xfrm>
            <a:off x="4851845" y="9534525"/>
            <a:ext cx="826451" cy="1014050"/>
          </a:xfrm>
          <a:custGeom>
            <a:avLst/>
            <a:gdLst/>
            <a:ahLst/>
            <a:cxnLst/>
            <a:rect l="l" t="t" r="r" b="b"/>
            <a:pathLst>
              <a:path w="826451" h="1014050">
                <a:moveTo>
                  <a:pt x="0" y="0"/>
                </a:moveTo>
                <a:lnTo>
                  <a:pt x="826452" y="0"/>
                </a:lnTo>
                <a:lnTo>
                  <a:pt x="826452" y="1014050"/>
                </a:lnTo>
                <a:lnTo>
                  <a:pt x="0" y="1014050"/>
                </a:lnTo>
                <a:lnTo>
                  <a:pt x="0" y="0"/>
                </a:lnTo>
                <a:close/>
              </a:path>
            </a:pathLst>
          </a:custGeom>
          <a:blipFill rotWithShape="1">
            <a:blip r:embed="rId4">
              <a:alphaModFix/>
            </a:blip>
            <a:stretch>
              <a:fillRect/>
            </a:stretch>
          </a:blipFill>
          <a:ln>
            <a:noFill/>
          </a:ln>
        </p:spPr>
      </p:sp>
      <p:sp>
        <p:nvSpPr>
          <p:cNvPr id="90" name="Google Shape;90;p13">
            <a:extLst>
              <a:ext uri="{FF2B5EF4-FFF2-40B4-BE49-F238E27FC236}">
                <a16:creationId xmlns:a16="http://schemas.microsoft.com/office/drawing/2014/main" id="{79FB5AF4-922A-4372-89A1-1A85BEDA9B2A}"/>
              </a:ext>
            </a:extLst>
          </p:cNvPr>
          <p:cNvSpPr>
            <a:spLocks noGrp="1"/>
          </p:cNvSpPr>
          <p:nvPr/>
        </p:nvSpPr>
        <p:spPr>
          <a:xfrm>
            <a:off x="567142" y="243625"/>
            <a:ext cx="4697867" cy="1174435"/>
          </a:xfrm>
          <a:custGeom>
            <a:avLst/>
            <a:gdLst/>
            <a:ahLst/>
            <a:cxnLst/>
            <a:rect l="l" t="t" r="r" b="b"/>
            <a:pathLst>
              <a:path w="4770247" h="1192530">
                <a:moveTo>
                  <a:pt x="0" y="0"/>
                </a:moveTo>
                <a:lnTo>
                  <a:pt x="4770247" y="0"/>
                </a:lnTo>
                <a:lnTo>
                  <a:pt x="4770247" y="1192530"/>
                </a:lnTo>
                <a:lnTo>
                  <a:pt x="0" y="1192530"/>
                </a:lnTo>
                <a:lnTo>
                  <a:pt x="0" y="0"/>
                </a:lnTo>
                <a:close/>
              </a:path>
            </a:pathLst>
          </a:custGeom>
          <a:blipFill rotWithShape="1">
            <a:blip r:embed="rId5">
              <a:alphaModFix/>
            </a:blip>
            <a:stretch>
              <a:fillRect r="-1" b="-4"/>
            </a:stretch>
          </a:blipFill>
          <a:ln>
            <a:noFill/>
          </a:ln>
        </p:spPr>
      </p:sp>
      <p:sp>
        <p:nvSpPr>
          <p:cNvPr id="91" name="Google Shape;91;p13">
            <a:extLst>
              <a:ext uri="{FF2B5EF4-FFF2-40B4-BE49-F238E27FC236}">
                <a16:creationId xmlns:a16="http://schemas.microsoft.com/office/drawing/2014/main" id="{3C8AF17A-6D66-4F8E-8529-7F08E8FF9596}"/>
              </a:ext>
            </a:extLst>
          </p:cNvPr>
          <p:cNvSpPr>
            <a:spLocks noGrp="1"/>
          </p:cNvSpPr>
          <p:nvPr/>
        </p:nvSpPr>
        <p:spPr>
          <a:xfrm>
            <a:off x="15182662" y="151299"/>
            <a:ext cx="2655375" cy="1359137"/>
          </a:xfrm>
          <a:custGeom>
            <a:avLst/>
            <a:gdLst/>
            <a:ahLst/>
            <a:cxnLst/>
            <a:rect l="l" t="t" r="r" b="b"/>
            <a:pathLst>
              <a:path w="2655375" h="1359137">
                <a:moveTo>
                  <a:pt x="0" y="0"/>
                </a:moveTo>
                <a:lnTo>
                  <a:pt x="2655375" y="0"/>
                </a:lnTo>
                <a:lnTo>
                  <a:pt x="2655375" y="1359137"/>
                </a:lnTo>
                <a:lnTo>
                  <a:pt x="0" y="1359137"/>
                </a:lnTo>
                <a:lnTo>
                  <a:pt x="0" y="0"/>
                </a:lnTo>
                <a:close/>
              </a:path>
            </a:pathLst>
          </a:custGeom>
          <a:blipFill rotWithShape="1">
            <a:blip r:embed="rId6">
              <a:alphaModFix/>
            </a:blip>
            <a:stretch>
              <a:fillRect l="-16123" t="-146250" r="-62286" b="-204749"/>
            </a:stretch>
          </a:blipFill>
          <a:ln>
            <a:noFill/>
          </a:ln>
        </p:spPr>
      </p:sp>
      <p:sp>
        <p:nvSpPr>
          <p:cNvPr id="2" name="Rectangle: Rounded Corners 1">
            <a:extLst>
              <a:ext uri="{FF2B5EF4-FFF2-40B4-BE49-F238E27FC236}">
                <a16:creationId xmlns:a16="http://schemas.microsoft.com/office/drawing/2014/main" id="{817F4EED-4A7E-1F75-CC70-6655C68880E5}"/>
              </a:ext>
            </a:extLst>
          </p:cNvPr>
          <p:cNvSpPr/>
          <p:nvPr/>
        </p:nvSpPr>
        <p:spPr>
          <a:xfrm>
            <a:off x="2209800" y="2133600"/>
            <a:ext cx="13868400" cy="6502400"/>
          </a:xfrm>
          <a:prstGeom prst="roundRect">
            <a:avLst/>
          </a:prstGeom>
          <a:solidFill>
            <a:srgbClr val="472312">
              <a:alpha val="78000"/>
            </a:srgbClr>
          </a:solidFill>
          <a:ln w="25400">
            <a:noFill/>
            <a:prstDash val="solid"/>
          </a:ln>
          <a:effectLst>
            <a:outerShdw blurRad="127000" dist="50800" dir="5400000" rotWithShape="0">
              <a:srgbClr val="18324C">
                <a:alpha val="18000"/>
              </a:srgbClr>
            </a:outerShdw>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a:extLst>
              <a:ext uri="{FF2B5EF4-FFF2-40B4-BE49-F238E27FC236}">
                <a16:creationId xmlns:a16="http://schemas.microsoft.com/office/drawing/2014/main" id="{63D511C7-86FB-DC7D-8DA2-EFAA9FAD188E}"/>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6667500" y="2413000"/>
            <a:ext cx="4953000" cy="1041400"/>
          </a:xfrm>
          <a:prstGeom prst="rect">
            <a:avLst/>
          </a:prstGeom>
        </p:spPr>
      </p:pic>
      <p:sp>
        <p:nvSpPr>
          <p:cNvPr id="5" name="TextBox 4">
            <a:extLst>
              <a:ext uri="{FF2B5EF4-FFF2-40B4-BE49-F238E27FC236}">
                <a16:creationId xmlns:a16="http://schemas.microsoft.com/office/drawing/2014/main" id="{641B4223-D03A-E9E9-03E8-C74C12987AE8}"/>
              </a:ext>
            </a:extLst>
          </p:cNvPr>
          <p:cNvSpPr txBox="1"/>
          <p:nvPr/>
        </p:nvSpPr>
        <p:spPr>
          <a:xfrm>
            <a:off x="3784600" y="3675306"/>
            <a:ext cx="10718800" cy="230832"/>
          </a:xfrm>
          <a:prstGeom prst="rect">
            <a:avLst/>
          </a:prstGeom>
          <a:noFill/>
        </p:spPr>
        <p:txBody>
          <a:bodyPr vert="horz" wrap="square" lIns="0" tIns="0" rIns="0" bIns="0" rtlCol="0" anchor="ctr">
            <a:spAutoFit/>
          </a:bodyPr>
          <a:lstStyle/>
          <a:p>
            <a:pPr algn="ctr"/>
            <a:r>
              <a:rPr lang="en-GB" sz="1500">
                <a:solidFill>
                  <a:srgbClr val="FFF4DE"/>
                </a:solidFill>
                <a:latin typeface="Press Start 2P" panose="020B0604020202020204" charset="0"/>
              </a:rPr>
              <a:t>PLACEMENT READINESS INTELLIGENCE</a:t>
            </a:r>
          </a:p>
        </p:txBody>
      </p:sp>
      <p:sp>
        <p:nvSpPr>
          <p:cNvPr id="6" name="TextBox 5">
            <a:extLst>
              <a:ext uri="{FF2B5EF4-FFF2-40B4-BE49-F238E27FC236}">
                <a16:creationId xmlns:a16="http://schemas.microsoft.com/office/drawing/2014/main" id="{80BA27E2-D913-C458-6F7D-0FDDA2A5260B}"/>
              </a:ext>
            </a:extLst>
          </p:cNvPr>
          <p:cNvSpPr txBox="1"/>
          <p:nvPr/>
        </p:nvSpPr>
        <p:spPr>
          <a:xfrm>
            <a:off x="3403600" y="3918636"/>
            <a:ext cx="11480800" cy="861774"/>
          </a:xfrm>
          <a:prstGeom prst="rect">
            <a:avLst/>
          </a:prstGeom>
          <a:noFill/>
        </p:spPr>
        <p:txBody>
          <a:bodyPr vert="horz" wrap="square" lIns="0" tIns="0" rIns="0" bIns="0" rtlCol="0" anchor="ctr">
            <a:spAutoFit/>
          </a:bodyPr>
          <a:lstStyle/>
          <a:p>
            <a:pPr algn="ctr"/>
            <a:r>
              <a:rPr lang="en-GB" sz="2800" b="1">
                <a:solidFill>
                  <a:srgbClr val="FFFFFF"/>
                </a:solidFill>
                <a:latin typeface="Segoe UI Semibold" panose="020B0702040204020203" pitchFamily="34" charset="0"/>
              </a:rPr>
              <a:t>Practice with purpose.</a:t>
            </a:r>
          </a:p>
          <a:p>
            <a:pPr algn="ctr"/>
            <a:r>
              <a:rPr lang="en-GB" sz="2800" b="1">
                <a:solidFill>
                  <a:srgbClr val="FFFFFF"/>
                </a:solidFill>
                <a:latin typeface="Segoe UI Semibold" panose="020B0702040204020203" pitchFamily="34" charset="0"/>
              </a:rPr>
              <a:t>Prove readiness with evidence.</a:t>
            </a:r>
          </a:p>
        </p:txBody>
      </p:sp>
      <p:sp>
        <p:nvSpPr>
          <p:cNvPr id="7" name="TextBox 6">
            <a:extLst>
              <a:ext uri="{FF2B5EF4-FFF2-40B4-BE49-F238E27FC236}">
                <a16:creationId xmlns:a16="http://schemas.microsoft.com/office/drawing/2014/main" id="{8DBBFE15-5F0E-B348-A8FA-DF125E6CFEEE}"/>
              </a:ext>
            </a:extLst>
          </p:cNvPr>
          <p:cNvSpPr txBox="1"/>
          <p:nvPr/>
        </p:nvSpPr>
        <p:spPr>
          <a:xfrm>
            <a:off x="3810000" y="5793517"/>
            <a:ext cx="10668000" cy="261610"/>
          </a:xfrm>
          <a:prstGeom prst="rect">
            <a:avLst/>
          </a:prstGeom>
          <a:noFill/>
        </p:spPr>
        <p:txBody>
          <a:bodyPr vert="horz" wrap="square" lIns="0" tIns="0" rIns="0" bIns="0" rtlCol="0" anchor="ctr">
            <a:spAutoFit/>
          </a:bodyPr>
          <a:lstStyle/>
          <a:p>
            <a:pPr algn="ctr"/>
            <a:r>
              <a:rPr lang="en-GB" sz="1700">
                <a:solidFill>
                  <a:srgbClr val="FFFFFF"/>
                </a:solidFill>
                <a:latin typeface="Segoe UI" panose="020B0502040204020203" pitchFamily="34" charset="0"/>
              </a:rPr>
              <a:t>A unified campus platform for learning, coding, assessments, interviews and actionable skill-gap analytics.</a:t>
            </a:r>
          </a:p>
        </p:txBody>
      </p:sp>
      <p:sp>
        <p:nvSpPr>
          <p:cNvPr id="8" name="Rectangle: Rounded Corners 7">
            <a:extLst>
              <a:ext uri="{FF2B5EF4-FFF2-40B4-BE49-F238E27FC236}">
                <a16:creationId xmlns:a16="http://schemas.microsoft.com/office/drawing/2014/main" id="{E8415B5A-48CA-A1EA-F64E-F273415716CF}"/>
              </a:ext>
            </a:extLst>
          </p:cNvPr>
          <p:cNvSpPr/>
          <p:nvPr/>
        </p:nvSpPr>
        <p:spPr>
          <a:xfrm>
            <a:off x="5524500" y="6756400"/>
            <a:ext cx="1905000" cy="3556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5FAE016D-F3A2-FF0E-44B2-D08F99F5034B}"/>
              </a:ext>
            </a:extLst>
          </p:cNvPr>
          <p:cNvSpPr txBox="1"/>
          <p:nvPr/>
        </p:nvSpPr>
        <p:spPr>
          <a:xfrm>
            <a:off x="5524500" y="6779483"/>
            <a:ext cx="1905000" cy="220573"/>
          </a:xfrm>
          <a:prstGeom prst="rect">
            <a:avLst/>
          </a:prstGeom>
          <a:noFill/>
        </p:spPr>
        <p:txBody>
          <a:bodyPr vert="horz" wrap="square" lIns="25400" tIns="25400" rIns="25400" bIns="25400" rtlCol="0" anchor="ctr">
            <a:spAutoFit/>
          </a:bodyPr>
          <a:lstStyle/>
          <a:p>
            <a:pPr algn="ctr"/>
            <a:r>
              <a:rPr lang="en-GB" sz="1100" b="1">
                <a:solidFill>
                  <a:srgbClr val="112D52"/>
                </a:solidFill>
                <a:latin typeface="Segoe UI Semibold" panose="020B0702040204020203" pitchFamily="34" charset="0"/>
              </a:rPr>
              <a:t>LEARN</a:t>
            </a:r>
          </a:p>
        </p:txBody>
      </p:sp>
      <p:sp>
        <p:nvSpPr>
          <p:cNvPr id="10" name="Rectangle: Rounded Corners 9">
            <a:extLst>
              <a:ext uri="{FF2B5EF4-FFF2-40B4-BE49-F238E27FC236}">
                <a16:creationId xmlns:a16="http://schemas.microsoft.com/office/drawing/2014/main" id="{53B8D1E4-9579-F638-66D1-B298E66713F2}"/>
              </a:ext>
            </a:extLst>
          </p:cNvPr>
          <p:cNvSpPr/>
          <p:nvPr/>
        </p:nvSpPr>
        <p:spPr>
          <a:xfrm>
            <a:off x="8191500" y="6756400"/>
            <a:ext cx="1905000" cy="3556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94D7F6D6-8D05-5EAC-21F0-805F34B78F06}"/>
              </a:ext>
            </a:extLst>
          </p:cNvPr>
          <p:cNvSpPr txBox="1"/>
          <p:nvPr/>
        </p:nvSpPr>
        <p:spPr>
          <a:xfrm>
            <a:off x="8191500" y="6779483"/>
            <a:ext cx="1905000" cy="220573"/>
          </a:xfrm>
          <a:prstGeom prst="rect">
            <a:avLst/>
          </a:prstGeom>
          <a:noFill/>
        </p:spPr>
        <p:txBody>
          <a:bodyPr vert="horz" wrap="square" lIns="25400" tIns="25400" rIns="25400" bIns="25400" rtlCol="0" anchor="ctr">
            <a:spAutoFit/>
          </a:bodyPr>
          <a:lstStyle/>
          <a:p>
            <a:pPr algn="ctr"/>
            <a:r>
              <a:rPr lang="en-GB" sz="1100" b="1">
                <a:solidFill>
                  <a:srgbClr val="112D52"/>
                </a:solidFill>
                <a:latin typeface="Segoe UI Semibold" panose="020B0702040204020203" pitchFamily="34" charset="0"/>
              </a:rPr>
              <a:t>ASSESS</a:t>
            </a:r>
          </a:p>
        </p:txBody>
      </p:sp>
      <p:sp>
        <p:nvSpPr>
          <p:cNvPr id="12" name="Rectangle: Rounded Corners 11">
            <a:extLst>
              <a:ext uri="{FF2B5EF4-FFF2-40B4-BE49-F238E27FC236}">
                <a16:creationId xmlns:a16="http://schemas.microsoft.com/office/drawing/2014/main" id="{6F384C2C-2394-2047-D17E-0D6F6FF79CC3}"/>
              </a:ext>
            </a:extLst>
          </p:cNvPr>
          <p:cNvSpPr/>
          <p:nvPr/>
        </p:nvSpPr>
        <p:spPr>
          <a:xfrm>
            <a:off x="10858500" y="6756400"/>
            <a:ext cx="1905000" cy="3556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3B348C4D-2F69-D14C-B520-19F4009C643B}"/>
              </a:ext>
            </a:extLst>
          </p:cNvPr>
          <p:cNvSpPr txBox="1"/>
          <p:nvPr/>
        </p:nvSpPr>
        <p:spPr>
          <a:xfrm>
            <a:off x="10858500" y="6779483"/>
            <a:ext cx="1905000" cy="220573"/>
          </a:xfrm>
          <a:prstGeom prst="rect">
            <a:avLst/>
          </a:prstGeom>
          <a:noFill/>
        </p:spPr>
        <p:txBody>
          <a:bodyPr vert="horz" wrap="square" lIns="25400" tIns="25400" rIns="25400" bIns="25400" rtlCol="0" anchor="ctr">
            <a:spAutoFit/>
          </a:bodyPr>
          <a:lstStyle/>
          <a:p>
            <a:pPr algn="ctr"/>
            <a:r>
              <a:rPr lang="en-GB" sz="1100" b="1">
                <a:solidFill>
                  <a:srgbClr val="112D52"/>
                </a:solidFill>
                <a:latin typeface="Segoe UI Semibold" panose="020B0702040204020203" pitchFamily="34" charset="0"/>
              </a:rPr>
              <a:t>IMPROVE</a:t>
            </a:r>
          </a:p>
        </p:txBody>
      </p:sp>
      <p:cxnSp>
        <p:nvCxnSpPr>
          <p:cNvPr id="14" name="Straight Connector 13">
            <a:extLst>
              <a:ext uri="{FF2B5EF4-FFF2-40B4-BE49-F238E27FC236}">
                <a16:creationId xmlns:a16="http://schemas.microsoft.com/office/drawing/2014/main" id="{931DF6C4-B981-5DC2-8C86-2FFCE265EFE3}"/>
              </a:ext>
            </a:extLst>
          </p:cNvPr>
          <p:cNvCxnSpPr/>
          <p:nvPr/>
        </p:nvCxnSpPr>
        <p:spPr>
          <a:xfrm>
            <a:off x="2921000" y="7442200"/>
            <a:ext cx="12446000" cy="0"/>
          </a:xfrm>
          <a:prstGeom prst="line">
            <a:avLst/>
          </a:prstGeom>
          <a:ln w="12700">
            <a:solidFill>
              <a:srgbClr val="FFF4DE"/>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A3EA230C-709D-E869-1637-389577DB1283}"/>
              </a:ext>
            </a:extLst>
          </p:cNvPr>
          <p:cNvSpPr txBox="1"/>
          <p:nvPr/>
        </p:nvSpPr>
        <p:spPr>
          <a:xfrm>
            <a:off x="3619500" y="7670800"/>
            <a:ext cx="5334000" cy="215444"/>
          </a:xfrm>
          <a:prstGeom prst="rect">
            <a:avLst/>
          </a:prstGeom>
          <a:noFill/>
        </p:spPr>
        <p:txBody>
          <a:bodyPr vert="horz" wrap="square" lIns="0" tIns="0" rIns="0" bIns="0" rtlCol="0" anchor="ctr">
            <a:spAutoFit/>
          </a:bodyPr>
          <a:lstStyle/>
          <a:p>
            <a:r>
              <a:rPr lang="en-GB" b="1">
                <a:solidFill>
                  <a:srgbClr val="FFFFFF"/>
                </a:solidFill>
                <a:latin typeface="Segoe UI Semibold" panose="020B0702040204020203" pitchFamily="34" charset="0"/>
              </a:rPr>
              <a:t>Team Leader  /  Anubhav Dhyani</a:t>
            </a:r>
          </a:p>
        </p:txBody>
      </p:sp>
      <p:sp>
        <p:nvSpPr>
          <p:cNvPr id="16" name="TextBox 15">
            <a:extLst>
              <a:ext uri="{FF2B5EF4-FFF2-40B4-BE49-F238E27FC236}">
                <a16:creationId xmlns:a16="http://schemas.microsoft.com/office/drawing/2014/main" id="{E47840D9-B75C-BD9B-7D6E-5ADBF68844BF}"/>
              </a:ext>
            </a:extLst>
          </p:cNvPr>
          <p:cNvSpPr txBox="1"/>
          <p:nvPr/>
        </p:nvSpPr>
        <p:spPr>
          <a:xfrm>
            <a:off x="9207500" y="7670800"/>
            <a:ext cx="5778500" cy="215444"/>
          </a:xfrm>
          <a:prstGeom prst="rect">
            <a:avLst/>
          </a:prstGeom>
          <a:noFill/>
        </p:spPr>
        <p:txBody>
          <a:bodyPr vert="horz" wrap="square" lIns="0" tIns="0" rIns="0" bIns="0" rtlCol="0" anchor="ctr">
            <a:spAutoFit/>
          </a:bodyPr>
          <a:lstStyle/>
          <a:p>
            <a:r>
              <a:rPr lang="en-GB" b="1">
                <a:solidFill>
                  <a:srgbClr val="FFFFFF"/>
                </a:solidFill>
                <a:latin typeface="Segoe UI Semibold" panose="020B0702040204020203" pitchFamily="34" charset="0"/>
              </a:rPr>
              <a:t>Team  /  Vivek Semwal  |  Akshit Rawat</a:t>
            </a:r>
          </a:p>
        </p:txBody>
      </p:sp>
      <p:sp>
        <p:nvSpPr>
          <p:cNvPr id="17" name="TextBox 16">
            <a:extLst>
              <a:ext uri="{FF2B5EF4-FFF2-40B4-BE49-F238E27FC236}">
                <a16:creationId xmlns:a16="http://schemas.microsoft.com/office/drawing/2014/main" id="{904DA8A2-31D4-2FDF-90C3-254AEF17E60D}"/>
              </a:ext>
            </a:extLst>
          </p:cNvPr>
          <p:cNvSpPr txBox="1"/>
          <p:nvPr/>
        </p:nvSpPr>
        <p:spPr>
          <a:xfrm>
            <a:off x="4445000" y="8117989"/>
            <a:ext cx="9398000" cy="184666"/>
          </a:xfrm>
          <a:prstGeom prst="rect">
            <a:avLst/>
          </a:prstGeom>
          <a:noFill/>
        </p:spPr>
        <p:txBody>
          <a:bodyPr vert="horz" wrap="square" lIns="0" tIns="0" rIns="0" bIns="0" rtlCol="0" anchor="ctr">
            <a:spAutoFit/>
          </a:bodyPr>
          <a:lstStyle/>
          <a:p>
            <a:pPr algn="ctr"/>
            <a:r>
              <a:rPr lang="en-GB" sz="1200">
                <a:solidFill>
                  <a:srgbClr val="FFF4DE"/>
                </a:solidFill>
                <a:latin typeface="Segoe UI" panose="020B0502040204020203" pitchFamily="34" charset="0"/>
              </a:rPr>
              <a:t>Graphic Era Hill University | Dehradun, Uttarakhand</a:t>
            </a:r>
          </a:p>
        </p:txBody>
      </p:sp>
      <p:sp>
        <p:nvSpPr>
          <p:cNvPr id="3" name="Rectangle: Rounded Corners 2">
            <a:extLst>
              <a:ext uri="{FF2B5EF4-FFF2-40B4-BE49-F238E27FC236}">
                <a16:creationId xmlns:a16="http://schemas.microsoft.com/office/drawing/2014/main" id="{68D1CCB7-1919-BCAD-7B27-0617BF85904D}"/>
              </a:ext>
            </a:extLst>
          </p:cNvPr>
          <p:cNvSpPr/>
          <p:nvPr/>
        </p:nvSpPr>
        <p:spPr>
          <a:xfrm>
            <a:off x="6413500" y="2336800"/>
            <a:ext cx="5461000" cy="1193800"/>
          </a:xfrm>
          <a:prstGeom prst="roundRect">
            <a:avLst/>
          </a:prstGeom>
          <a:solidFill>
            <a:srgbClr val="FFFFFF">
              <a:alpha val="92000"/>
            </a:srgbClr>
          </a:solidFill>
          <a:ln w="25400">
            <a:noFill/>
            <a:prstDash val="solid"/>
          </a:ln>
          <a:effectLst>
            <a:outerShdw blurRad="101600" dist="46361" dir="3315946" rotWithShape="0">
              <a:scrgbClr r="0" g="0" b="0">
                <a:alpha val="20000"/>
              </a:scrgbClr>
            </a:outerShdw>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9" name="Picture 18">
            <a:extLst>
              <a:ext uri="{FF2B5EF4-FFF2-40B4-BE49-F238E27FC236}">
                <a16:creationId xmlns:a16="http://schemas.microsoft.com/office/drawing/2014/main" id="{A1E324AA-57D4-66EF-E0E9-FEB0D37B6728}"/>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6667500" y="2413000"/>
            <a:ext cx="4953000" cy="1041400"/>
          </a:xfrm>
          <a:prstGeom prst="rect">
            <a:avLst/>
          </a:prstGeom>
        </p:spPr>
      </p:pic>
    </p:spTree>
    <p:extLst>
      <p:ext uri="{BB962C8B-B14F-4D97-AF65-F5344CB8AC3E}">
        <p14:creationId xmlns:p14="http://schemas.microsoft.com/office/powerpoint/2010/main" val="17801447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Google Shape;100;p14">
            <a:extLst>
              <a:ext uri="{FF2B5EF4-FFF2-40B4-BE49-F238E27FC236}">
                <a16:creationId xmlns:a16="http://schemas.microsoft.com/office/drawing/2014/main" id="{A88F18D2-20D1-4929-9F6A-A4F47FA57253}"/>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rotWithShape="1">
            <a:blip r:embed="rId3">
              <a:alphaModFix/>
            </a:blip>
            <a:stretch>
              <a:fillRect l="-391" r="-391"/>
            </a:stretch>
          </a:blipFill>
          <a:ln>
            <a:noFill/>
          </a:ln>
        </p:spPr>
      </p:sp>
      <p:sp>
        <p:nvSpPr>
          <p:cNvPr id="102" name="Google Shape;102;p14">
            <a:extLst>
              <a:ext uri="{FF2B5EF4-FFF2-40B4-BE49-F238E27FC236}">
                <a16:creationId xmlns:a16="http://schemas.microsoft.com/office/drawing/2014/main" id="{4ED9357D-BA1E-46AC-9C6A-E59FA3601D09}"/>
              </a:ext>
            </a:extLst>
          </p:cNvPr>
          <p:cNvSpPr>
            <a:spLocks noGrp="1"/>
          </p:cNvSpPr>
          <p:nvPr/>
        </p:nvSpPr>
        <p:spPr>
          <a:xfrm>
            <a:off x="1765664" y="695508"/>
            <a:ext cx="14756673" cy="1465425"/>
          </a:xfrm>
          <a:custGeom>
            <a:avLst/>
            <a:gdLst/>
            <a:ahLst/>
            <a:cxnLst/>
            <a:rect l="l" t="t" r="r" b="b"/>
            <a:pathLst>
              <a:path w="23019782" h="2286000">
                <a:moveTo>
                  <a:pt x="0" y="0"/>
                </a:moveTo>
                <a:lnTo>
                  <a:pt x="23019782" y="0"/>
                </a:lnTo>
                <a:lnTo>
                  <a:pt x="23019782" y="2286000"/>
                </a:lnTo>
                <a:lnTo>
                  <a:pt x="0" y="2286000"/>
                </a:lnTo>
                <a:close/>
              </a:path>
            </a:pathLst>
          </a:custGeom>
          <a:blipFill rotWithShape="1">
            <a:blip r:embed="rId4">
              <a:alphaModFix amt="0"/>
            </a:blip>
            <a:stretch>
              <a:fillRect t="-137056" r="4666" b="-137056"/>
            </a:stretch>
          </a:blipFill>
          <a:ln>
            <a:noFill/>
          </a:ln>
        </p:spPr>
      </p:sp>
      <p:sp>
        <p:nvSpPr>
          <p:cNvPr id="105" name="Google Shape;105;p14">
            <a:extLst>
              <a:ext uri="{FF2B5EF4-FFF2-40B4-BE49-F238E27FC236}">
                <a16:creationId xmlns:a16="http://schemas.microsoft.com/office/drawing/2014/main" id="{AFC2209A-F42A-4C55-AEF4-7D15FF931BC4}"/>
              </a:ext>
            </a:extLst>
          </p:cNvPr>
          <p:cNvSpPr>
            <a:spLocks noGrp="1"/>
          </p:cNvSpPr>
          <p:nvPr/>
        </p:nvSpPr>
        <p:spPr>
          <a:xfrm>
            <a:off x="13106400" y="9534525"/>
            <a:ext cx="4267200" cy="547687"/>
          </a:xfrm>
          <a:custGeom>
            <a:avLst/>
            <a:gdLst/>
            <a:ahLst/>
            <a:cxnLst/>
            <a:rect l="l" t="t" r="r" b="b"/>
            <a:pathLst>
              <a:path w="5689600" h="730250">
                <a:moveTo>
                  <a:pt x="0" y="0"/>
                </a:moveTo>
                <a:lnTo>
                  <a:pt x="5689600" y="0"/>
                </a:lnTo>
                <a:lnTo>
                  <a:pt x="5689600" y="730250"/>
                </a:lnTo>
                <a:lnTo>
                  <a:pt x="0" y="730250"/>
                </a:lnTo>
                <a:close/>
              </a:path>
            </a:pathLst>
          </a:custGeom>
          <a:blipFill rotWithShape="1">
            <a:blip r:embed="rId4">
              <a:alphaModFix amt="0"/>
            </a:blip>
            <a:stretch>
              <a:fillRect t="-101810" b="-101810"/>
            </a:stretch>
          </a:blipFill>
          <a:ln>
            <a:noFill/>
          </a:ln>
        </p:spPr>
      </p:sp>
      <p:sp>
        <p:nvSpPr>
          <p:cNvPr id="107" name="Google Shape;107;p14">
            <a:extLst>
              <a:ext uri="{FF2B5EF4-FFF2-40B4-BE49-F238E27FC236}">
                <a16:creationId xmlns:a16="http://schemas.microsoft.com/office/drawing/2014/main" id="{83A98D38-A0C3-4713-874B-8B1D8323A733}"/>
              </a:ext>
            </a:extLst>
          </p:cNvPr>
          <p:cNvSpPr>
            <a:spLocks noGrp="1"/>
          </p:cNvSpPr>
          <p:nvPr/>
        </p:nvSpPr>
        <p:spPr>
          <a:xfrm>
            <a:off x="512956" y="351328"/>
            <a:ext cx="3577686" cy="894398"/>
          </a:xfrm>
          <a:custGeom>
            <a:avLst/>
            <a:gdLst/>
            <a:ahLst/>
            <a:cxnLst/>
            <a:rect l="l" t="t" r="r" b="b"/>
            <a:pathLst>
              <a:path w="4770247" h="1192530">
                <a:moveTo>
                  <a:pt x="0" y="0"/>
                </a:moveTo>
                <a:lnTo>
                  <a:pt x="4770247" y="0"/>
                </a:lnTo>
                <a:lnTo>
                  <a:pt x="4770247" y="1192530"/>
                </a:lnTo>
                <a:lnTo>
                  <a:pt x="0" y="1192530"/>
                </a:lnTo>
                <a:lnTo>
                  <a:pt x="0" y="0"/>
                </a:lnTo>
                <a:close/>
              </a:path>
            </a:pathLst>
          </a:custGeom>
          <a:blipFill rotWithShape="1">
            <a:blip r:embed="rId5">
              <a:alphaModFix/>
            </a:blip>
            <a:stretch>
              <a:fillRect r="-1" b="-4"/>
            </a:stretch>
          </a:blipFill>
          <a:ln>
            <a:noFill/>
          </a:ln>
        </p:spPr>
      </p:sp>
      <p:sp>
        <p:nvSpPr>
          <p:cNvPr id="109" name="Google Shape;109;p14">
            <a:extLst>
              <a:ext uri="{FF2B5EF4-FFF2-40B4-BE49-F238E27FC236}">
                <a16:creationId xmlns:a16="http://schemas.microsoft.com/office/drawing/2014/main" id="{42E6D90E-FAED-4A67-9900-8E1D45DD22DF}"/>
              </a:ext>
            </a:extLst>
          </p:cNvPr>
          <p:cNvSpPr>
            <a:spLocks noGrp="1"/>
          </p:cNvSpPr>
          <p:nvPr/>
        </p:nvSpPr>
        <p:spPr>
          <a:xfrm>
            <a:off x="772625" y="2057400"/>
            <a:ext cx="16742749" cy="7534412"/>
          </a:xfrm>
          <a:custGeom>
            <a:avLst/>
            <a:gdLst/>
            <a:ahLst/>
            <a:cxnLst/>
            <a:rect l="l" t="t" r="r" b="b"/>
            <a:pathLst>
              <a:path w="4409613" h="1984372">
                <a:moveTo>
                  <a:pt x="23583" y="0"/>
                </a:moveTo>
                <a:lnTo>
                  <a:pt x="4386031" y="0"/>
                </a:lnTo>
                <a:cubicBezTo>
                  <a:pt x="4399055" y="0"/>
                  <a:pt x="4409613" y="10558"/>
                  <a:pt x="4409613" y="23583"/>
                </a:cubicBezTo>
                <a:lnTo>
                  <a:pt x="4409613" y="1960789"/>
                </a:lnTo>
                <a:cubicBezTo>
                  <a:pt x="4409613" y="1967043"/>
                  <a:pt x="4407129" y="1973042"/>
                  <a:pt x="4402706" y="1977465"/>
                </a:cubicBezTo>
                <a:cubicBezTo>
                  <a:pt x="4398283" y="1981887"/>
                  <a:pt x="4392285" y="1984372"/>
                  <a:pt x="4386031" y="1984372"/>
                </a:cubicBezTo>
                <a:lnTo>
                  <a:pt x="23583" y="1984372"/>
                </a:lnTo>
                <a:cubicBezTo>
                  <a:pt x="17328" y="1984372"/>
                  <a:pt x="11330" y="1981887"/>
                  <a:pt x="6907" y="1977465"/>
                </a:cubicBezTo>
                <a:cubicBezTo>
                  <a:pt x="2485" y="1973042"/>
                  <a:pt x="0" y="1967043"/>
                  <a:pt x="0" y="1960789"/>
                </a:cubicBezTo>
                <a:lnTo>
                  <a:pt x="0" y="23583"/>
                </a:lnTo>
                <a:cubicBezTo>
                  <a:pt x="0" y="17328"/>
                  <a:pt x="2485" y="11330"/>
                  <a:pt x="6907" y="6907"/>
                </a:cubicBezTo>
                <a:cubicBezTo>
                  <a:pt x="11330" y="2485"/>
                  <a:pt x="17328" y="0"/>
                  <a:pt x="23583" y="0"/>
                </a:cubicBezTo>
                <a:close/>
              </a:path>
            </a:pathLst>
          </a:custGeom>
          <a:solidFill>
            <a:srgbClr val="C8D1D9">
              <a:alpha val="29804"/>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strike="noStrike" cap="none" spc="0">
              <a:solidFill>
                <a:srgbClr val="000000"/>
              </a:solidFill>
              <a:latin typeface="Arial"/>
              <a:ea typeface="Arial"/>
              <a:cs typeface="Arial"/>
            </a:endParaRPr>
          </a:p>
        </p:txBody>
      </p:sp>
      <p:sp>
        <p:nvSpPr>
          <p:cNvPr id="112" name="Google Shape;112;p14">
            <a:extLst>
              <a:ext uri="{FF2B5EF4-FFF2-40B4-BE49-F238E27FC236}">
                <a16:creationId xmlns:a16="http://schemas.microsoft.com/office/drawing/2014/main" id="{CD55A35D-37D3-42D6-A65B-E6DAC79FA685}"/>
              </a:ext>
            </a:extLst>
          </p:cNvPr>
          <p:cNvSpPr>
            <a:spLocks noGrp="1"/>
          </p:cNvSpPr>
          <p:nvPr/>
        </p:nvSpPr>
        <p:spPr>
          <a:xfrm>
            <a:off x="15876875" y="276037"/>
            <a:ext cx="1894575" cy="969727"/>
          </a:xfrm>
          <a:custGeom>
            <a:avLst/>
            <a:gdLst/>
            <a:ahLst/>
            <a:cxnLst/>
            <a:rect l="l" t="t" r="r" b="b"/>
            <a:pathLst>
              <a:path w="1894575" h="969727">
                <a:moveTo>
                  <a:pt x="0" y="0"/>
                </a:moveTo>
                <a:lnTo>
                  <a:pt x="1894575" y="0"/>
                </a:lnTo>
                <a:lnTo>
                  <a:pt x="1894575" y="969727"/>
                </a:lnTo>
                <a:lnTo>
                  <a:pt x="0" y="969727"/>
                </a:lnTo>
                <a:lnTo>
                  <a:pt x="0" y="0"/>
                </a:lnTo>
                <a:close/>
              </a:path>
            </a:pathLst>
          </a:custGeom>
          <a:blipFill rotWithShape="1">
            <a:blip r:embed="rId6">
              <a:alphaModFix/>
            </a:blip>
            <a:stretch>
              <a:fillRect l="-16123" t="-146250" r="-62286" b="-204749"/>
            </a:stretch>
          </a:blipFill>
          <a:ln>
            <a:noFill/>
          </a:ln>
        </p:spPr>
      </p:sp>
      <p:sp>
        <p:nvSpPr>
          <p:cNvPr id="2" name="TextBox 1">
            <a:extLst>
              <a:ext uri="{FF2B5EF4-FFF2-40B4-BE49-F238E27FC236}">
                <a16:creationId xmlns:a16="http://schemas.microsoft.com/office/drawing/2014/main" id="{277D3755-545B-A163-3655-F95D1CDED15D}"/>
              </a:ext>
            </a:extLst>
          </p:cNvPr>
          <p:cNvSpPr txBox="1"/>
          <p:nvPr/>
        </p:nvSpPr>
        <p:spPr>
          <a:xfrm>
            <a:off x="4953000" y="349850"/>
            <a:ext cx="8382000" cy="138499"/>
          </a:xfrm>
          <a:prstGeom prst="rect">
            <a:avLst/>
          </a:prstGeom>
          <a:noFill/>
        </p:spPr>
        <p:txBody>
          <a:bodyPr vert="horz" wrap="square" lIns="0" tIns="0" rIns="0" bIns="0" rtlCol="0" anchor="ctr">
            <a:spAutoFit/>
          </a:bodyPr>
          <a:lstStyle/>
          <a:p>
            <a:pPr algn="ctr"/>
            <a:r>
              <a:rPr lang="en-GB" sz="900">
                <a:solidFill>
                  <a:srgbClr val="009DDC"/>
                </a:solidFill>
                <a:latin typeface="Press Start 2P" panose="020B0604020202020204" charset="0"/>
              </a:rPr>
              <a:t>PROBLEM // SIGNALS WITHOUT A SYSTEM</a:t>
            </a:r>
          </a:p>
        </p:txBody>
      </p:sp>
      <p:sp>
        <p:nvSpPr>
          <p:cNvPr id="3" name="TextBox 2">
            <a:extLst>
              <a:ext uri="{FF2B5EF4-FFF2-40B4-BE49-F238E27FC236}">
                <a16:creationId xmlns:a16="http://schemas.microsoft.com/office/drawing/2014/main" id="{74FEBEAC-51B6-E7AA-A554-B556FEE00498}"/>
              </a:ext>
            </a:extLst>
          </p:cNvPr>
          <p:cNvSpPr txBox="1"/>
          <p:nvPr/>
        </p:nvSpPr>
        <p:spPr>
          <a:xfrm>
            <a:off x="4191000" y="920233"/>
            <a:ext cx="11176000" cy="369332"/>
          </a:xfrm>
          <a:prstGeom prst="rect">
            <a:avLst/>
          </a:prstGeom>
          <a:noFill/>
        </p:spPr>
        <p:txBody>
          <a:bodyPr vert="horz" wrap="square" lIns="0" tIns="0" rIns="0" bIns="0" rtlCol="0" anchor="ctr">
            <a:spAutoFit/>
          </a:bodyPr>
          <a:lstStyle/>
          <a:p>
            <a:pPr algn="ctr"/>
            <a:r>
              <a:rPr lang="en-GB" sz="2400">
                <a:solidFill>
                  <a:srgbClr val="19263A"/>
                </a:solidFill>
                <a:latin typeface="Press Start 2P" panose="020B0604020202020204" charset="0"/>
              </a:rPr>
              <a:t>The Placement Readiness Gap</a:t>
            </a:r>
          </a:p>
        </p:txBody>
      </p:sp>
      <p:cxnSp>
        <p:nvCxnSpPr>
          <p:cNvPr id="4" name="Straight Connector 3">
            <a:extLst>
              <a:ext uri="{FF2B5EF4-FFF2-40B4-BE49-F238E27FC236}">
                <a16:creationId xmlns:a16="http://schemas.microsoft.com/office/drawing/2014/main" id="{500B4D18-C1C9-3611-AD34-C838F1FE0117}"/>
              </a:ext>
            </a:extLst>
          </p:cNvPr>
          <p:cNvCxnSpPr/>
          <p:nvPr/>
        </p:nvCxnSpPr>
        <p:spPr>
          <a:xfrm>
            <a:off x="7747000" y="1587500"/>
            <a:ext cx="2794000" cy="0"/>
          </a:xfrm>
          <a:prstGeom prst="line">
            <a:avLst/>
          </a:prstGeom>
          <a:ln w="50800">
            <a:solidFill>
              <a:srgbClr val="009DDC"/>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6358E75A-B4B2-E1C2-1CBD-8102F93F08D2}"/>
              </a:ext>
            </a:extLst>
          </p:cNvPr>
          <p:cNvSpPr txBox="1"/>
          <p:nvPr/>
        </p:nvSpPr>
        <p:spPr>
          <a:xfrm>
            <a:off x="16891000" y="9667389"/>
            <a:ext cx="635000" cy="184666"/>
          </a:xfrm>
          <a:prstGeom prst="rect">
            <a:avLst/>
          </a:prstGeom>
          <a:noFill/>
        </p:spPr>
        <p:txBody>
          <a:bodyPr vert="horz" wrap="square" lIns="0" tIns="0" rIns="0" bIns="0" rtlCol="0" anchor="ctr">
            <a:spAutoFit/>
          </a:bodyPr>
          <a:lstStyle/>
          <a:p>
            <a:pPr algn="ctr"/>
            <a:r>
              <a:rPr lang="en-GB" sz="1200" b="1">
                <a:solidFill>
                  <a:srgbClr val="708197"/>
                </a:solidFill>
                <a:latin typeface="Segoe UI Semibold" panose="020B0702040204020203" pitchFamily="34" charset="0"/>
              </a:rPr>
              <a:t>02</a:t>
            </a:r>
          </a:p>
        </p:txBody>
      </p:sp>
      <p:sp>
        <p:nvSpPr>
          <p:cNvPr id="6" name="TextBox 5">
            <a:extLst>
              <a:ext uri="{FF2B5EF4-FFF2-40B4-BE49-F238E27FC236}">
                <a16:creationId xmlns:a16="http://schemas.microsoft.com/office/drawing/2014/main" id="{BFDCB42C-667D-4B41-F9C7-B76C2113FEF3}"/>
              </a:ext>
            </a:extLst>
          </p:cNvPr>
          <p:cNvSpPr txBox="1"/>
          <p:nvPr/>
        </p:nvSpPr>
        <p:spPr>
          <a:xfrm>
            <a:off x="406400" y="9741272"/>
            <a:ext cx="2794000" cy="138499"/>
          </a:xfrm>
          <a:prstGeom prst="rect">
            <a:avLst/>
          </a:prstGeom>
          <a:noFill/>
        </p:spPr>
        <p:txBody>
          <a:bodyPr vert="horz" wrap="square" lIns="0" tIns="0" rIns="0" bIns="0" rtlCol="0" anchor="ctr">
            <a:spAutoFit/>
          </a:bodyPr>
          <a:lstStyle/>
          <a:p>
            <a:r>
              <a:rPr lang="en-GB" sz="900">
                <a:solidFill>
                  <a:srgbClr val="112D52"/>
                </a:solidFill>
                <a:latin typeface="Press Start 2P" panose="020B0604020202020204" charset="0"/>
              </a:rPr>
              <a:t>VAR // PEERPREP</a:t>
            </a:r>
          </a:p>
        </p:txBody>
      </p:sp>
      <p:sp>
        <p:nvSpPr>
          <p:cNvPr id="7" name="TextBox 6">
            <a:extLst>
              <a:ext uri="{FF2B5EF4-FFF2-40B4-BE49-F238E27FC236}">
                <a16:creationId xmlns:a16="http://schemas.microsoft.com/office/drawing/2014/main" id="{3BACA7A5-5358-367A-CB84-EC4A64BDEC52}"/>
              </a:ext>
            </a:extLst>
          </p:cNvPr>
          <p:cNvSpPr txBox="1"/>
          <p:nvPr/>
        </p:nvSpPr>
        <p:spPr>
          <a:xfrm>
            <a:off x="1498600" y="1840756"/>
            <a:ext cx="15290800" cy="369332"/>
          </a:xfrm>
          <a:prstGeom prst="rect">
            <a:avLst/>
          </a:prstGeom>
          <a:noFill/>
        </p:spPr>
        <p:txBody>
          <a:bodyPr vert="horz" wrap="square" lIns="0" tIns="0" rIns="0" bIns="0" rtlCol="0" anchor="ctr">
            <a:spAutoFit/>
          </a:bodyPr>
          <a:lstStyle/>
          <a:p>
            <a:pPr algn="ctr"/>
            <a:r>
              <a:rPr lang="en-GB" sz="2400" b="1">
                <a:solidFill>
                  <a:srgbClr val="112D52"/>
                </a:solidFill>
                <a:latin typeface="Segoe UI Semibold" panose="020B0702040204020203" pitchFamily="34" charset="0"/>
              </a:rPr>
              <a:t>Preparation is fragmented. Readiness is invisible.</a:t>
            </a:r>
          </a:p>
        </p:txBody>
      </p:sp>
      <p:sp>
        <p:nvSpPr>
          <p:cNvPr id="8" name="Rectangle: Rounded Corners 7">
            <a:extLst>
              <a:ext uri="{FF2B5EF4-FFF2-40B4-BE49-F238E27FC236}">
                <a16:creationId xmlns:a16="http://schemas.microsoft.com/office/drawing/2014/main" id="{22E6B741-F0B6-2081-7C6E-38018E667097}"/>
              </a:ext>
            </a:extLst>
          </p:cNvPr>
          <p:cNvSpPr/>
          <p:nvPr/>
        </p:nvSpPr>
        <p:spPr>
          <a:xfrm>
            <a:off x="1371600" y="2730500"/>
            <a:ext cx="4953000" cy="16764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0C2B4F47-00D6-9C21-A0C1-9E46979BB436}"/>
              </a:ext>
            </a:extLst>
          </p:cNvPr>
          <p:cNvSpPr/>
          <p:nvPr/>
        </p:nvSpPr>
        <p:spPr>
          <a:xfrm>
            <a:off x="1371600" y="2730500"/>
            <a:ext cx="101600" cy="1676400"/>
          </a:xfrm>
          <a:prstGeom prst="rect">
            <a:avLst/>
          </a:prstGeom>
          <a:solidFill>
            <a:srgbClr val="009DDC"/>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Rounded Corners 9">
            <a:extLst>
              <a:ext uri="{FF2B5EF4-FFF2-40B4-BE49-F238E27FC236}">
                <a16:creationId xmlns:a16="http://schemas.microsoft.com/office/drawing/2014/main" id="{47FF6F8E-9145-4A95-B147-B0918D0C5158}"/>
              </a:ext>
            </a:extLst>
          </p:cNvPr>
          <p:cNvSpPr/>
          <p:nvPr/>
        </p:nvSpPr>
        <p:spPr>
          <a:xfrm>
            <a:off x="1625600" y="2959100"/>
            <a:ext cx="533400" cy="5334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2E04FA74-964C-9E8E-E9F1-D1CF9BE40BFB}"/>
              </a:ext>
            </a:extLst>
          </p:cNvPr>
          <p:cNvSpPr txBox="1"/>
          <p:nvPr/>
        </p:nvSpPr>
        <p:spPr>
          <a:xfrm>
            <a:off x="1625600" y="2951406"/>
            <a:ext cx="533400" cy="230832"/>
          </a:xfrm>
          <a:prstGeom prst="rect">
            <a:avLst/>
          </a:prstGeom>
          <a:noFill/>
        </p:spPr>
        <p:txBody>
          <a:bodyPr vert="horz" wrap="square" lIns="0" tIns="0" rIns="0" bIns="0" rtlCol="0" anchor="ctr">
            <a:spAutoFit/>
          </a:bodyPr>
          <a:lstStyle/>
          <a:p>
            <a:pPr algn="ctr"/>
            <a:r>
              <a:rPr lang="en-GB" sz="1500">
                <a:solidFill>
                  <a:srgbClr val="009DDC"/>
                </a:solidFill>
                <a:latin typeface="Press Start 2P" panose="020B0604020202020204" charset="0"/>
              </a:rPr>
              <a:t>01</a:t>
            </a:r>
          </a:p>
        </p:txBody>
      </p:sp>
      <p:sp>
        <p:nvSpPr>
          <p:cNvPr id="12" name="TextBox 11">
            <a:extLst>
              <a:ext uri="{FF2B5EF4-FFF2-40B4-BE49-F238E27FC236}">
                <a16:creationId xmlns:a16="http://schemas.microsoft.com/office/drawing/2014/main" id="{6F6DFDCE-5C33-3892-ED11-C3BD8FC81092}"/>
              </a:ext>
            </a:extLst>
          </p:cNvPr>
          <p:cNvSpPr txBox="1"/>
          <p:nvPr/>
        </p:nvSpPr>
        <p:spPr>
          <a:xfrm>
            <a:off x="2362200" y="2928323"/>
            <a:ext cx="3733800" cy="276999"/>
          </a:xfrm>
          <a:prstGeom prst="rect">
            <a:avLst/>
          </a:prstGeom>
          <a:noFill/>
        </p:spPr>
        <p:txBody>
          <a:bodyPr vert="horz" wrap="square" lIns="0" tIns="0" rIns="0" bIns="0" rtlCol="0" anchor="ctr">
            <a:spAutoFit/>
          </a:bodyPr>
          <a:lstStyle/>
          <a:p>
            <a:r>
              <a:rPr lang="en-GB" sz="1800" b="1">
                <a:solidFill>
                  <a:srgbClr val="19263A"/>
                </a:solidFill>
                <a:latin typeface="Segoe UI Semibold" panose="020B0702040204020203" pitchFamily="34" charset="0"/>
              </a:rPr>
              <a:t>Fragmented preparation</a:t>
            </a:r>
          </a:p>
        </p:txBody>
      </p:sp>
      <p:sp>
        <p:nvSpPr>
          <p:cNvPr id="13" name="TextBox 12">
            <a:extLst>
              <a:ext uri="{FF2B5EF4-FFF2-40B4-BE49-F238E27FC236}">
                <a16:creationId xmlns:a16="http://schemas.microsoft.com/office/drawing/2014/main" id="{EFD09D49-BE9D-527F-C855-8BCD73D267B3}"/>
              </a:ext>
            </a:extLst>
          </p:cNvPr>
          <p:cNvSpPr txBox="1"/>
          <p:nvPr/>
        </p:nvSpPr>
        <p:spPr>
          <a:xfrm>
            <a:off x="2362200" y="3378200"/>
            <a:ext cx="3708400" cy="600164"/>
          </a:xfrm>
          <a:prstGeom prst="rect">
            <a:avLst/>
          </a:prstGeom>
          <a:noFill/>
        </p:spPr>
        <p:txBody>
          <a:bodyPr vert="horz" wrap="square" lIns="0" tIns="0" rIns="0" bIns="0" rtlCol="0" anchor="t">
            <a:spAutoFit/>
          </a:bodyPr>
          <a:lstStyle/>
          <a:p>
            <a:r>
              <a:rPr lang="en-GB" sz="1300">
                <a:solidFill>
                  <a:srgbClr val="50627A"/>
                </a:solidFill>
                <a:latin typeface="Segoe UI" panose="020B0502040204020203" pitchFamily="34" charset="0"/>
              </a:rPr>
              <a:t>Learning content, coding practice, assessments and interviews live in separate tools - so students cannot see one coherent journey.</a:t>
            </a:r>
          </a:p>
        </p:txBody>
      </p:sp>
      <p:sp>
        <p:nvSpPr>
          <p:cNvPr id="14" name="Rectangle: Rounded Corners 13">
            <a:extLst>
              <a:ext uri="{FF2B5EF4-FFF2-40B4-BE49-F238E27FC236}">
                <a16:creationId xmlns:a16="http://schemas.microsoft.com/office/drawing/2014/main" id="{986D0446-44A6-032C-1EE5-4D72972A6615}"/>
              </a:ext>
            </a:extLst>
          </p:cNvPr>
          <p:cNvSpPr/>
          <p:nvPr/>
        </p:nvSpPr>
        <p:spPr>
          <a:xfrm>
            <a:off x="6667500" y="2730500"/>
            <a:ext cx="4953000" cy="16764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53D0330D-7BC7-AB3D-09B9-14FF09904567}"/>
              </a:ext>
            </a:extLst>
          </p:cNvPr>
          <p:cNvSpPr/>
          <p:nvPr/>
        </p:nvSpPr>
        <p:spPr>
          <a:xfrm>
            <a:off x="6667500" y="2730500"/>
            <a:ext cx="101600" cy="1676400"/>
          </a:xfrm>
          <a:prstGeom prst="rect">
            <a:avLst/>
          </a:prstGeom>
          <a:solidFill>
            <a:srgbClr val="F4A431"/>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Rectangle: Rounded Corners 15">
            <a:extLst>
              <a:ext uri="{FF2B5EF4-FFF2-40B4-BE49-F238E27FC236}">
                <a16:creationId xmlns:a16="http://schemas.microsoft.com/office/drawing/2014/main" id="{49FB5BAF-A19B-AB23-315B-3605FF875182}"/>
              </a:ext>
            </a:extLst>
          </p:cNvPr>
          <p:cNvSpPr/>
          <p:nvPr/>
        </p:nvSpPr>
        <p:spPr>
          <a:xfrm>
            <a:off x="6921500" y="2959100"/>
            <a:ext cx="533400" cy="533400"/>
          </a:xfrm>
          <a:prstGeom prst="roundRect">
            <a:avLst/>
          </a:prstGeom>
          <a:solidFill>
            <a:srgbClr val="FFF4DE"/>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B199ABCF-E8E1-3204-F2DB-B180AEFC8D1D}"/>
              </a:ext>
            </a:extLst>
          </p:cNvPr>
          <p:cNvSpPr txBox="1"/>
          <p:nvPr/>
        </p:nvSpPr>
        <p:spPr>
          <a:xfrm>
            <a:off x="6921500" y="2951406"/>
            <a:ext cx="533400" cy="230832"/>
          </a:xfrm>
          <a:prstGeom prst="rect">
            <a:avLst/>
          </a:prstGeom>
          <a:noFill/>
        </p:spPr>
        <p:txBody>
          <a:bodyPr vert="horz" wrap="square" lIns="0" tIns="0" rIns="0" bIns="0" rtlCol="0" anchor="ctr">
            <a:spAutoFit/>
          </a:bodyPr>
          <a:lstStyle/>
          <a:p>
            <a:pPr algn="ctr"/>
            <a:r>
              <a:rPr lang="en-GB" sz="1500">
                <a:solidFill>
                  <a:srgbClr val="F4A431"/>
                </a:solidFill>
                <a:latin typeface="Press Start 2P" panose="020B0604020202020204" charset="0"/>
              </a:rPr>
              <a:t>02</a:t>
            </a:r>
          </a:p>
        </p:txBody>
      </p:sp>
      <p:sp>
        <p:nvSpPr>
          <p:cNvPr id="18" name="TextBox 17">
            <a:extLst>
              <a:ext uri="{FF2B5EF4-FFF2-40B4-BE49-F238E27FC236}">
                <a16:creationId xmlns:a16="http://schemas.microsoft.com/office/drawing/2014/main" id="{0D899DD9-9A8E-9443-CE72-C10F43C327D1}"/>
              </a:ext>
            </a:extLst>
          </p:cNvPr>
          <p:cNvSpPr txBox="1"/>
          <p:nvPr/>
        </p:nvSpPr>
        <p:spPr>
          <a:xfrm>
            <a:off x="7658100" y="2928323"/>
            <a:ext cx="3733800" cy="276999"/>
          </a:xfrm>
          <a:prstGeom prst="rect">
            <a:avLst/>
          </a:prstGeom>
          <a:noFill/>
        </p:spPr>
        <p:txBody>
          <a:bodyPr vert="horz" wrap="square" lIns="0" tIns="0" rIns="0" bIns="0" rtlCol="0" anchor="ctr">
            <a:spAutoFit/>
          </a:bodyPr>
          <a:lstStyle/>
          <a:p>
            <a:r>
              <a:rPr lang="en-GB" sz="1800" b="1">
                <a:solidFill>
                  <a:srgbClr val="19263A"/>
                </a:solidFill>
                <a:latin typeface="Segoe UI Semibold" panose="020B0702040204020203" pitchFamily="34" charset="0"/>
              </a:rPr>
              <a:t>Feedback arrives late</a:t>
            </a:r>
          </a:p>
        </p:txBody>
      </p:sp>
      <p:sp>
        <p:nvSpPr>
          <p:cNvPr id="19" name="TextBox 18">
            <a:extLst>
              <a:ext uri="{FF2B5EF4-FFF2-40B4-BE49-F238E27FC236}">
                <a16:creationId xmlns:a16="http://schemas.microsoft.com/office/drawing/2014/main" id="{AB58B571-16F9-FEA8-3E5D-B47237D24B0F}"/>
              </a:ext>
            </a:extLst>
          </p:cNvPr>
          <p:cNvSpPr txBox="1"/>
          <p:nvPr/>
        </p:nvSpPr>
        <p:spPr>
          <a:xfrm>
            <a:off x="7658100" y="3378200"/>
            <a:ext cx="3708400" cy="600164"/>
          </a:xfrm>
          <a:prstGeom prst="rect">
            <a:avLst/>
          </a:prstGeom>
          <a:noFill/>
        </p:spPr>
        <p:txBody>
          <a:bodyPr vert="horz" wrap="square" lIns="0" tIns="0" rIns="0" bIns="0" rtlCol="0" anchor="t">
            <a:spAutoFit/>
          </a:bodyPr>
          <a:lstStyle/>
          <a:p>
            <a:r>
              <a:rPr lang="en-GB" sz="1300">
                <a:solidFill>
                  <a:srgbClr val="50627A"/>
                </a:solidFill>
                <a:latin typeface="Segoe UI" panose="020B0502040204020203" pitchFamily="34" charset="0"/>
              </a:rPr>
              <a:t>Scores show what happened, but not the next best action. Students repeat activity without a clear, evidence-backed priority.</a:t>
            </a:r>
          </a:p>
        </p:txBody>
      </p:sp>
      <p:sp>
        <p:nvSpPr>
          <p:cNvPr id="20" name="Rectangle: Rounded Corners 19">
            <a:extLst>
              <a:ext uri="{FF2B5EF4-FFF2-40B4-BE49-F238E27FC236}">
                <a16:creationId xmlns:a16="http://schemas.microsoft.com/office/drawing/2014/main" id="{3770C85E-3801-F739-6203-F7835A48C8C8}"/>
              </a:ext>
            </a:extLst>
          </p:cNvPr>
          <p:cNvSpPr/>
          <p:nvPr/>
        </p:nvSpPr>
        <p:spPr>
          <a:xfrm>
            <a:off x="11963400" y="2730500"/>
            <a:ext cx="4953000" cy="16764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A479FCA5-7EA3-EB8D-8D60-B88E56F8F476}"/>
              </a:ext>
            </a:extLst>
          </p:cNvPr>
          <p:cNvSpPr/>
          <p:nvPr/>
        </p:nvSpPr>
        <p:spPr>
          <a:xfrm>
            <a:off x="11963400" y="2730500"/>
            <a:ext cx="101600" cy="1676400"/>
          </a:xfrm>
          <a:prstGeom prst="rect">
            <a:avLst/>
          </a:prstGeom>
          <a:solidFill>
            <a:srgbClr val="7354B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ectangle: Rounded Corners 21">
            <a:extLst>
              <a:ext uri="{FF2B5EF4-FFF2-40B4-BE49-F238E27FC236}">
                <a16:creationId xmlns:a16="http://schemas.microsoft.com/office/drawing/2014/main" id="{77F3E96C-7D4E-31A4-3158-60D6BC56B23D}"/>
              </a:ext>
            </a:extLst>
          </p:cNvPr>
          <p:cNvSpPr/>
          <p:nvPr/>
        </p:nvSpPr>
        <p:spPr>
          <a:xfrm>
            <a:off x="12217400" y="2959100"/>
            <a:ext cx="533400" cy="533400"/>
          </a:xfrm>
          <a:prstGeom prst="roundRect">
            <a:avLst/>
          </a:prstGeom>
          <a:solidFill>
            <a:srgbClr val="EFE9FC"/>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TextBox 22">
            <a:extLst>
              <a:ext uri="{FF2B5EF4-FFF2-40B4-BE49-F238E27FC236}">
                <a16:creationId xmlns:a16="http://schemas.microsoft.com/office/drawing/2014/main" id="{0E4675A0-7F0C-2585-508C-4E80EEF8B1DD}"/>
              </a:ext>
            </a:extLst>
          </p:cNvPr>
          <p:cNvSpPr txBox="1"/>
          <p:nvPr/>
        </p:nvSpPr>
        <p:spPr>
          <a:xfrm>
            <a:off x="12217400" y="2951406"/>
            <a:ext cx="533400" cy="230832"/>
          </a:xfrm>
          <a:prstGeom prst="rect">
            <a:avLst/>
          </a:prstGeom>
          <a:noFill/>
        </p:spPr>
        <p:txBody>
          <a:bodyPr vert="horz" wrap="square" lIns="0" tIns="0" rIns="0" bIns="0" rtlCol="0" anchor="ctr">
            <a:spAutoFit/>
          </a:bodyPr>
          <a:lstStyle/>
          <a:p>
            <a:pPr algn="ctr"/>
            <a:r>
              <a:rPr lang="en-GB" sz="1500">
                <a:solidFill>
                  <a:srgbClr val="7354BD"/>
                </a:solidFill>
                <a:latin typeface="Press Start 2P" panose="020B0604020202020204" charset="0"/>
              </a:rPr>
              <a:t>03</a:t>
            </a:r>
          </a:p>
        </p:txBody>
      </p:sp>
      <p:sp>
        <p:nvSpPr>
          <p:cNvPr id="24" name="TextBox 23">
            <a:extLst>
              <a:ext uri="{FF2B5EF4-FFF2-40B4-BE49-F238E27FC236}">
                <a16:creationId xmlns:a16="http://schemas.microsoft.com/office/drawing/2014/main" id="{45E3CE3A-2806-C94B-9DB2-2285CEFE96E6}"/>
              </a:ext>
            </a:extLst>
          </p:cNvPr>
          <p:cNvSpPr txBox="1"/>
          <p:nvPr/>
        </p:nvSpPr>
        <p:spPr>
          <a:xfrm>
            <a:off x="12954000" y="2928323"/>
            <a:ext cx="3733800" cy="276999"/>
          </a:xfrm>
          <a:prstGeom prst="rect">
            <a:avLst/>
          </a:prstGeom>
          <a:noFill/>
        </p:spPr>
        <p:txBody>
          <a:bodyPr vert="horz" wrap="square" lIns="0" tIns="0" rIns="0" bIns="0" rtlCol="0" anchor="ctr">
            <a:spAutoFit/>
          </a:bodyPr>
          <a:lstStyle/>
          <a:p>
            <a:r>
              <a:rPr lang="en-GB" sz="1800" b="1">
                <a:solidFill>
                  <a:srgbClr val="19263A"/>
                </a:solidFill>
                <a:latin typeface="Segoe UI Semibold" panose="020B0702040204020203" pitchFamily="34" charset="0"/>
              </a:rPr>
              <a:t>Cohort visibility is weak</a:t>
            </a:r>
          </a:p>
        </p:txBody>
      </p:sp>
      <p:sp>
        <p:nvSpPr>
          <p:cNvPr id="25" name="TextBox 24">
            <a:extLst>
              <a:ext uri="{FF2B5EF4-FFF2-40B4-BE49-F238E27FC236}">
                <a16:creationId xmlns:a16="http://schemas.microsoft.com/office/drawing/2014/main" id="{50C66F60-5A69-F3F7-19B9-2CA21B845641}"/>
              </a:ext>
            </a:extLst>
          </p:cNvPr>
          <p:cNvSpPr txBox="1"/>
          <p:nvPr/>
        </p:nvSpPr>
        <p:spPr>
          <a:xfrm>
            <a:off x="12954000" y="3378200"/>
            <a:ext cx="3708400" cy="600164"/>
          </a:xfrm>
          <a:prstGeom prst="rect">
            <a:avLst/>
          </a:prstGeom>
          <a:noFill/>
        </p:spPr>
        <p:txBody>
          <a:bodyPr vert="horz" wrap="square" lIns="0" tIns="0" rIns="0" bIns="0" rtlCol="0" anchor="t">
            <a:spAutoFit/>
          </a:bodyPr>
          <a:lstStyle/>
          <a:p>
            <a:r>
              <a:rPr lang="en-GB" sz="1300">
                <a:solidFill>
                  <a:srgbClr val="50627A"/>
                </a:solidFill>
                <a:latin typeface="Segoe UI" panose="020B0502040204020203" pitchFamily="34" charset="0"/>
              </a:rPr>
              <a:t>Coordinators manually combine attendance, results and feedback, delaying targeted support for students who need it most.</a:t>
            </a:r>
          </a:p>
        </p:txBody>
      </p:sp>
      <p:sp>
        <p:nvSpPr>
          <p:cNvPr id="26" name="TextBox 25">
            <a:extLst>
              <a:ext uri="{FF2B5EF4-FFF2-40B4-BE49-F238E27FC236}">
                <a16:creationId xmlns:a16="http://schemas.microsoft.com/office/drawing/2014/main" id="{DA74DC03-C02E-6150-3824-51B0C35A3D56}"/>
              </a:ext>
            </a:extLst>
          </p:cNvPr>
          <p:cNvSpPr txBox="1"/>
          <p:nvPr/>
        </p:nvSpPr>
        <p:spPr>
          <a:xfrm>
            <a:off x="1498600" y="4869478"/>
            <a:ext cx="3810000" cy="153888"/>
          </a:xfrm>
          <a:prstGeom prst="rect">
            <a:avLst/>
          </a:prstGeom>
          <a:noFill/>
        </p:spPr>
        <p:txBody>
          <a:bodyPr vert="horz" wrap="square" lIns="0" tIns="0" rIns="0" bIns="0" rtlCol="0" anchor="ctr">
            <a:spAutoFit/>
          </a:bodyPr>
          <a:lstStyle/>
          <a:p>
            <a:r>
              <a:rPr lang="en-GB" sz="1000">
                <a:solidFill>
                  <a:srgbClr val="009DDC"/>
                </a:solidFill>
                <a:latin typeface="Press Start 2P" panose="020B0604020202020204" charset="0"/>
              </a:rPr>
              <a:t>WHO FEELS THE PAIN</a:t>
            </a:r>
          </a:p>
        </p:txBody>
      </p:sp>
      <p:cxnSp>
        <p:nvCxnSpPr>
          <p:cNvPr id="27" name="Straight Connector 26">
            <a:extLst>
              <a:ext uri="{FF2B5EF4-FFF2-40B4-BE49-F238E27FC236}">
                <a16:creationId xmlns:a16="http://schemas.microsoft.com/office/drawing/2014/main" id="{30003388-B858-8B3F-6CB7-5FCDA8308BE6}"/>
              </a:ext>
            </a:extLst>
          </p:cNvPr>
          <p:cNvCxnSpPr/>
          <p:nvPr/>
        </p:nvCxnSpPr>
        <p:spPr>
          <a:xfrm>
            <a:off x="1498600" y="5245100"/>
            <a:ext cx="15290800" cy="0"/>
          </a:xfrm>
          <a:prstGeom prst="line">
            <a:avLst/>
          </a:prstGeom>
          <a:ln w="12700">
            <a:solidFill>
              <a:srgbClr val="C7DCEC"/>
            </a:solidFill>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EA7AF24B-BBC2-F6CA-AD4E-E0A7138D554E}"/>
              </a:ext>
            </a:extLst>
          </p:cNvPr>
          <p:cNvSpPr/>
          <p:nvPr/>
        </p:nvSpPr>
        <p:spPr>
          <a:xfrm>
            <a:off x="1498600" y="5524500"/>
            <a:ext cx="4927600" cy="1905000"/>
          </a:xfrm>
          <a:prstGeom prst="roundRect">
            <a:avLst/>
          </a:prstGeom>
          <a:solidFill>
            <a:srgbClr val="FFFFFF"/>
          </a:solidFill>
          <a:ln w="12700">
            <a:solidFill>
              <a:srgbClr val="C7DC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Rounded Corners 28">
            <a:extLst>
              <a:ext uri="{FF2B5EF4-FFF2-40B4-BE49-F238E27FC236}">
                <a16:creationId xmlns:a16="http://schemas.microsoft.com/office/drawing/2014/main" id="{434C10B9-6F41-4106-EC4B-6BCDB99FF9BC}"/>
              </a:ext>
            </a:extLst>
          </p:cNvPr>
          <p:cNvSpPr/>
          <p:nvPr/>
        </p:nvSpPr>
        <p:spPr>
          <a:xfrm>
            <a:off x="1727200" y="5727700"/>
            <a:ext cx="1587500" cy="3556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464C1266-E3BD-5F53-F113-14341145CD0C}"/>
              </a:ext>
            </a:extLst>
          </p:cNvPr>
          <p:cNvSpPr txBox="1"/>
          <p:nvPr/>
        </p:nvSpPr>
        <p:spPr>
          <a:xfrm>
            <a:off x="1727200" y="5766172"/>
            <a:ext cx="1587500" cy="189796"/>
          </a:xfrm>
          <a:prstGeom prst="rect">
            <a:avLst/>
          </a:prstGeom>
          <a:noFill/>
        </p:spPr>
        <p:txBody>
          <a:bodyPr vert="horz" wrap="square" lIns="25400" tIns="25400" rIns="25400" bIns="25400" rtlCol="0" anchor="ctr">
            <a:spAutoFit/>
          </a:bodyPr>
          <a:lstStyle/>
          <a:p>
            <a:pPr algn="ctr"/>
            <a:r>
              <a:rPr lang="en-GB" sz="900" b="1">
                <a:solidFill>
                  <a:srgbClr val="009DDC"/>
                </a:solidFill>
                <a:latin typeface="Segoe UI Semibold" panose="020B0702040204020203" pitchFamily="34" charset="0"/>
              </a:rPr>
              <a:t>STUDENT</a:t>
            </a:r>
          </a:p>
        </p:txBody>
      </p:sp>
      <p:sp>
        <p:nvSpPr>
          <p:cNvPr id="31" name="TextBox 30">
            <a:extLst>
              <a:ext uri="{FF2B5EF4-FFF2-40B4-BE49-F238E27FC236}">
                <a16:creationId xmlns:a16="http://schemas.microsoft.com/office/drawing/2014/main" id="{F6106873-8F6C-9538-1875-C79F012C12C9}"/>
              </a:ext>
            </a:extLst>
          </p:cNvPr>
          <p:cNvSpPr txBox="1"/>
          <p:nvPr/>
        </p:nvSpPr>
        <p:spPr>
          <a:xfrm>
            <a:off x="1727200" y="6245712"/>
            <a:ext cx="4470400" cy="246221"/>
          </a:xfrm>
          <a:prstGeom prst="rect">
            <a:avLst/>
          </a:prstGeom>
          <a:noFill/>
        </p:spPr>
        <p:txBody>
          <a:bodyPr vert="horz" wrap="square" lIns="0" tIns="0" rIns="0" bIns="0" rtlCol="0" anchor="ctr">
            <a:spAutoFit/>
          </a:bodyPr>
          <a:lstStyle/>
          <a:p>
            <a:r>
              <a:rPr lang="en-GB" sz="1600" b="1">
                <a:solidFill>
                  <a:srgbClr val="19263A"/>
                </a:solidFill>
                <a:latin typeface="Segoe UI Semibold" panose="020B0702040204020203" pitchFamily="34" charset="0"/>
              </a:rPr>
              <a:t>What should I improve next?</a:t>
            </a:r>
          </a:p>
        </p:txBody>
      </p:sp>
      <p:sp>
        <p:nvSpPr>
          <p:cNvPr id="32" name="TextBox 31">
            <a:extLst>
              <a:ext uri="{FF2B5EF4-FFF2-40B4-BE49-F238E27FC236}">
                <a16:creationId xmlns:a16="http://schemas.microsoft.com/office/drawing/2014/main" id="{A42923D9-8488-6814-D8A7-4A7280CAF71A}"/>
              </a:ext>
            </a:extLst>
          </p:cNvPr>
          <p:cNvSpPr txBox="1"/>
          <p:nvPr/>
        </p:nvSpPr>
        <p:spPr>
          <a:xfrm>
            <a:off x="1727200" y="6718300"/>
            <a:ext cx="4470400" cy="192360"/>
          </a:xfrm>
          <a:prstGeom prst="rect">
            <a:avLst/>
          </a:prstGeom>
          <a:noFill/>
        </p:spPr>
        <p:txBody>
          <a:bodyPr vert="horz" wrap="square" lIns="0" tIns="0" rIns="0" bIns="0" rtlCol="0" anchor="t">
            <a:spAutoFit/>
          </a:bodyPr>
          <a:lstStyle/>
          <a:p>
            <a:r>
              <a:rPr lang="en-GB" sz="1250">
                <a:solidFill>
                  <a:srgbClr val="50627A"/>
                </a:solidFill>
                <a:latin typeface="Segoe UI" panose="020B0502040204020203" pitchFamily="34" charset="0"/>
              </a:rPr>
              <a:t>Scattered feedback -&gt; unclear priorities</a:t>
            </a:r>
          </a:p>
        </p:txBody>
      </p:sp>
      <p:sp>
        <p:nvSpPr>
          <p:cNvPr id="33" name="Rectangle: Rounded Corners 32">
            <a:extLst>
              <a:ext uri="{FF2B5EF4-FFF2-40B4-BE49-F238E27FC236}">
                <a16:creationId xmlns:a16="http://schemas.microsoft.com/office/drawing/2014/main" id="{AE8F7D2A-317D-D9FE-112B-D1637B880828}"/>
              </a:ext>
            </a:extLst>
          </p:cNvPr>
          <p:cNvSpPr/>
          <p:nvPr/>
        </p:nvSpPr>
        <p:spPr>
          <a:xfrm>
            <a:off x="6680200" y="5524500"/>
            <a:ext cx="4927600" cy="1905000"/>
          </a:xfrm>
          <a:prstGeom prst="roundRect">
            <a:avLst/>
          </a:prstGeom>
          <a:solidFill>
            <a:srgbClr val="FFFFFF"/>
          </a:solidFill>
          <a:ln w="12700">
            <a:solidFill>
              <a:srgbClr val="C7DC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Rounded Corners 33">
            <a:extLst>
              <a:ext uri="{FF2B5EF4-FFF2-40B4-BE49-F238E27FC236}">
                <a16:creationId xmlns:a16="http://schemas.microsoft.com/office/drawing/2014/main" id="{A8CC5A54-1BDC-5C70-6905-D9DBC5397416}"/>
              </a:ext>
            </a:extLst>
          </p:cNvPr>
          <p:cNvSpPr/>
          <p:nvPr/>
        </p:nvSpPr>
        <p:spPr>
          <a:xfrm>
            <a:off x="6908800" y="5727700"/>
            <a:ext cx="1587500" cy="355600"/>
          </a:xfrm>
          <a:prstGeom prst="roundRect">
            <a:avLst/>
          </a:prstGeom>
          <a:solidFill>
            <a:srgbClr val="FFF4DE"/>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D002E27B-0F7E-688A-3295-FB99AF784F1E}"/>
              </a:ext>
            </a:extLst>
          </p:cNvPr>
          <p:cNvSpPr txBox="1"/>
          <p:nvPr/>
        </p:nvSpPr>
        <p:spPr>
          <a:xfrm>
            <a:off x="6908800" y="5766172"/>
            <a:ext cx="1587500" cy="189796"/>
          </a:xfrm>
          <a:prstGeom prst="rect">
            <a:avLst/>
          </a:prstGeom>
          <a:noFill/>
        </p:spPr>
        <p:txBody>
          <a:bodyPr vert="horz" wrap="square" lIns="25400" tIns="25400" rIns="25400" bIns="25400" rtlCol="0" anchor="ctr">
            <a:spAutoFit/>
          </a:bodyPr>
          <a:lstStyle/>
          <a:p>
            <a:pPr algn="ctr"/>
            <a:r>
              <a:rPr lang="en-GB" sz="900" b="1">
                <a:solidFill>
                  <a:srgbClr val="F4A431"/>
                </a:solidFill>
                <a:latin typeface="Segoe UI Semibold" panose="020B0702040204020203" pitchFamily="34" charset="0"/>
              </a:rPr>
              <a:t>COORDINATOR</a:t>
            </a:r>
          </a:p>
        </p:txBody>
      </p:sp>
      <p:sp>
        <p:nvSpPr>
          <p:cNvPr id="36" name="TextBox 35">
            <a:extLst>
              <a:ext uri="{FF2B5EF4-FFF2-40B4-BE49-F238E27FC236}">
                <a16:creationId xmlns:a16="http://schemas.microsoft.com/office/drawing/2014/main" id="{201F5696-B719-E313-7E91-7B0AB6CB40D9}"/>
              </a:ext>
            </a:extLst>
          </p:cNvPr>
          <p:cNvSpPr txBox="1"/>
          <p:nvPr/>
        </p:nvSpPr>
        <p:spPr>
          <a:xfrm>
            <a:off x="6908800" y="6245712"/>
            <a:ext cx="4470400" cy="246221"/>
          </a:xfrm>
          <a:prstGeom prst="rect">
            <a:avLst/>
          </a:prstGeom>
          <a:noFill/>
        </p:spPr>
        <p:txBody>
          <a:bodyPr vert="horz" wrap="square" lIns="0" tIns="0" rIns="0" bIns="0" rtlCol="0" anchor="ctr">
            <a:spAutoFit/>
          </a:bodyPr>
          <a:lstStyle/>
          <a:p>
            <a:r>
              <a:rPr lang="en-GB" sz="1600" b="1">
                <a:solidFill>
                  <a:srgbClr val="19263A"/>
                </a:solidFill>
                <a:latin typeface="Segoe UI Semibold" panose="020B0702040204020203" pitchFamily="34" charset="0"/>
              </a:rPr>
              <a:t>Who needs help right now?</a:t>
            </a:r>
          </a:p>
        </p:txBody>
      </p:sp>
      <p:sp>
        <p:nvSpPr>
          <p:cNvPr id="37" name="TextBox 36">
            <a:extLst>
              <a:ext uri="{FF2B5EF4-FFF2-40B4-BE49-F238E27FC236}">
                <a16:creationId xmlns:a16="http://schemas.microsoft.com/office/drawing/2014/main" id="{AD72D771-9BDE-0E51-69AF-43A36BAF787C}"/>
              </a:ext>
            </a:extLst>
          </p:cNvPr>
          <p:cNvSpPr txBox="1"/>
          <p:nvPr/>
        </p:nvSpPr>
        <p:spPr>
          <a:xfrm>
            <a:off x="6908800" y="6718300"/>
            <a:ext cx="4470400" cy="192360"/>
          </a:xfrm>
          <a:prstGeom prst="rect">
            <a:avLst/>
          </a:prstGeom>
          <a:noFill/>
        </p:spPr>
        <p:txBody>
          <a:bodyPr vert="horz" wrap="square" lIns="0" tIns="0" rIns="0" bIns="0" rtlCol="0" anchor="t">
            <a:spAutoFit/>
          </a:bodyPr>
          <a:lstStyle/>
          <a:p>
            <a:r>
              <a:rPr lang="en-GB" sz="1250">
                <a:solidFill>
                  <a:srgbClr val="50627A"/>
                </a:solidFill>
                <a:latin typeface="Segoe UI" panose="020B0502040204020203" pitchFamily="34" charset="0"/>
              </a:rPr>
              <a:t>Manual tracking -&gt; delayed intervention</a:t>
            </a:r>
          </a:p>
        </p:txBody>
      </p:sp>
      <p:sp>
        <p:nvSpPr>
          <p:cNvPr id="38" name="Rectangle: Rounded Corners 37">
            <a:extLst>
              <a:ext uri="{FF2B5EF4-FFF2-40B4-BE49-F238E27FC236}">
                <a16:creationId xmlns:a16="http://schemas.microsoft.com/office/drawing/2014/main" id="{7CE3AF85-365E-2114-CB67-C3E45AAC4614}"/>
              </a:ext>
            </a:extLst>
          </p:cNvPr>
          <p:cNvSpPr/>
          <p:nvPr/>
        </p:nvSpPr>
        <p:spPr>
          <a:xfrm>
            <a:off x="11861800" y="5524500"/>
            <a:ext cx="4927600" cy="1905000"/>
          </a:xfrm>
          <a:prstGeom prst="roundRect">
            <a:avLst/>
          </a:prstGeom>
          <a:solidFill>
            <a:srgbClr val="FFFFFF"/>
          </a:solidFill>
          <a:ln w="12700">
            <a:solidFill>
              <a:srgbClr val="C7DC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Rounded Corners 38">
            <a:extLst>
              <a:ext uri="{FF2B5EF4-FFF2-40B4-BE49-F238E27FC236}">
                <a16:creationId xmlns:a16="http://schemas.microsoft.com/office/drawing/2014/main" id="{47E216C2-730B-B037-209C-AAE42CA19681}"/>
              </a:ext>
            </a:extLst>
          </p:cNvPr>
          <p:cNvSpPr/>
          <p:nvPr/>
        </p:nvSpPr>
        <p:spPr>
          <a:xfrm>
            <a:off x="12090400" y="5727700"/>
            <a:ext cx="1587500" cy="355600"/>
          </a:xfrm>
          <a:prstGeom prst="roundRect">
            <a:avLst/>
          </a:prstGeom>
          <a:solidFill>
            <a:srgbClr val="EFE9FC"/>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TextBox 39">
            <a:extLst>
              <a:ext uri="{FF2B5EF4-FFF2-40B4-BE49-F238E27FC236}">
                <a16:creationId xmlns:a16="http://schemas.microsoft.com/office/drawing/2014/main" id="{702CD580-08D0-457B-556F-C616CF1A5893}"/>
              </a:ext>
            </a:extLst>
          </p:cNvPr>
          <p:cNvSpPr txBox="1"/>
          <p:nvPr/>
        </p:nvSpPr>
        <p:spPr>
          <a:xfrm>
            <a:off x="12090400" y="5766172"/>
            <a:ext cx="1587500" cy="189796"/>
          </a:xfrm>
          <a:prstGeom prst="rect">
            <a:avLst/>
          </a:prstGeom>
          <a:noFill/>
        </p:spPr>
        <p:txBody>
          <a:bodyPr vert="horz" wrap="square" lIns="25400" tIns="25400" rIns="25400" bIns="25400" rtlCol="0" anchor="ctr">
            <a:spAutoFit/>
          </a:bodyPr>
          <a:lstStyle/>
          <a:p>
            <a:pPr algn="ctr"/>
            <a:r>
              <a:rPr lang="en-GB" sz="900" b="1">
                <a:solidFill>
                  <a:srgbClr val="7354BD"/>
                </a:solidFill>
                <a:latin typeface="Segoe UI Semibold" panose="020B0702040204020203" pitchFamily="34" charset="0"/>
              </a:rPr>
              <a:t>UNIVERSITY</a:t>
            </a:r>
          </a:p>
        </p:txBody>
      </p:sp>
      <p:sp>
        <p:nvSpPr>
          <p:cNvPr id="41" name="TextBox 40">
            <a:extLst>
              <a:ext uri="{FF2B5EF4-FFF2-40B4-BE49-F238E27FC236}">
                <a16:creationId xmlns:a16="http://schemas.microsoft.com/office/drawing/2014/main" id="{B572C7CF-52A1-100D-C3AF-734B40948882}"/>
              </a:ext>
            </a:extLst>
          </p:cNvPr>
          <p:cNvSpPr txBox="1"/>
          <p:nvPr/>
        </p:nvSpPr>
        <p:spPr>
          <a:xfrm>
            <a:off x="12090400" y="6245712"/>
            <a:ext cx="4470400" cy="246221"/>
          </a:xfrm>
          <a:prstGeom prst="rect">
            <a:avLst/>
          </a:prstGeom>
          <a:noFill/>
        </p:spPr>
        <p:txBody>
          <a:bodyPr vert="horz" wrap="square" lIns="0" tIns="0" rIns="0" bIns="0" rtlCol="0" anchor="ctr">
            <a:spAutoFit/>
          </a:bodyPr>
          <a:lstStyle/>
          <a:p>
            <a:r>
              <a:rPr lang="en-GB" sz="1600" b="1">
                <a:solidFill>
                  <a:srgbClr val="19263A"/>
                </a:solidFill>
                <a:latin typeface="Segoe UI Semibold" panose="020B0702040204020203" pitchFamily="34" charset="0"/>
              </a:rPr>
              <a:t>Is the cohort placement-ready?</a:t>
            </a:r>
          </a:p>
        </p:txBody>
      </p:sp>
      <p:sp>
        <p:nvSpPr>
          <p:cNvPr id="42" name="TextBox 41">
            <a:extLst>
              <a:ext uri="{FF2B5EF4-FFF2-40B4-BE49-F238E27FC236}">
                <a16:creationId xmlns:a16="http://schemas.microsoft.com/office/drawing/2014/main" id="{9EDC120C-1FE7-6104-E0A4-60B0E7CC3F01}"/>
              </a:ext>
            </a:extLst>
          </p:cNvPr>
          <p:cNvSpPr txBox="1"/>
          <p:nvPr/>
        </p:nvSpPr>
        <p:spPr>
          <a:xfrm>
            <a:off x="12090400" y="6718300"/>
            <a:ext cx="4470400" cy="192360"/>
          </a:xfrm>
          <a:prstGeom prst="rect">
            <a:avLst/>
          </a:prstGeom>
          <a:noFill/>
        </p:spPr>
        <p:txBody>
          <a:bodyPr vert="horz" wrap="square" lIns="0" tIns="0" rIns="0" bIns="0" rtlCol="0" anchor="t">
            <a:spAutoFit/>
          </a:bodyPr>
          <a:lstStyle/>
          <a:p>
            <a:r>
              <a:rPr lang="en-GB" sz="1250">
                <a:solidFill>
                  <a:srgbClr val="50627A"/>
                </a:solidFill>
                <a:latin typeface="Segoe UI" panose="020B0502040204020203" pitchFamily="34" charset="0"/>
              </a:rPr>
              <a:t>Isolated reports -&gt; no shared readiness view</a:t>
            </a:r>
          </a:p>
        </p:txBody>
      </p:sp>
      <p:sp>
        <p:nvSpPr>
          <p:cNvPr id="43" name="Rectangle: Rounded Corners 42">
            <a:extLst>
              <a:ext uri="{FF2B5EF4-FFF2-40B4-BE49-F238E27FC236}">
                <a16:creationId xmlns:a16="http://schemas.microsoft.com/office/drawing/2014/main" id="{E9A28961-AEB3-5B08-2A9A-90158B3ABDD9}"/>
              </a:ext>
            </a:extLst>
          </p:cNvPr>
          <p:cNvSpPr/>
          <p:nvPr/>
        </p:nvSpPr>
        <p:spPr>
          <a:xfrm>
            <a:off x="1498600" y="7759700"/>
            <a:ext cx="15290800" cy="990600"/>
          </a:xfrm>
          <a:prstGeom prst="roundRect">
            <a:avLst/>
          </a:prstGeom>
          <a:solidFill>
            <a:srgbClr val="112D52"/>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TextBox 43">
            <a:extLst>
              <a:ext uri="{FF2B5EF4-FFF2-40B4-BE49-F238E27FC236}">
                <a16:creationId xmlns:a16="http://schemas.microsoft.com/office/drawing/2014/main" id="{564203CB-2748-787A-BE51-61BEB060CD1D}"/>
              </a:ext>
            </a:extLst>
          </p:cNvPr>
          <p:cNvSpPr txBox="1"/>
          <p:nvPr/>
        </p:nvSpPr>
        <p:spPr>
          <a:xfrm>
            <a:off x="1778000" y="7980978"/>
            <a:ext cx="2794000" cy="153888"/>
          </a:xfrm>
          <a:prstGeom prst="rect">
            <a:avLst/>
          </a:prstGeom>
          <a:noFill/>
        </p:spPr>
        <p:txBody>
          <a:bodyPr vert="horz" wrap="square" lIns="0" tIns="0" rIns="0" bIns="0" rtlCol="0" anchor="ctr">
            <a:spAutoFit/>
          </a:bodyPr>
          <a:lstStyle/>
          <a:p>
            <a:r>
              <a:rPr lang="en-GB" sz="1000">
                <a:solidFill>
                  <a:srgbClr val="E2F4FD"/>
                </a:solidFill>
                <a:latin typeface="Press Start 2P" panose="020B0604020202020204" charset="0"/>
              </a:rPr>
              <a:t>THE OPPORTUNITY</a:t>
            </a:r>
          </a:p>
        </p:txBody>
      </p:sp>
      <p:sp>
        <p:nvSpPr>
          <p:cNvPr id="45" name="TextBox 44">
            <a:extLst>
              <a:ext uri="{FF2B5EF4-FFF2-40B4-BE49-F238E27FC236}">
                <a16:creationId xmlns:a16="http://schemas.microsoft.com/office/drawing/2014/main" id="{DD93DCAD-FCF2-85A3-AC86-59796C82BFF4}"/>
              </a:ext>
            </a:extLst>
          </p:cNvPr>
          <p:cNvSpPr txBox="1"/>
          <p:nvPr/>
        </p:nvSpPr>
        <p:spPr>
          <a:xfrm>
            <a:off x="4673600" y="7850917"/>
            <a:ext cx="11620500" cy="261610"/>
          </a:xfrm>
          <a:prstGeom prst="rect">
            <a:avLst/>
          </a:prstGeom>
          <a:noFill/>
        </p:spPr>
        <p:txBody>
          <a:bodyPr vert="horz" wrap="square" lIns="0" tIns="0" rIns="0" bIns="0" rtlCol="0" anchor="ctr">
            <a:spAutoFit/>
          </a:bodyPr>
          <a:lstStyle/>
          <a:p>
            <a:r>
              <a:rPr lang="en-GB" sz="1700" b="1">
                <a:solidFill>
                  <a:srgbClr val="FFFFFF"/>
                </a:solidFill>
                <a:latin typeface="Segoe UI Semibold" panose="020B0702040204020203" pitchFamily="34" charset="0"/>
              </a:rPr>
              <a:t>Create one evidence loop: activity -&gt; assessment -&gt; feedback -&gt; targeted preparation -&gt; readiness.</a:t>
            </a:r>
          </a:p>
        </p:txBody>
      </p:sp>
      <p:sp>
        <p:nvSpPr>
          <p:cNvPr id="46" name="TextBox 45">
            <a:extLst>
              <a:ext uri="{FF2B5EF4-FFF2-40B4-BE49-F238E27FC236}">
                <a16:creationId xmlns:a16="http://schemas.microsoft.com/office/drawing/2014/main" id="{CC2C4778-B1E7-94E1-A326-579CC79D41EA}"/>
              </a:ext>
            </a:extLst>
          </p:cNvPr>
          <p:cNvSpPr txBox="1"/>
          <p:nvPr/>
        </p:nvSpPr>
        <p:spPr>
          <a:xfrm>
            <a:off x="4673600" y="8401236"/>
            <a:ext cx="11620500" cy="176972"/>
          </a:xfrm>
          <a:prstGeom prst="rect">
            <a:avLst/>
          </a:prstGeom>
          <a:noFill/>
        </p:spPr>
        <p:txBody>
          <a:bodyPr vert="horz" wrap="square" lIns="0" tIns="0" rIns="0" bIns="0" rtlCol="0" anchor="ctr">
            <a:spAutoFit/>
          </a:bodyPr>
          <a:lstStyle/>
          <a:p>
            <a:r>
              <a:rPr lang="en-GB" sz="1150">
                <a:solidFill>
                  <a:srgbClr val="E2F4FD"/>
                </a:solidFill>
                <a:latin typeface="Segoe UI" panose="020B0502040204020203" pitchFamily="34" charset="0"/>
              </a:rPr>
              <a:t>Design principle: decision-ready insights for students and placement teams - not another content library.</a:t>
            </a:r>
          </a:p>
        </p:txBody>
      </p:sp>
    </p:spTree>
    <p:extLst>
      <p:ext uri="{BB962C8B-B14F-4D97-AF65-F5344CB8AC3E}">
        <p14:creationId xmlns:p14="http://schemas.microsoft.com/office/powerpoint/2010/main" val="1987820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Google Shape;118;p15">
            <a:extLst>
              <a:ext uri="{FF2B5EF4-FFF2-40B4-BE49-F238E27FC236}">
                <a16:creationId xmlns:a16="http://schemas.microsoft.com/office/drawing/2014/main" id="{66FF5F60-C154-4ADC-A138-F61F138C0898}"/>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rotWithShape="1">
            <a:blip r:embed="rId3">
              <a:alphaModFix/>
            </a:blip>
            <a:stretch>
              <a:fillRect l="-391" r="-391"/>
            </a:stretch>
          </a:blipFill>
          <a:ln>
            <a:noFill/>
          </a:ln>
        </p:spPr>
      </p:sp>
      <p:sp>
        <p:nvSpPr>
          <p:cNvPr id="120" name="Google Shape;120;p15">
            <a:extLst>
              <a:ext uri="{FF2B5EF4-FFF2-40B4-BE49-F238E27FC236}">
                <a16:creationId xmlns:a16="http://schemas.microsoft.com/office/drawing/2014/main" id="{E67B6D56-8EDF-44D4-9C9E-82DD4D58726D}"/>
              </a:ext>
            </a:extLst>
          </p:cNvPr>
          <p:cNvSpPr>
            <a:spLocks noGrp="1"/>
          </p:cNvSpPr>
          <p:nvPr/>
        </p:nvSpPr>
        <p:spPr>
          <a:xfrm>
            <a:off x="3737885" y="725420"/>
            <a:ext cx="11290695" cy="1632045"/>
          </a:xfrm>
          <a:custGeom>
            <a:avLst/>
            <a:gdLst/>
            <a:ahLst/>
            <a:cxnLst/>
            <a:rect l="l" t="t" r="r" b="b"/>
            <a:pathLst>
              <a:path w="15814844" h="2286000">
                <a:moveTo>
                  <a:pt x="0" y="0"/>
                </a:moveTo>
                <a:lnTo>
                  <a:pt x="15814844" y="0"/>
                </a:lnTo>
                <a:lnTo>
                  <a:pt x="15814844" y="2286000"/>
                </a:lnTo>
                <a:lnTo>
                  <a:pt x="0" y="2286000"/>
                </a:lnTo>
                <a:close/>
              </a:path>
            </a:pathLst>
          </a:custGeom>
          <a:blipFill rotWithShape="1">
            <a:blip r:embed="rId4">
              <a:alphaModFix amt="0"/>
            </a:blip>
            <a:stretch>
              <a:fillRect t="-137056" r="-38766" b="-137056"/>
            </a:stretch>
          </a:blipFill>
          <a:ln>
            <a:noFill/>
          </a:ln>
        </p:spPr>
      </p:sp>
      <p:sp>
        <p:nvSpPr>
          <p:cNvPr id="123" name="Google Shape;123;p15">
            <a:extLst>
              <a:ext uri="{FF2B5EF4-FFF2-40B4-BE49-F238E27FC236}">
                <a16:creationId xmlns:a16="http://schemas.microsoft.com/office/drawing/2014/main" id="{29892ECD-F82E-43FD-9C25-51DA41FA924A}"/>
              </a:ext>
            </a:extLst>
          </p:cNvPr>
          <p:cNvSpPr>
            <a:spLocks noGrp="1"/>
          </p:cNvSpPr>
          <p:nvPr/>
        </p:nvSpPr>
        <p:spPr>
          <a:xfrm>
            <a:off x="13106400" y="9534525"/>
            <a:ext cx="4267200" cy="547687"/>
          </a:xfrm>
          <a:custGeom>
            <a:avLst/>
            <a:gdLst/>
            <a:ahLst/>
            <a:cxnLst/>
            <a:rect l="l" t="t" r="r" b="b"/>
            <a:pathLst>
              <a:path w="5689600" h="730250">
                <a:moveTo>
                  <a:pt x="0" y="0"/>
                </a:moveTo>
                <a:lnTo>
                  <a:pt x="5689600" y="0"/>
                </a:lnTo>
                <a:lnTo>
                  <a:pt x="5689600" y="730250"/>
                </a:lnTo>
                <a:lnTo>
                  <a:pt x="0" y="730250"/>
                </a:lnTo>
                <a:close/>
              </a:path>
            </a:pathLst>
          </a:custGeom>
          <a:blipFill rotWithShape="1">
            <a:blip r:embed="rId4">
              <a:alphaModFix amt="0"/>
            </a:blip>
            <a:stretch>
              <a:fillRect t="-101810" b="-101810"/>
            </a:stretch>
          </a:blipFill>
          <a:ln>
            <a:noFill/>
          </a:ln>
        </p:spPr>
      </p:sp>
      <p:sp>
        <p:nvSpPr>
          <p:cNvPr id="127" name="Google Shape;127;p15">
            <a:extLst>
              <a:ext uri="{FF2B5EF4-FFF2-40B4-BE49-F238E27FC236}">
                <a16:creationId xmlns:a16="http://schemas.microsoft.com/office/drawing/2014/main" id="{1CB84C88-0665-4F51-965E-E2D11440E234}"/>
              </a:ext>
            </a:extLst>
          </p:cNvPr>
          <p:cNvSpPr>
            <a:spLocks noGrp="1"/>
          </p:cNvSpPr>
          <p:nvPr/>
        </p:nvSpPr>
        <p:spPr>
          <a:xfrm>
            <a:off x="772625" y="2057400"/>
            <a:ext cx="16742749" cy="7534412"/>
          </a:xfrm>
          <a:custGeom>
            <a:avLst/>
            <a:gdLst/>
            <a:ahLst/>
            <a:cxnLst/>
            <a:rect l="l" t="t" r="r" b="b"/>
            <a:pathLst>
              <a:path w="4409613" h="1984372">
                <a:moveTo>
                  <a:pt x="23583" y="0"/>
                </a:moveTo>
                <a:lnTo>
                  <a:pt x="4386031" y="0"/>
                </a:lnTo>
                <a:cubicBezTo>
                  <a:pt x="4399055" y="0"/>
                  <a:pt x="4409613" y="10558"/>
                  <a:pt x="4409613" y="23583"/>
                </a:cubicBezTo>
                <a:lnTo>
                  <a:pt x="4409613" y="1960789"/>
                </a:lnTo>
                <a:cubicBezTo>
                  <a:pt x="4409613" y="1967043"/>
                  <a:pt x="4407129" y="1973042"/>
                  <a:pt x="4402706" y="1977465"/>
                </a:cubicBezTo>
                <a:cubicBezTo>
                  <a:pt x="4398283" y="1981887"/>
                  <a:pt x="4392285" y="1984372"/>
                  <a:pt x="4386031" y="1984372"/>
                </a:cubicBezTo>
                <a:lnTo>
                  <a:pt x="23583" y="1984372"/>
                </a:lnTo>
                <a:cubicBezTo>
                  <a:pt x="17328" y="1984372"/>
                  <a:pt x="11330" y="1981887"/>
                  <a:pt x="6907" y="1977465"/>
                </a:cubicBezTo>
                <a:cubicBezTo>
                  <a:pt x="2485" y="1973042"/>
                  <a:pt x="0" y="1967043"/>
                  <a:pt x="0" y="1960789"/>
                </a:cubicBezTo>
                <a:lnTo>
                  <a:pt x="0" y="23583"/>
                </a:lnTo>
                <a:cubicBezTo>
                  <a:pt x="0" y="17328"/>
                  <a:pt x="2485" y="11330"/>
                  <a:pt x="6907" y="6907"/>
                </a:cubicBezTo>
                <a:cubicBezTo>
                  <a:pt x="11330" y="2485"/>
                  <a:pt x="17328" y="0"/>
                  <a:pt x="23583" y="0"/>
                </a:cubicBezTo>
                <a:close/>
              </a:path>
            </a:pathLst>
          </a:custGeom>
          <a:solidFill>
            <a:srgbClr val="C8D1D9">
              <a:alpha val="29804"/>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strike="noStrike" cap="none" spc="0">
              <a:solidFill>
                <a:srgbClr val="000000"/>
              </a:solidFill>
              <a:latin typeface="Arial"/>
              <a:ea typeface="Arial"/>
              <a:cs typeface="Arial"/>
            </a:endParaRPr>
          </a:p>
        </p:txBody>
      </p:sp>
      <p:sp>
        <p:nvSpPr>
          <p:cNvPr id="129" name="Google Shape;129;p15">
            <a:extLst>
              <a:ext uri="{FF2B5EF4-FFF2-40B4-BE49-F238E27FC236}">
                <a16:creationId xmlns:a16="http://schemas.microsoft.com/office/drawing/2014/main" id="{6DABE2F5-496D-4967-92C0-177C7C9A9185}"/>
              </a:ext>
            </a:extLst>
          </p:cNvPr>
          <p:cNvSpPr>
            <a:spLocks noGrp="1"/>
          </p:cNvSpPr>
          <p:nvPr/>
        </p:nvSpPr>
        <p:spPr>
          <a:xfrm>
            <a:off x="512956" y="351328"/>
            <a:ext cx="3577686" cy="894398"/>
          </a:xfrm>
          <a:custGeom>
            <a:avLst/>
            <a:gdLst/>
            <a:ahLst/>
            <a:cxnLst/>
            <a:rect l="l" t="t" r="r" b="b"/>
            <a:pathLst>
              <a:path w="4770247" h="1192530">
                <a:moveTo>
                  <a:pt x="0" y="0"/>
                </a:moveTo>
                <a:lnTo>
                  <a:pt x="4770247" y="0"/>
                </a:lnTo>
                <a:lnTo>
                  <a:pt x="4770247" y="1192530"/>
                </a:lnTo>
                <a:lnTo>
                  <a:pt x="0" y="1192530"/>
                </a:lnTo>
                <a:lnTo>
                  <a:pt x="0" y="0"/>
                </a:lnTo>
                <a:close/>
              </a:path>
            </a:pathLst>
          </a:custGeom>
          <a:blipFill rotWithShape="1">
            <a:blip r:embed="rId5">
              <a:alphaModFix/>
            </a:blip>
            <a:stretch>
              <a:fillRect r="-1" b="-4"/>
            </a:stretch>
          </a:blipFill>
          <a:ln>
            <a:noFill/>
          </a:ln>
        </p:spPr>
      </p:sp>
      <p:sp>
        <p:nvSpPr>
          <p:cNvPr id="130" name="Google Shape;130;p15">
            <a:extLst>
              <a:ext uri="{FF2B5EF4-FFF2-40B4-BE49-F238E27FC236}">
                <a16:creationId xmlns:a16="http://schemas.microsoft.com/office/drawing/2014/main" id="{6A75B55B-8CD8-4A59-A4D7-DA4FD32B3156}"/>
              </a:ext>
            </a:extLst>
          </p:cNvPr>
          <p:cNvSpPr>
            <a:spLocks noGrp="1"/>
          </p:cNvSpPr>
          <p:nvPr/>
        </p:nvSpPr>
        <p:spPr>
          <a:xfrm>
            <a:off x="15876875" y="276037"/>
            <a:ext cx="1894575" cy="969727"/>
          </a:xfrm>
          <a:custGeom>
            <a:avLst/>
            <a:gdLst/>
            <a:ahLst/>
            <a:cxnLst/>
            <a:rect l="l" t="t" r="r" b="b"/>
            <a:pathLst>
              <a:path w="1894575" h="969727">
                <a:moveTo>
                  <a:pt x="0" y="0"/>
                </a:moveTo>
                <a:lnTo>
                  <a:pt x="1894575" y="0"/>
                </a:lnTo>
                <a:lnTo>
                  <a:pt x="1894575" y="969727"/>
                </a:lnTo>
                <a:lnTo>
                  <a:pt x="0" y="969727"/>
                </a:lnTo>
                <a:lnTo>
                  <a:pt x="0" y="0"/>
                </a:lnTo>
                <a:close/>
              </a:path>
            </a:pathLst>
          </a:custGeom>
          <a:blipFill rotWithShape="1">
            <a:blip r:embed="rId6">
              <a:alphaModFix/>
            </a:blip>
            <a:stretch>
              <a:fillRect l="-16123" t="-146250" r="-62286" b="-204749"/>
            </a:stretch>
          </a:blipFill>
          <a:ln>
            <a:noFill/>
          </a:ln>
        </p:spPr>
      </p:sp>
      <p:sp>
        <p:nvSpPr>
          <p:cNvPr id="2" name="TextBox 1">
            <a:extLst>
              <a:ext uri="{FF2B5EF4-FFF2-40B4-BE49-F238E27FC236}">
                <a16:creationId xmlns:a16="http://schemas.microsoft.com/office/drawing/2014/main" id="{3835143C-24D5-21F7-557F-3D5FA87A85CA}"/>
              </a:ext>
            </a:extLst>
          </p:cNvPr>
          <p:cNvSpPr txBox="1"/>
          <p:nvPr/>
        </p:nvSpPr>
        <p:spPr>
          <a:xfrm>
            <a:off x="4953000" y="349850"/>
            <a:ext cx="8382000" cy="138499"/>
          </a:xfrm>
          <a:prstGeom prst="rect">
            <a:avLst/>
          </a:prstGeom>
          <a:noFill/>
        </p:spPr>
        <p:txBody>
          <a:bodyPr vert="horz" wrap="square" lIns="0" tIns="0" rIns="0" bIns="0" rtlCol="0" anchor="ctr">
            <a:spAutoFit/>
          </a:bodyPr>
          <a:lstStyle/>
          <a:p>
            <a:pPr algn="ctr"/>
            <a:r>
              <a:rPr lang="en-GB" sz="900">
                <a:solidFill>
                  <a:srgbClr val="009DDC"/>
                </a:solidFill>
                <a:latin typeface="Press Start 2P" panose="020B0604020202020204" charset="0"/>
              </a:rPr>
              <a:t>SOLUTION // CLOSED-LOOP PREPARATION</a:t>
            </a:r>
          </a:p>
        </p:txBody>
      </p:sp>
      <p:sp>
        <p:nvSpPr>
          <p:cNvPr id="3" name="TextBox 2">
            <a:extLst>
              <a:ext uri="{FF2B5EF4-FFF2-40B4-BE49-F238E27FC236}">
                <a16:creationId xmlns:a16="http://schemas.microsoft.com/office/drawing/2014/main" id="{8DA214E4-BA49-E7CA-F5FA-88DC2C89069B}"/>
              </a:ext>
            </a:extLst>
          </p:cNvPr>
          <p:cNvSpPr txBox="1"/>
          <p:nvPr/>
        </p:nvSpPr>
        <p:spPr>
          <a:xfrm>
            <a:off x="4191000" y="943317"/>
            <a:ext cx="11176000" cy="323165"/>
          </a:xfrm>
          <a:prstGeom prst="rect">
            <a:avLst/>
          </a:prstGeom>
          <a:noFill/>
        </p:spPr>
        <p:txBody>
          <a:bodyPr vert="horz" wrap="square" lIns="0" tIns="0" rIns="0" bIns="0" rtlCol="0" anchor="ctr">
            <a:spAutoFit/>
          </a:bodyPr>
          <a:lstStyle/>
          <a:p>
            <a:pPr algn="ctr"/>
            <a:r>
              <a:rPr lang="en-GB" sz="2100">
                <a:solidFill>
                  <a:srgbClr val="19263A"/>
                </a:solidFill>
                <a:latin typeface="Press Start 2P" panose="020B0604020202020204" charset="0"/>
              </a:rPr>
              <a:t>One Platform. Three Role-Aware Journeys.</a:t>
            </a:r>
          </a:p>
        </p:txBody>
      </p:sp>
      <p:cxnSp>
        <p:nvCxnSpPr>
          <p:cNvPr id="4" name="Straight Connector 3">
            <a:extLst>
              <a:ext uri="{FF2B5EF4-FFF2-40B4-BE49-F238E27FC236}">
                <a16:creationId xmlns:a16="http://schemas.microsoft.com/office/drawing/2014/main" id="{DF246831-03C7-673C-C987-92DE9043DBC4}"/>
              </a:ext>
            </a:extLst>
          </p:cNvPr>
          <p:cNvCxnSpPr/>
          <p:nvPr/>
        </p:nvCxnSpPr>
        <p:spPr>
          <a:xfrm>
            <a:off x="7747000" y="1587500"/>
            <a:ext cx="2794000" cy="0"/>
          </a:xfrm>
          <a:prstGeom prst="line">
            <a:avLst/>
          </a:prstGeom>
          <a:ln w="50800">
            <a:solidFill>
              <a:srgbClr val="009DDC"/>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C201BEA-51E9-E463-B990-9C40A864434C}"/>
              </a:ext>
            </a:extLst>
          </p:cNvPr>
          <p:cNvSpPr txBox="1"/>
          <p:nvPr/>
        </p:nvSpPr>
        <p:spPr>
          <a:xfrm>
            <a:off x="16891000" y="9667389"/>
            <a:ext cx="635000" cy="184666"/>
          </a:xfrm>
          <a:prstGeom prst="rect">
            <a:avLst/>
          </a:prstGeom>
          <a:noFill/>
        </p:spPr>
        <p:txBody>
          <a:bodyPr vert="horz" wrap="square" lIns="0" tIns="0" rIns="0" bIns="0" rtlCol="0" anchor="ctr">
            <a:spAutoFit/>
          </a:bodyPr>
          <a:lstStyle/>
          <a:p>
            <a:pPr algn="ctr"/>
            <a:r>
              <a:rPr lang="en-GB" sz="1200" b="1">
                <a:solidFill>
                  <a:srgbClr val="708197"/>
                </a:solidFill>
                <a:latin typeface="Segoe UI Semibold" panose="020B0702040204020203" pitchFamily="34" charset="0"/>
              </a:rPr>
              <a:t>03</a:t>
            </a:r>
          </a:p>
        </p:txBody>
      </p:sp>
      <p:sp>
        <p:nvSpPr>
          <p:cNvPr id="6" name="TextBox 5">
            <a:extLst>
              <a:ext uri="{FF2B5EF4-FFF2-40B4-BE49-F238E27FC236}">
                <a16:creationId xmlns:a16="http://schemas.microsoft.com/office/drawing/2014/main" id="{F77A3D3F-D7EC-FF1A-C5CA-DDA37FC437B3}"/>
              </a:ext>
            </a:extLst>
          </p:cNvPr>
          <p:cNvSpPr txBox="1"/>
          <p:nvPr/>
        </p:nvSpPr>
        <p:spPr>
          <a:xfrm>
            <a:off x="406400" y="9741272"/>
            <a:ext cx="2794000" cy="138499"/>
          </a:xfrm>
          <a:prstGeom prst="rect">
            <a:avLst/>
          </a:prstGeom>
          <a:noFill/>
        </p:spPr>
        <p:txBody>
          <a:bodyPr vert="horz" wrap="square" lIns="0" tIns="0" rIns="0" bIns="0" rtlCol="0" anchor="ctr">
            <a:spAutoFit/>
          </a:bodyPr>
          <a:lstStyle/>
          <a:p>
            <a:r>
              <a:rPr lang="en-GB" sz="900">
                <a:solidFill>
                  <a:srgbClr val="112D52"/>
                </a:solidFill>
                <a:latin typeface="Press Start 2P" panose="020B0604020202020204" charset="0"/>
              </a:rPr>
              <a:t>VAR // PEERPREP</a:t>
            </a:r>
          </a:p>
        </p:txBody>
      </p:sp>
      <p:sp>
        <p:nvSpPr>
          <p:cNvPr id="7" name="TextBox 6">
            <a:extLst>
              <a:ext uri="{FF2B5EF4-FFF2-40B4-BE49-F238E27FC236}">
                <a16:creationId xmlns:a16="http://schemas.microsoft.com/office/drawing/2014/main" id="{E5BA9290-BA7D-B23E-94E9-4284F03E9AFE}"/>
              </a:ext>
            </a:extLst>
          </p:cNvPr>
          <p:cNvSpPr txBox="1"/>
          <p:nvPr/>
        </p:nvSpPr>
        <p:spPr>
          <a:xfrm>
            <a:off x="1676400" y="1841128"/>
            <a:ext cx="14935200" cy="292388"/>
          </a:xfrm>
          <a:prstGeom prst="rect">
            <a:avLst/>
          </a:prstGeom>
          <a:noFill/>
        </p:spPr>
        <p:txBody>
          <a:bodyPr vert="horz" wrap="square" lIns="0" tIns="0" rIns="0" bIns="0" rtlCol="0" anchor="ctr">
            <a:spAutoFit/>
          </a:bodyPr>
          <a:lstStyle/>
          <a:p>
            <a:pPr algn="ctr"/>
            <a:r>
              <a:rPr lang="en-GB" sz="1900" b="1">
                <a:solidFill>
                  <a:srgbClr val="112D52"/>
                </a:solidFill>
                <a:latin typeface="Segoe UI Semibold" panose="020B0702040204020203" pitchFamily="34" charset="0"/>
              </a:rPr>
              <a:t>A single workflow turns preparation activity into the next best action.</a:t>
            </a:r>
          </a:p>
        </p:txBody>
      </p:sp>
      <p:sp>
        <p:nvSpPr>
          <p:cNvPr id="8" name="Rectangle: Rounded Corners 7">
            <a:extLst>
              <a:ext uri="{FF2B5EF4-FFF2-40B4-BE49-F238E27FC236}">
                <a16:creationId xmlns:a16="http://schemas.microsoft.com/office/drawing/2014/main" id="{A742E588-54A8-6F5F-F9BA-4F88B39310A9}"/>
              </a:ext>
            </a:extLst>
          </p:cNvPr>
          <p:cNvSpPr/>
          <p:nvPr/>
        </p:nvSpPr>
        <p:spPr>
          <a:xfrm>
            <a:off x="1295400" y="2514600"/>
            <a:ext cx="4114800" cy="5867400"/>
          </a:xfrm>
          <a:prstGeom prst="roundRect">
            <a:avLst/>
          </a:prstGeom>
          <a:solidFill>
            <a:srgbClr val="112D52"/>
          </a:solidFill>
          <a:ln w="25400">
            <a:noFill/>
            <a:prstDash val="solid"/>
          </a:ln>
          <a:effectLst>
            <a:outerShdw blurRad="127000" dist="50800" dir="5400000" rotWithShape="0">
              <a:srgbClr val="18324C">
                <a:alpha val="18000"/>
              </a:srgbClr>
            </a:outerShdw>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F92D1D07-6D93-D083-8415-DC0BF585E007}"/>
              </a:ext>
            </a:extLst>
          </p:cNvPr>
          <p:cNvSpPr txBox="1"/>
          <p:nvPr/>
        </p:nvSpPr>
        <p:spPr>
          <a:xfrm>
            <a:off x="1625600" y="2824778"/>
            <a:ext cx="3429000" cy="153888"/>
          </a:xfrm>
          <a:prstGeom prst="rect">
            <a:avLst/>
          </a:prstGeom>
          <a:noFill/>
        </p:spPr>
        <p:txBody>
          <a:bodyPr vert="horz" wrap="square" lIns="0" tIns="0" rIns="0" bIns="0" rtlCol="0" anchor="ctr">
            <a:spAutoFit/>
          </a:bodyPr>
          <a:lstStyle/>
          <a:p>
            <a:r>
              <a:rPr lang="en-GB" sz="1000">
                <a:solidFill>
                  <a:srgbClr val="E2F4FD"/>
                </a:solidFill>
                <a:latin typeface="Press Start 2P" panose="020B0604020202020204" charset="0"/>
              </a:rPr>
              <a:t>THE STUDENT LOOP</a:t>
            </a:r>
          </a:p>
        </p:txBody>
      </p:sp>
      <p:sp>
        <p:nvSpPr>
          <p:cNvPr id="10" name="Rectangle: Rounded Corners 9">
            <a:extLst>
              <a:ext uri="{FF2B5EF4-FFF2-40B4-BE49-F238E27FC236}">
                <a16:creationId xmlns:a16="http://schemas.microsoft.com/office/drawing/2014/main" id="{0AFEAF04-F004-5F99-0BA5-066ACC9B99D9}"/>
              </a:ext>
            </a:extLst>
          </p:cNvPr>
          <p:cNvSpPr/>
          <p:nvPr/>
        </p:nvSpPr>
        <p:spPr>
          <a:xfrm>
            <a:off x="1600200" y="3302000"/>
            <a:ext cx="609600" cy="6096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B614292F-F518-DBA1-3B8D-C6B1AF8B1F30}"/>
              </a:ext>
            </a:extLst>
          </p:cNvPr>
          <p:cNvSpPr txBox="1"/>
          <p:nvPr/>
        </p:nvSpPr>
        <p:spPr>
          <a:xfrm>
            <a:off x="1600200" y="3325083"/>
            <a:ext cx="609600" cy="169277"/>
          </a:xfrm>
          <a:prstGeom prst="rect">
            <a:avLst/>
          </a:prstGeom>
          <a:noFill/>
        </p:spPr>
        <p:txBody>
          <a:bodyPr vert="horz" wrap="square" lIns="0" tIns="0" rIns="0" bIns="0" rtlCol="0" anchor="ctr">
            <a:spAutoFit/>
          </a:bodyPr>
          <a:lstStyle/>
          <a:p>
            <a:pPr algn="ctr"/>
            <a:r>
              <a:rPr lang="en-GB" sz="1100">
                <a:solidFill>
                  <a:srgbClr val="112D52"/>
                </a:solidFill>
                <a:latin typeface="Press Start 2P" panose="020B0604020202020204" charset="0"/>
              </a:rPr>
              <a:t>01</a:t>
            </a:r>
          </a:p>
        </p:txBody>
      </p:sp>
      <p:sp>
        <p:nvSpPr>
          <p:cNvPr id="12" name="TextBox 11">
            <a:extLst>
              <a:ext uri="{FF2B5EF4-FFF2-40B4-BE49-F238E27FC236}">
                <a16:creationId xmlns:a16="http://schemas.microsoft.com/office/drawing/2014/main" id="{A551D841-FBC1-03DE-67B0-7D461E6527FB}"/>
              </a:ext>
            </a:extLst>
          </p:cNvPr>
          <p:cNvSpPr txBox="1"/>
          <p:nvPr/>
        </p:nvSpPr>
        <p:spPr>
          <a:xfrm>
            <a:off x="2413000" y="3307006"/>
            <a:ext cx="2540000" cy="230832"/>
          </a:xfrm>
          <a:prstGeom prst="rect">
            <a:avLst/>
          </a:prstGeom>
          <a:noFill/>
        </p:spPr>
        <p:txBody>
          <a:bodyPr vert="horz" wrap="square" lIns="0" tIns="0" rIns="0" bIns="0" rtlCol="0" anchor="ctr">
            <a:spAutoFit/>
          </a:bodyPr>
          <a:lstStyle/>
          <a:p>
            <a:r>
              <a:rPr lang="en-GB" sz="1500" b="1">
                <a:solidFill>
                  <a:srgbClr val="FFFFFF"/>
                </a:solidFill>
                <a:latin typeface="Segoe UI Semibold" panose="020B0702040204020203" pitchFamily="34" charset="0"/>
              </a:rPr>
              <a:t>Learn</a:t>
            </a:r>
          </a:p>
        </p:txBody>
      </p:sp>
      <p:sp>
        <p:nvSpPr>
          <p:cNvPr id="13" name="TextBox 12">
            <a:extLst>
              <a:ext uri="{FF2B5EF4-FFF2-40B4-BE49-F238E27FC236}">
                <a16:creationId xmlns:a16="http://schemas.microsoft.com/office/drawing/2014/main" id="{DD1B5A94-F4FD-E19A-B2E4-3B07B000EC1A}"/>
              </a:ext>
            </a:extLst>
          </p:cNvPr>
          <p:cNvSpPr txBox="1"/>
          <p:nvPr/>
        </p:nvSpPr>
        <p:spPr>
          <a:xfrm>
            <a:off x="2413000" y="3619500"/>
            <a:ext cx="2565400" cy="161583"/>
          </a:xfrm>
          <a:prstGeom prst="rect">
            <a:avLst/>
          </a:prstGeom>
          <a:noFill/>
        </p:spPr>
        <p:txBody>
          <a:bodyPr vert="horz" wrap="square" lIns="0" tIns="0" rIns="0" bIns="0" rtlCol="0" anchor="t">
            <a:spAutoFit/>
          </a:bodyPr>
          <a:lstStyle/>
          <a:p>
            <a:r>
              <a:rPr lang="en-GB" sz="1050">
                <a:solidFill>
                  <a:srgbClr val="E2F4FD"/>
                </a:solidFill>
                <a:latin typeface="Segoe UI" panose="020B0502040204020203" pitchFamily="34" charset="0"/>
              </a:rPr>
              <a:t>Structured modules + QuickPrep</a:t>
            </a:r>
          </a:p>
        </p:txBody>
      </p:sp>
      <p:cxnSp>
        <p:nvCxnSpPr>
          <p:cNvPr id="14" name="Straight Connector 13">
            <a:extLst>
              <a:ext uri="{FF2B5EF4-FFF2-40B4-BE49-F238E27FC236}">
                <a16:creationId xmlns:a16="http://schemas.microsoft.com/office/drawing/2014/main" id="{3C7B7D73-42F7-9466-D189-43CDADCE8081}"/>
              </a:ext>
            </a:extLst>
          </p:cNvPr>
          <p:cNvCxnSpPr/>
          <p:nvPr/>
        </p:nvCxnSpPr>
        <p:spPr>
          <a:xfrm>
            <a:off x="1905000" y="3911600"/>
            <a:ext cx="0" cy="228600"/>
          </a:xfrm>
          <a:prstGeom prst="line">
            <a:avLst/>
          </a:prstGeom>
          <a:ln w="25400">
            <a:solidFill>
              <a:srgbClr val="009DDC"/>
            </a:solidFill>
            <a:tailEnd type="arrow"/>
          </a:ln>
        </p:spPr>
        <p:style>
          <a:lnRef idx="1">
            <a:schemeClr val="accent1"/>
          </a:lnRef>
          <a:fillRef idx="0">
            <a:schemeClr val="accent1"/>
          </a:fillRef>
          <a:effectRef idx="0">
            <a:schemeClr val="accent1"/>
          </a:effectRef>
          <a:fontRef idx="minor">
            <a:schemeClr val="tx1"/>
          </a:fontRef>
        </p:style>
      </p:cxnSp>
      <p:sp>
        <p:nvSpPr>
          <p:cNvPr id="15" name="Rectangle: Rounded Corners 14">
            <a:extLst>
              <a:ext uri="{FF2B5EF4-FFF2-40B4-BE49-F238E27FC236}">
                <a16:creationId xmlns:a16="http://schemas.microsoft.com/office/drawing/2014/main" id="{C3323FB7-60F6-6EB5-F9CF-5F58082C52A2}"/>
              </a:ext>
            </a:extLst>
          </p:cNvPr>
          <p:cNvSpPr/>
          <p:nvPr/>
        </p:nvSpPr>
        <p:spPr>
          <a:xfrm>
            <a:off x="1600200" y="4241800"/>
            <a:ext cx="609600" cy="6096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95B84780-7F0D-1B78-CB68-1B3849F462B8}"/>
              </a:ext>
            </a:extLst>
          </p:cNvPr>
          <p:cNvSpPr txBox="1"/>
          <p:nvPr/>
        </p:nvSpPr>
        <p:spPr>
          <a:xfrm>
            <a:off x="1600200" y="4264883"/>
            <a:ext cx="609600" cy="169277"/>
          </a:xfrm>
          <a:prstGeom prst="rect">
            <a:avLst/>
          </a:prstGeom>
          <a:noFill/>
        </p:spPr>
        <p:txBody>
          <a:bodyPr vert="horz" wrap="square" lIns="0" tIns="0" rIns="0" bIns="0" rtlCol="0" anchor="ctr">
            <a:spAutoFit/>
          </a:bodyPr>
          <a:lstStyle/>
          <a:p>
            <a:pPr algn="ctr"/>
            <a:r>
              <a:rPr lang="en-GB" sz="1100">
                <a:solidFill>
                  <a:srgbClr val="112D52"/>
                </a:solidFill>
                <a:latin typeface="Press Start 2P" panose="020B0604020202020204" charset="0"/>
              </a:rPr>
              <a:t>02</a:t>
            </a:r>
          </a:p>
        </p:txBody>
      </p:sp>
      <p:sp>
        <p:nvSpPr>
          <p:cNvPr id="17" name="TextBox 16">
            <a:extLst>
              <a:ext uri="{FF2B5EF4-FFF2-40B4-BE49-F238E27FC236}">
                <a16:creationId xmlns:a16="http://schemas.microsoft.com/office/drawing/2014/main" id="{185680D5-B450-3DEB-2703-75D7B46C85C4}"/>
              </a:ext>
            </a:extLst>
          </p:cNvPr>
          <p:cNvSpPr txBox="1"/>
          <p:nvPr/>
        </p:nvSpPr>
        <p:spPr>
          <a:xfrm>
            <a:off x="2413000" y="4246806"/>
            <a:ext cx="2540000" cy="230832"/>
          </a:xfrm>
          <a:prstGeom prst="rect">
            <a:avLst/>
          </a:prstGeom>
          <a:noFill/>
        </p:spPr>
        <p:txBody>
          <a:bodyPr vert="horz" wrap="square" lIns="0" tIns="0" rIns="0" bIns="0" rtlCol="0" anchor="ctr">
            <a:spAutoFit/>
          </a:bodyPr>
          <a:lstStyle/>
          <a:p>
            <a:r>
              <a:rPr lang="en-GB" sz="1500" b="1">
                <a:solidFill>
                  <a:srgbClr val="FFFFFF"/>
                </a:solidFill>
                <a:latin typeface="Segoe UI Semibold" panose="020B0702040204020203" pitchFamily="34" charset="0"/>
              </a:rPr>
              <a:t>Practice</a:t>
            </a:r>
          </a:p>
        </p:txBody>
      </p:sp>
      <p:sp>
        <p:nvSpPr>
          <p:cNvPr id="18" name="TextBox 17">
            <a:extLst>
              <a:ext uri="{FF2B5EF4-FFF2-40B4-BE49-F238E27FC236}">
                <a16:creationId xmlns:a16="http://schemas.microsoft.com/office/drawing/2014/main" id="{E5017276-12EC-0654-3C08-34CAC119F6A9}"/>
              </a:ext>
            </a:extLst>
          </p:cNvPr>
          <p:cNvSpPr txBox="1"/>
          <p:nvPr/>
        </p:nvSpPr>
        <p:spPr>
          <a:xfrm>
            <a:off x="2413000" y="4559300"/>
            <a:ext cx="2565400" cy="161583"/>
          </a:xfrm>
          <a:prstGeom prst="rect">
            <a:avLst/>
          </a:prstGeom>
          <a:noFill/>
        </p:spPr>
        <p:txBody>
          <a:bodyPr vert="horz" wrap="square" lIns="0" tIns="0" rIns="0" bIns="0" rtlCol="0" anchor="t">
            <a:spAutoFit/>
          </a:bodyPr>
          <a:lstStyle/>
          <a:p>
            <a:r>
              <a:rPr lang="en-GB" sz="1050">
                <a:solidFill>
                  <a:srgbClr val="E2F4FD"/>
                </a:solidFill>
                <a:latin typeface="Segoe UI" panose="020B0502040204020203" pitchFamily="34" charset="0"/>
              </a:rPr>
              <a:t>Multi-language coding with Judge0</a:t>
            </a:r>
          </a:p>
        </p:txBody>
      </p:sp>
      <p:cxnSp>
        <p:nvCxnSpPr>
          <p:cNvPr id="19" name="Straight Connector 18">
            <a:extLst>
              <a:ext uri="{FF2B5EF4-FFF2-40B4-BE49-F238E27FC236}">
                <a16:creationId xmlns:a16="http://schemas.microsoft.com/office/drawing/2014/main" id="{55E4FAEF-3588-130C-163C-8E8EC16AC932}"/>
              </a:ext>
            </a:extLst>
          </p:cNvPr>
          <p:cNvCxnSpPr/>
          <p:nvPr/>
        </p:nvCxnSpPr>
        <p:spPr>
          <a:xfrm>
            <a:off x="1905000" y="4851400"/>
            <a:ext cx="0" cy="228600"/>
          </a:xfrm>
          <a:prstGeom prst="line">
            <a:avLst/>
          </a:prstGeom>
          <a:ln w="25400">
            <a:solidFill>
              <a:srgbClr val="009DDC"/>
            </a:solidFill>
            <a:tailEnd type="arrow"/>
          </a:ln>
        </p:spPr>
        <p:style>
          <a:lnRef idx="1">
            <a:schemeClr val="accent1"/>
          </a:lnRef>
          <a:fillRef idx="0">
            <a:schemeClr val="accent1"/>
          </a:fillRef>
          <a:effectRef idx="0">
            <a:schemeClr val="accent1"/>
          </a:effectRef>
          <a:fontRef idx="minor">
            <a:schemeClr val="tx1"/>
          </a:fontRef>
        </p:style>
      </p:cxnSp>
      <p:sp>
        <p:nvSpPr>
          <p:cNvPr id="20" name="Rectangle: Rounded Corners 19">
            <a:extLst>
              <a:ext uri="{FF2B5EF4-FFF2-40B4-BE49-F238E27FC236}">
                <a16:creationId xmlns:a16="http://schemas.microsoft.com/office/drawing/2014/main" id="{C49831DC-94E9-9A19-2191-7B5AB73B6D6E}"/>
              </a:ext>
            </a:extLst>
          </p:cNvPr>
          <p:cNvSpPr/>
          <p:nvPr/>
        </p:nvSpPr>
        <p:spPr>
          <a:xfrm>
            <a:off x="1600200" y="5181600"/>
            <a:ext cx="609600" cy="6096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Box 20">
            <a:extLst>
              <a:ext uri="{FF2B5EF4-FFF2-40B4-BE49-F238E27FC236}">
                <a16:creationId xmlns:a16="http://schemas.microsoft.com/office/drawing/2014/main" id="{D04DD41C-37A6-B5AF-F7E7-A20D3F379756}"/>
              </a:ext>
            </a:extLst>
          </p:cNvPr>
          <p:cNvSpPr txBox="1"/>
          <p:nvPr/>
        </p:nvSpPr>
        <p:spPr>
          <a:xfrm>
            <a:off x="1600200" y="5204683"/>
            <a:ext cx="609600" cy="169277"/>
          </a:xfrm>
          <a:prstGeom prst="rect">
            <a:avLst/>
          </a:prstGeom>
          <a:noFill/>
        </p:spPr>
        <p:txBody>
          <a:bodyPr vert="horz" wrap="square" lIns="0" tIns="0" rIns="0" bIns="0" rtlCol="0" anchor="ctr">
            <a:spAutoFit/>
          </a:bodyPr>
          <a:lstStyle/>
          <a:p>
            <a:pPr algn="ctr"/>
            <a:r>
              <a:rPr lang="en-GB" sz="1100">
                <a:solidFill>
                  <a:srgbClr val="112D52"/>
                </a:solidFill>
                <a:latin typeface="Press Start 2P" panose="020B0604020202020204" charset="0"/>
              </a:rPr>
              <a:t>03</a:t>
            </a:r>
          </a:p>
        </p:txBody>
      </p:sp>
      <p:sp>
        <p:nvSpPr>
          <p:cNvPr id="22" name="TextBox 21">
            <a:extLst>
              <a:ext uri="{FF2B5EF4-FFF2-40B4-BE49-F238E27FC236}">
                <a16:creationId xmlns:a16="http://schemas.microsoft.com/office/drawing/2014/main" id="{7688856D-FCFD-B8BE-2430-6B51AF31A672}"/>
              </a:ext>
            </a:extLst>
          </p:cNvPr>
          <p:cNvSpPr txBox="1"/>
          <p:nvPr/>
        </p:nvSpPr>
        <p:spPr>
          <a:xfrm>
            <a:off x="2413000" y="5186606"/>
            <a:ext cx="2540000" cy="230832"/>
          </a:xfrm>
          <a:prstGeom prst="rect">
            <a:avLst/>
          </a:prstGeom>
          <a:noFill/>
        </p:spPr>
        <p:txBody>
          <a:bodyPr vert="horz" wrap="square" lIns="0" tIns="0" rIns="0" bIns="0" rtlCol="0" anchor="ctr">
            <a:spAutoFit/>
          </a:bodyPr>
          <a:lstStyle/>
          <a:p>
            <a:r>
              <a:rPr lang="en-GB" sz="1500" b="1">
                <a:solidFill>
                  <a:srgbClr val="FFFFFF"/>
                </a:solidFill>
                <a:latin typeface="Segoe UI Semibold" panose="020B0702040204020203" pitchFamily="34" charset="0"/>
              </a:rPr>
              <a:t>Assess</a:t>
            </a:r>
          </a:p>
        </p:txBody>
      </p:sp>
      <p:sp>
        <p:nvSpPr>
          <p:cNvPr id="23" name="TextBox 22">
            <a:extLst>
              <a:ext uri="{FF2B5EF4-FFF2-40B4-BE49-F238E27FC236}">
                <a16:creationId xmlns:a16="http://schemas.microsoft.com/office/drawing/2014/main" id="{2A9DDEA2-3C73-79FB-2E4D-297651B8311F}"/>
              </a:ext>
            </a:extLst>
          </p:cNvPr>
          <p:cNvSpPr txBox="1"/>
          <p:nvPr/>
        </p:nvSpPr>
        <p:spPr>
          <a:xfrm>
            <a:off x="2413000" y="5499100"/>
            <a:ext cx="2565400" cy="161583"/>
          </a:xfrm>
          <a:prstGeom prst="rect">
            <a:avLst/>
          </a:prstGeom>
          <a:noFill/>
        </p:spPr>
        <p:txBody>
          <a:bodyPr vert="horz" wrap="square" lIns="0" tIns="0" rIns="0" bIns="0" rtlCol="0" anchor="t">
            <a:spAutoFit/>
          </a:bodyPr>
          <a:lstStyle/>
          <a:p>
            <a:r>
              <a:rPr lang="en-GB" sz="1050">
                <a:solidFill>
                  <a:srgbClr val="E2F4FD"/>
                </a:solidFill>
                <a:latin typeface="Segoe UI" panose="020B0502040204020203" pitchFamily="34" charset="0"/>
              </a:rPr>
              <a:t>Timed tests + browser monitoring</a:t>
            </a:r>
          </a:p>
        </p:txBody>
      </p:sp>
      <p:cxnSp>
        <p:nvCxnSpPr>
          <p:cNvPr id="24" name="Straight Connector 23">
            <a:extLst>
              <a:ext uri="{FF2B5EF4-FFF2-40B4-BE49-F238E27FC236}">
                <a16:creationId xmlns:a16="http://schemas.microsoft.com/office/drawing/2014/main" id="{AEF62100-464A-B89A-D92D-232A79EE65D9}"/>
              </a:ext>
            </a:extLst>
          </p:cNvPr>
          <p:cNvCxnSpPr/>
          <p:nvPr/>
        </p:nvCxnSpPr>
        <p:spPr>
          <a:xfrm>
            <a:off x="1905000" y="5791200"/>
            <a:ext cx="0" cy="228600"/>
          </a:xfrm>
          <a:prstGeom prst="line">
            <a:avLst/>
          </a:prstGeom>
          <a:ln w="25400">
            <a:solidFill>
              <a:srgbClr val="009DDC"/>
            </a:solidFill>
            <a:tailEnd type="arrow"/>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8A1EE149-DD96-CA7B-205E-1CDC41567BE5}"/>
              </a:ext>
            </a:extLst>
          </p:cNvPr>
          <p:cNvSpPr/>
          <p:nvPr/>
        </p:nvSpPr>
        <p:spPr>
          <a:xfrm>
            <a:off x="1600200" y="6121400"/>
            <a:ext cx="609600" cy="6096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239B7AF2-7D7F-5506-5203-2EC17D5C3A8D}"/>
              </a:ext>
            </a:extLst>
          </p:cNvPr>
          <p:cNvSpPr txBox="1"/>
          <p:nvPr/>
        </p:nvSpPr>
        <p:spPr>
          <a:xfrm>
            <a:off x="1600200" y="6144483"/>
            <a:ext cx="609600" cy="169277"/>
          </a:xfrm>
          <a:prstGeom prst="rect">
            <a:avLst/>
          </a:prstGeom>
          <a:noFill/>
        </p:spPr>
        <p:txBody>
          <a:bodyPr vert="horz" wrap="square" lIns="0" tIns="0" rIns="0" bIns="0" rtlCol="0" anchor="ctr">
            <a:spAutoFit/>
          </a:bodyPr>
          <a:lstStyle/>
          <a:p>
            <a:pPr algn="ctr"/>
            <a:r>
              <a:rPr lang="en-GB" sz="1100">
                <a:solidFill>
                  <a:srgbClr val="112D52"/>
                </a:solidFill>
                <a:latin typeface="Press Start 2P" panose="020B0604020202020204" charset="0"/>
              </a:rPr>
              <a:t>04</a:t>
            </a:r>
          </a:p>
        </p:txBody>
      </p:sp>
      <p:sp>
        <p:nvSpPr>
          <p:cNvPr id="27" name="TextBox 26">
            <a:extLst>
              <a:ext uri="{FF2B5EF4-FFF2-40B4-BE49-F238E27FC236}">
                <a16:creationId xmlns:a16="http://schemas.microsoft.com/office/drawing/2014/main" id="{9147F882-E193-412A-511B-EA8DA95D39E8}"/>
              </a:ext>
            </a:extLst>
          </p:cNvPr>
          <p:cNvSpPr txBox="1"/>
          <p:nvPr/>
        </p:nvSpPr>
        <p:spPr>
          <a:xfrm>
            <a:off x="2413000" y="6126406"/>
            <a:ext cx="2540000" cy="230832"/>
          </a:xfrm>
          <a:prstGeom prst="rect">
            <a:avLst/>
          </a:prstGeom>
          <a:noFill/>
        </p:spPr>
        <p:txBody>
          <a:bodyPr vert="horz" wrap="square" lIns="0" tIns="0" rIns="0" bIns="0" rtlCol="0" anchor="ctr">
            <a:spAutoFit/>
          </a:bodyPr>
          <a:lstStyle/>
          <a:p>
            <a:r>
              <a:rPr lang="en-GB" sz="1500" b="1">
                <a:solidFill>
                  <a:srgbClr val="FFFFFF"/>
                </a:solidFill>
                <a:latin typeface="Segoe UI Semibold" panose="020B0702040204020203" pitchFamily="34" charset="0"/>
              </a:rPr>
              <a:t>Interview</a:t>
            </a:r>
          </a:p>
        </p:txBody>
      </p:sp>
      <p:sp>
        <p:nvSpPr>
          <p:cNvPr id="28" name="TextBox 27">
            <a:extLst>
              <a:ext uri="{FF2B5EF4-FFF2-40B4-BE49-F238E27FC236}">
                <a16:creationId xmlns:a16="http://schemas.microsoft.com/office/drawing/2014/main" id="{4DF9CCB9-5E72-D3F7-F2A2-B9231ECF4D84}"/>
              </a:ext>
            </a:extLst>
          </p:cNvPr>
          <p:cNvSpPr txBox="1"/>
          <p:nvPr/>
        </p:nvSpPr>
        <p:spPr>
          <a:xfrm>
            <a:off x="2413000" y="6438900"/>
            <a:ext cx="2565400" cy="161583"/>
          </a:xfrm>
          <a:prstGeom prst="rect">
            <a:avLst/>
          </a:prstGeom>
          <a:noFill/>
        </p:spPr>
        <p:txBody>
          <a:bodyPr vert="horz" wrap="square" lIns="0" tIns="0" rIns="0" bIns="0" rtlCol="0" anchor="t">
            <a:spAutoFit/>
          </a:bodyPr>
          <a:lstStyle/>
          <a:p>
            <a:r>
              <a:rPr lang="en-GB" sz="1050">
                <a:solidFill>
                  <a:srgbClr val="E2F4FD"/>
                </a:solidFill>
                <a:latin typeface="Segoe UI" panose="020B0502040204020203" pitchFamily="34" charset="0"/>
              </a:rPr>
              <a:t>Peer and AI-assisted practice</a:t>
            </a:r>
          </a:p>
        </p:txBody>
      </p:sp>
      <p:cxnSp>
        <p:nvCxnSpPr>
          <p:cNvPr id="29" name="Straight Connector 28">
            <a:extLst>
              <a:ext uri="{FF2B5EF4-FFF2-40B4-BE49-F238E27FC236}">
                <a16:creationId xmlns:a16="http://schemas.microsoft.com/office/drawing/2014/main" id="{710EFF72-3E56-0B9C-6F4D-E85AF319BCB8}"/>
              </a:ext>
            </a:extLst>
          </p:cNvPr>
          <p:cNvCxnSpPr/>
          <p:nvPr/>
        </p:nvCxnSpPr>
        <p:spPr>
          <a:xfrm>
            <a:off x="1905000" y="6731000"/>
            <a:ext cx="0" cy="228600"/>
          </a:xfrm>
          <a:prstGeom prst="line">
            <a:avLst/>
          </a:prstGeom>
          <a:ln w="25400">
            <a:solidFill>
              <a:srgbClr val="009DDC"/>
            </a:solidFill>
            <a:tailEnd type="arrow"/>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A8B9EEC8-3FF8-4F38-A589-4103C6BA4C3E}"/>
              </a:ext>
            </a:extLst>
          </p:cNvPr>
          <p:cNvSpPr/>
          <p:nvPr/>
        </p:nvSpPr>
        <p:spPr>
          <a:xfrm>
            <a:off x="1600200" y="7061200"/>
            <a:ext cx="609600" cy="6096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D1F41679-7F36-075B-DFF1-F4C4705E0789}"/>
              </a:ext>
            </a:extLst>
          </p:cNvPr>
          <p:cNvSpPr txBox="1"/>
          <p:nvPr/>
        </p:nvSpPr>
        <p:spPr>
          <a:xfrm>
            <a:off x="1600200" y="7084283"/>
            <a:ext cx="609600" cy="169277"/>
          </a:xfrm>
          <a:prstGeom prst="rect">
            <a:avLst/>
          </a:prstGeom>
          <a:noFill/>
        </p:spPr>
        <p:txBody>
          <a:bodyPr vert="horz" wrap="square" lIns="0" tIns="0" rIns="0" bIns="0" rtlCol="0" anchor="ctr">
            <a:spAutoFit/>
          </a:bodyPr>
          <a:lstStyle/>
          <a:p>
            <a:pPr algn="ctr"/>
            <a:r>
              <a:rPr lang="en-GB" sz="1100">
                <a:solidFill>
                  <a:srgbClr val="112D52"/>
                </a:solidFill>
                <a:latin typeface="Press Start 2P" panose="020B0604020202020204" charset="0"/>
              </a:rPr>
              <a:t>05</a:t>
            </a:r>
          </a:p>
        </p:txBody>
      </p:sp>
      <p:sp>
        <p:nvSpPr>
          <p:cNvPr id="32" name="TextBox 31">
            <a:extLst>
              <a:ext uri="{FF2B5EF4-FFF2-40B4-BE49-F238E27FC236}">
                <a16:creationId xmlns:a16="http://schemas.microsoft.com/office/drawing/2014/main" id="{5F52D7F5-1449-2EF7-E175-D4CC84DFE7D7}"/>
              </a:ext>
            </a:extLst>
          </p:cNvPr>
          <p:cNvSpPr txBox="1"/>
          <p:nvPr/>
        </p:nvSpPr>
        <p:spPr>
          <a:xfrm>
            <a:off x="2413000" y="7066206"/>
            <a:ext cx="2540000" cy="230832"/>
          </a:xfrm>
          <a:prstGeom prst="rect">
            <a:avLst/>
          </a:prstGeom>
          <a:noFill/>
        </p:spPr>
        <p:txBody>
          <a:bodyPr vert="horz" wrap="square" lIns="0" tIns="0" rIns="0" bIns="0" rtlCol="0" anchor="ctr">
            <a:spAutoFit/>
          </a:bodyPr>
          <a:lstStyle/>
          <a:p>
            <a:r>
              <a:rPr lang="en-GB" sz="1500" b="1">
                <a:solidFill>
                  <a:srgbClr val="FFFFFF"/>
                </a:solidFill>
                <a:latin typeface="Segoe UI Semibold" panose="020B0702040204020203" pitchFamily="34" charset="0"/>
              </a:rPr>
              <a:t>Improve</a:t>
            </a:r>
          </a:p>
        </p:txBody>
      </p:sp>
      <p:sp>
        <p:nvSpPr>
          <p:cNvPr id="33" name="TextBox 32">
            <a:extLst>
              <a:ext uri="{FF2B5EF4-FFF2-40B4-BE49-F238E27FC236}">
                <a16:creationId xmlns:a16="http://schemas.microsoft.com/office/drawing/2014/main" id="{F5E95A6C-7C5E-F7B0-5147-63A09BB5DC7A}"/>
              </a:ext>
            </a:extLst>
          </p:cNvPr>
          <p:cNvSpPr txBox="1"/>
          <p:nvPr/>
        </p:nvSpPr>
        <p:spPr>
          <a:xfrm>
            <a:off x="2413000" y="7378700"/>
            <a:ext cx="2565400" cy="161583"/>
          </a:xfrm>
          <a:prstGeom prst="rect">
            <a:avLst/>
          </a:prstGeom>
          <a:noFill/>
        </p:spPr>
        <p:txBody>
          <a:bodyPr vert="horz" wrap="square" lIns="0" tIns="0" rIns="0" bIns="0" rtlCol="0" anchor="t">
            <a:spAutoFit/>
          </a:bodyPr>
          <a:lstStyle/>
          <a:p>
            <a:r>
              <a:rPr lang="en-GB" sz="1050">
                <a:solidFill>
                  <a:srgbClr val="E2F4FD"/>
                </a:solidFill>
                <a:latin typeface="Segoe UI" panose="020B0502040204020203" pitchFamily="34" charset="0"/>
              </a:rPr>
              <a:t>Analytics, feedback and missions</a:t>
            </a:r>
          </a:p>
        </p:txBody>
      </p:sp>
      <p:sp>
        <p:nvSpPr>
          <p:cNvPr id="34" name="TextBox 33">
            <a:extLst>
              <a:ext uri="{FF2B5EF4-FFF2-40B4-BE49-F238E27FC236}">
                <a16:creationId xmlns:a16="http://schemas.microsoft.com/office/drawing/2014/main" id="{3AAF37F4-9DC2-82AC-96C3-8721DC9A2024}"/>
              </a:ext>
            </a:extLst>
          </p:cNvPr>
          <p:cNvSpPr txBox="1"/>
          <p:nvPr/>
        </p:nvSpPr>
        <p:spPr>
          <a:xfrm>
            <a:off x="5994400" y="2596178"/>
            <a:ext cx="9271000" cy="153888"/>
          </a:xfrm>
          <a:prstGeom prst="rect">
            <a:avLst/>
          </a:prstGeom>
          <a:noFill/>
        </p:spPr>
        <p:txBody>
          <a:bodyPr vert="horz" wrap="square" lIns="0" tIns="0" rIns="0" bIns="0" rtlCol="0" anchor="ctr">
            <a:spAutoFit/>
          </a:bodyPr>
          <a:lstStyle/>
          <a:p>
            <a:r>
              <a:rPr lang="en-GB" sz="1000">
                <a:solidFill>
                  <a:srgbClr val="009DDC"/>
                </a:solidFill>
                <a:latin typeface="Press Start 2P" panose="020B0604020202020204" charset="0"/>
              </a:rPr>
              <a:t>REAL PRODUCT VIEWS</a:t>
            </a:r>
          </a:p>
        </p:txBody>
      </p:sp>
      <p:sp>
        <p:nvSpPr>
          <p:cNvPr id="35" name="Rectangle: Rounded Corners 34">
            <a:extLst>
              <a:ext uri="{FF2B5EF4-FFF2-40B4-BE49-F238E27FC236}">
                <a16:creationId xmlns:a16="http://schemas.microsoft.com/office/drawing/2014/main" id="{F00FA03A-E7D2-C78E-1C4C-FB11ACE20970}"/>
              </a:ext>
            </a:extLst>
          </p:cNvPr>
          <p:cNvSpPr/>
          <p:nvPr/>
        </p:nvSpPr>
        <p:spPr>
          <a:xfrm>
            <a:off x="5892800" y="2819400"/>
            <a:ext cx="5156200" cy="35814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Rectangle 35">
            <a:extLst>
              <a:ext uri="{FF2B5EF4-FFF2-40B4-BE49-F238E27FC236}">
                <a16:creationId xmlns:a16="http://schemas.microsoft.com/office/drawing/2014/main" id="{B14B1DCC-4386-3B3A-7FDA-D21277602DDD}"/>
              </a:ext>
            </a:extLst>
          </p:cNvPr>
          <p:cNvSpPr/>
          <p:nvPr/>
        </p:nvSpPr>
        <p:spPr>
          <a:xfrm>
            <a:off x="5994400" y="2921000"/>
            <a:ext cx="4953000" cy="279400"/>
          </a:xfrm>
          <a:prstGeom prst="rect">
            <a:avLst/>
          </a:prstGeom>
          <a:solidFill>
            <a:srgbClr val="F4FAFE"/>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a:extLst>
              <a:ext uri="{FF2B5EF4-FFF2-40B4-BE49-F238E27FC236}">
                <a16:creationId xmlns:a16="http://schemas.microsoft.com/office/drawing/2014/main" id="{F3E98D1E-4AC5-031F-D554-36D019308194}"/>
              </a:ext>
            </a:extLst>
          </p:cNvPr>
          <p:cNvSpPr/>
          <p:nvPr/>
        </p:nvSpPr>
        <p:spPr>
          <a:xfrm>
            <a:off x="6146800" y="3009900"/>
            <a:ext cx="88900" cy="88900"/>
          </a:xfrm>
          <a:prstGeom prst="ellipse">
            <a:avLst/>
          </a:prstGeom>
          <a:solidFill>
            <a:srgbClr val="DE4848"/>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9BFE21BD-EA11-FB81-B12E-E7A40040E0C7}"/>
              </a:ext>
            </a:extLst>
          </p:cNvPr>
          <p:cNvSpPr/>
          <p:nvPr/>
        </p:nvSpPr>
        <p:spPr>
          <a:xfrm>
            <a:off x="6311900" y="3009900"/>
            <a:ext cx="88900" cy="88900"/>
          </a:xfrm>
          <a:prstGeom prst="ellipse">
            <a:avLst/>
          </a:prstGeom>
          <a:solidFill>
            <a:srgbClr val="F4A431"/>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a:extLst>
              <a:ext uri="{FF2B5EF4-FFF2-40B4-BE49-F238E27FC236}">
                <a16:creationId xmlns:a16="http://schemas.microsoft.com/office/drawing/2014/main" id="{9D81FE70-F2C5-FEDE-578C-A936026BE239}"/>
              </a:ext>
            </a:extLst>
          </p:cNvPr>
          <p:cNvSpPr/>
          <p:nvPr/>
        </p:nvSpPr>
        <p:spPr>
          <a:xfrm>
            <a:off x="6477000" y="3009900"/>
            <a:ext cx="88900" cy="88900"/>
          </a:xfrm>
          <a:prstGeom prst="ellipse">
            <a:avLst/>
          </a:prstGeom>
          <a:solidFill>
            <a:srgbClr val="26A65B"/>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TextBox 39">
            <a:extLst>
              <a:ext uri="{FF2B5EF4-FFF2-40B4-BE49-F238E27FC236}">
                <a16:creationId xmlns:a16="http://schemas.microsoft.com/office/drawing/2014/main" id="{93C157D9-2B5B-B0CE-0074-BEBDC45B6854}"/>
              </a:ext>
            </a:extLst>
          </p:cNvPr>
          <p:cNvSpPr txBox="1"/>
          <p:nvPr/>
        </p:nvSpPr>
        <p:spPr>
          <a:xfrm>
            <a:off x="6819900" y="2959472"/>
            <a:ext cx="3937000" cy="138499"/>
          </a:xfrm>
          <a:prstGeom prst="rect">
            <a:avLst/>
          </a:prstGeom>
          <a:noFill/>
        </p:spPr>
        <p:txBody>
          <a:bodyPr vert="horz" wrap="square" lIns="0" tIns="0" rIns="0" bIns="0" rtlCol="0" anchor="ctr">
            <a:spAutoFit/>
          </a:bodyPr>
          <a:lstStyle/>
          <a:p>
            <a:r>
              <a:rPr lang="en-GB" sz="900">
                <a:solidFill>
                  <a:srgbClr val="708197"/>
                </a:solidFill>
                <a:latin typeface="Segoe UI Semibold" panose="020B0702040204020203" pitchFamily="34" charset="0"/>
              </a:rPr>
              <a:t>peerprep | public experience</a:t>
            </a:r>
          </a:p>
        </p:txBody>
      </p:sp>
      <p:pic>
        <p:nvPicPr>
          <p:cNvPr id="42" name="Picture 41">
            <a:extLst>
              <a:ext uri="{FF2B5EF4-FFF2-40B4-BE49-F238E27FC236}">
                <a16:creationId xmlns:a16="http://schemas.microsoft.com/office/drawing/2014/main" id="{EC28488D-8BB2-8F0B-1E85-FD5CC46028BC}"/>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994400" y="3200400"/>
            <a:ext cx="4953000" cy="3098800"/>
          </a:xfrm>
          <a:prstGeom prst="rect">
            <a:avLst/>
          </a:prstGeom>
          <a:ln w="9525">
            <a:solidFill>
              <a:srgbClr val="C7DCEC"/>
            </a:solidFill>
          </a:ln>
        </p:spPr>
      </p:pic>
      <p:sp>
        <p:nvSpPr>
          <p:cNvPr id="43" name="Rectangle: Rounded Corners 42">
            <a:extLst>
              <a:ext uri="{FF2B5EF4-FFF2-40B4-BE49-F238E27FC236}">
                <a16:creationId xmlns:a16="http://schemas.microsoft.com/office/drawing/2014/main" id="{98F24D07-6F0A-D9EA-D1EC-8259A1FBF120}"/>
              </a:ext>
            </a:extLst>
          </p:cNvPr>
          <p:cNvSpPr/>
          <p:nvPr/>
        </p:nvSpPr>
        <p:spPr>
          <a:xfrm>
            <a:off x="11328400" y="2819400"/>
            <a:ext cx="5156200" cy="35814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Rectangle 43">
            <a:extLst>
              <a:ext uri="{FF2B5EF4-FFF2-40B4-BE49-F238E27FC236}">
                <a16:creationId xmlns:a16="http://schemas.microsoft.com/office/drawing/2014/main" id="{F34CD906-5F38-CA29-279D-C16FD9328905}"/>
              </a:ext>
            </a:extLst>
          </p:cNvPr>
          <p:cNvSpPr/>
          <p:nvPr/>
        </p:nvSpPr>
        <p:spPr>
          <a:xfrm>
            <a:off x="11430000" y="2921000"/>
            <a:ext cx="4953000" cy="279400"/>
          </a:xfrm>
          <a:prstGeom prst="rect">
            <a:avLst/>
          </a:prstGeom>
          <a:solidFill>
            <a:srgbClr val="F4FAFE"/>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Oval 44">
            <a:extLst>
              <a:ext uri="{FF2B5EF4-FFF2-40B4-BE49-F238E27FC236}">
                <a16:creationId xmlns:a16="http://schemas.microsoft.com/office/drawing/2014/main" id="{B80CFDC8-0850-9971-F88B-20D615624AEC}"/>
              </a:ext>
            </a:extLst>
          </p:cNvPr>
          <p:cNvSpPr/>
          <p:nvPr/>
        </p:nvSpPr>
        <p:spPr>
          <a:xfrm>
            <a:off x="11582400" y="3009900"/>
            <a:ext cx="88900" cy="88900"/>
          </a:xfrm>
          <a:prstGeom prst="ellipse">
            <a:avLst/>
          </a:prstGeom>
          <a:solidFill>
            <a:srgbClr val="DE4848"/>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6" name="Oval 45">
            <a:extLst>
              <a:ext uri="{FF2B5EF4-FFF2-40B4-BE49-F238E27FC236}">
                <a16:creationId xmlns:a16="http://schemas.microsoft.com/office/drawing/2014/main" id="{A0C02F96-7586-CBEA-BE96-ACC823F60E0E}"/>
              </a:ext>
            </a:extLst>
          </p:cNvPr>
          <p:cNvSpPr/>
          <p:nvPr/>
        </p:nvSpPr>
        <p:spPr>
          <a:xfrm>
            <a:off x="11747500" y="3009900"/>
            <a:ext cx="88900" cy="88900"/>
          </a:xfrm>
          <a:prstGeom prst="ellipse">
            <a:avLst/>
          </a:prstGeom>
          <a:solidFill>
            <a:srgbClr val="F4A431"/>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Oval 46">
            <a:extLst>
              <a:ext uri="{FF2B5EF4-FFF2-40B4-BE49-F238E27FC236}">
                <a16:creationId xmlns:a16="http://schemas.microsoft.com/office/drawing/2014/main" id="{4397DC16-E086-3396-8F40-67039BE023AF}"/>
              </a:ext>
            </a:extLst>
          </p:cNvPr>
          <p:cNvSpPr/>
          <p:nvPr/>
        </p:nvSpPr>
        <p:spPr>
          <a:xfrm>
            <a:off x="11912600" y="3009900"/>
            <a:ext cx="88900" cy="88900"/>
          </a:xfrm>
          <a:prstGeom prst="ellipse">
            <a:avLst/>
          </a:prstGeom>
          <a:solidFill>
            <a:srgbClr val="26A65B"/>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TextBox 47">
            <a:extLst>
              <a:ext uri="{FF2B5EF4-FFF2-40B4-BE49-F238E27FC236}">
                <a16:creationId xmlns:a16="http://schemas.microsoft.com/office/drawing/2014/main" id="{7DA62F28-9166-08F9-2ADA-51FEEDBB74C8}"/>
              </a:ext>
            </a:extLst>
          </p:cNvPr>
          <p:cNvSpPr txBox="1"/>
          <p:nvPr/>
        </p:nvSpPr>
        <p:spPr>
          <a:xfrm>
            <a:off x="12255500" y="2959472"/>
            <a:ext cx="3937000" cy="138499"/>
          </a:xfrm>
          <a:prstGeom prst="rect">
            <a:avLst/>
          </a:prstGeom>
          <a:noFill/>
        </p:spPr>
        <p:txBody>
          <a:bodyPr vert="horz" wrap="square" lIns="0" tIns="0" rIns="0" bIns="0" rtlCol="0" anchor="ctr">
            <a:spAutoFit/>
          </a:bodyPr>
          <a:lstStyle/>
          <a:p>
            <a:r>
              <a:rPr lang="en-GB" sz="900">
                <a:solidFill>
                  <a:srgbClr val="708197"/>
                </a:solidFill>
                <a:latin typeface="Segoe UI Semibold" panose="020B0702040204020203" pitchFamily="34" charset="0"/>
              </a:rPr>
              <a:t>peerprep | student portal</a:t>
            </a:r>
          </a:p>
        </p:txBody>
      </p:sp>
      <p:pic>
        <p:nvPicPr>
          <p:cNvPr id="50" name="Picture 49">
            <a:extLst>
              <a:ext uri="{FF2B5EF4-FFF2-40B4-BE49-F238E27FC236}">
                <a16:creationId xmlns:a16="http://schemas.microsoft.com/office/drawing/2014/main" id="{E1668EC9-6D6B-4D08-2DE3-642EE53C9811}"/>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11430000" y="3200400"/>
            <a:ext cx="4953000" cy="3098800"/>
          </a:xfrm>
          <a:prstGeom prst="rect">
            <a:avLst/>
          </a:prstGeom>
          <a:ln w="9525">
            <a:solidFill>
              <a:srgbClr val="C7DCEC"/>
            </a:solidFill>
          </a:ln>
        </p:spPr>
      </p:pic>
      <p:sp>
        <p:nvSpPr>
          <p:cNvPr id="51" name="Rectangle: Rounded Corners 50">
            <a:extLst>
              <a:ext uri="{FF2B5EF4-FFF2-40B4-BE49-F238E27FC236}">
                <a16:creationId xmlns:a16="http://schemas.microsoft.com/office/drawing/2014/main" id="{694BF08F-2102-5F1B-89E8-929360A7428D}"/>
              </a:ext>
            </a:extLst>
          </p:cNvPr>
          <p:cNvSpPr/>
          <p:nvPr/>
        </p:nvSpPr>
        <p:spPr>
          <a:xfrm>
            <a:off x="5994400" y="6794500"/>
            <a:ext cx="10388600" cy="1587500"/>
          </a:xfrm>
          <a:prstGeom prst="roundRect">
            <a:avLst/>
          </a:prstGeom>
          <a:solidFill>
            <a:srgbClr val="FFFFFF"/>
          </a:solidFill>
          <a:ln w="12700">
            <a:solidFill>
              <a:srgbClr val="C7DC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TextBox 51">
            <a:extLst>
              <a:ext uri="{FF2B5EF4-FFF2-40B4-BE49-F238E27FC236}">
                <a16:creationId xmlns:a16="http://schemas.microsoft.com/office/drawing/2014/main" id="{86EFCB50-668E-8DF2-0F2F-5F6CC00D68B6}"/>
              </a:ext>
            </a:extLst>
          </p:cNvPr>
          <p:cNvSpPr txBox="1"/>
          <p:nvPr/>
        </p:nvSpPr>
        <p:spPr>
          <a:xfrm>
            <a:off x="6261100" y="7053878"/>
            <a:ext cx="3429000" cy="153888"/>
          </a:xfrm>
          <a:prstGeom prst="rect">
            <a:avLst/>
          </a:prstGeom>
          <a:noFill/>
        </p:spPr>
        <p:txBody>
          <a:bodyPr vert="horz" wrap="square" lIns="0" tIns="0" rIns="0" bIns="0" rtlCol="0" anchor="ctr">
            <a:spAutoFit/>
          </a:bodyPr>
          <a:lstStyle/>
          <a:p>
            <a:r>
              <a:rPr lang="en-GB" sz="1000">
                <a:solidFill>
                  <a:srgbClr val="112D52"/>
                </a:solidFill>
                <a:latin typeface="Press Start 2P" panose="020B0604020202020204" charset="0"/>
              </a:rPr>
              <a:t>ROLE-AWARE OUTCOMES</a:t>
            </a:r>
          </a:p>
        </p:txBody>
      </p:sp>
      <p:sp>
        <p:nvSpPr>
          <p:cNvPr id="53" name="Rectangle: Rounded Corners 52">
            <a:extLst>
              <a:ext uri="{FF2B5EF4-FFF2-40B4-BE49-F238E27FC236}">
                <a16:creationId xmlns:a16="http://schemas.microsoft.com/office/drawing/2014/main" id="{E3B8A93C-3C4E-6851-6523-92CD8BC448B0}"/>
              </a:ext>
            </a:extLst>
          </p:cNvPr>
          <p:cNvSpPr/>
          <p:nvPr/>
        </p:nvSpPr>
        <p:spPr>
          <a:xfrm>
            <a:off x="6261100" y="7493000"/>
            <a:ext cx="2794000" cy="3556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TextBox 53">
            <a:extLst>
              <a:ext uri="{FF2B5EF4-FFF2-40B4-BE49-F238E27FC236}">
                <a16:creationId xmlns:a16="http://schemas.microsoft.com/office/drawing/2014/main" id="{910DFACA-E9AC-DBA5-9D93-862C10717759}"/>
              </a:ext>
            </a:extLst>
          </p:cNvPr>
          <p:cNvSpPr txBox="1"/>
          <p:nvPr/>
        </p:nvSpPr>
        <p:spPr>
          <a:xfrm>
            <a:off x="6261100" y="7523778"/>
            <a:ext cx="2794000" cy="205184"/>
          </a:xfrm>
          <a:prstGeom prst="rect">
            <a:avLst/>
          </a:prstGeom>
          <a:noFill/>
        </p:spPr>
        <p:txBody>
          <a:bodyPr vert="horz" wrap="square" lIns="25400" tIns="25400" rIns="25400" bIns="25400" rtlCol="0" anchor="ctr">
            <a:spAutoFit/>
          </a:bodyPr>
          <a:lstStyle/>
          <a:p>
            <a:pPr algn="ctr"/>
            <a:r>
              <a:rPr lang="en-GB" sz="1000" b="1">
                <a:solidFill>
                  <a:srgbClr val="009DDC"/>
                </a:solidFill>
                <a:latin typeface="Segoe UI Semibold" panose="020B0702040204020203" pitchFamily="34" charset="0"/>
              </a:rPr>
              <a:t>STUDENT | NEXT ACTION</a:t>
            </a:r>
          </a:p>
        </p:txBody>
      </p:sp>
      <p:sp>
        <p:nvSpPr>
          <p:cNvPr id="55" name="Rectangle: Rounded Corners 54">
            <a:extLst>
              <a:ext uri="{FF2B5EF4-FFF2-40B4-BE49-F238E27FC236}">
                <a16:creationId xmlns:a16="http://schemas.microsoft.com/office/drawing/2014/main" id="{2DEB16D4-D1FA-D3D5-713B-793788796A03}"/>
              </a:ext>
            </a:extLst>
          </p:cNvPr>
          <p:cNvSpPr/>
          <p:nvPr/>
        </p:nvSpPr>
        <p:spPr>
          <a:xfrm>
            <a:off x="9245600" y="7493000"/>
            <a:ext cx="3302000" cy="355600"/>
          </a:xfrm>
          <a:prstGeom prst="roundRect">
            <a:avLst/>
          </a:prstGeom>
          <a:solidFill>
            <a:srgbClr val="FFF4DE"/>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6" name="TextBox 55">
            <a:extLst>
              <a:ext uri="{FF2B5EF4-FFF2-40B4-BE49-F238E27FC236}">
                <a16:creationId xmlns:a16="http://schemas.microsoft.com/office/drawing/2014/main" id="{A3E6E551-34D3-D731-30DC-77094E92A829}"/>
              </a:ext>
            </a:extLst>
          </p:cNvPr>
          <p:cNvSpPr txBox="1"/>
          <p:nvPr/>
        </p:nvSpPr>
        <p:spPr>
          <a:xfrm>
            <a:off x="9245600" y="7523778"/>
            <a:ext cx="3302000" cy="205184"/>
          </a:xfrm>
          <a:prstGeom prst="rect">
            <a:avLst/>
          </a:prstGeom>
          <a:noFill/>
        </p:spPr>
        <p:txBody>
          <a:bodyPr vert="horz" wrap="square" lIns="25400" tIns="25400" rIns="25400" bIns="25400" rtlCol="0" anchor="ctr">
            <a:spAutoFit/>
          </a:bodyPr>
          <a:lstStyle/>
          <a:p>
            <a:pPr algn="ctr"/>
            <a:r>
              <a:rPr lang="en-GB" sz="1000" b="1">
                <a:solidFill>
                  <a:srgbClr val="F4A431"/>
                </a:solidFill>
                <a:latin typeface="Segoe UI Semibold" panose="020B0702040204020203" pitchFamily="34" charset="0"/>
              </a:rPr>
              <a:t>COORDINATOR | INTERVENTION</a:t>
            </a:r>
          </a:p>
        </p:txBody>
      </p:sp>
      <p:sp>
        <p:nvSpPr>
          <p:cNvPr id="57" name="Rectangle: Rounded Corners 56">
            <a:extLst>
              <a:ext uri="{FF2B5EF4-FFF2-40B4-BE49-F238E27FC236}">
                <a16:creationId xmlns:a16="http://schemas.microsoft.com/office/drawing/2014/main" id="{0959500B-3CA3-CD3A-8098-8A6E3246B360}"/>
              </a:ext>
            </a:extLst>
          </p:cNvPr>
          <p:cNvSpPr/>
          <p:nvPr/>
        </p:nvSpPr>
        <p:spPr>
          <a:xfrm>
            <a:off x="12738100" y="7493000"/>
            <a:ext cx="3238500" cy="355600"/>
          </a:xfrm>
          <a:prstGeom prst="roundRect">
            <a:avLst/>
          </a:prstGeom>
          <a:solidFill>
            <a:srgbClr val="EFE9FC"/>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TextBox 57">
            <a:extLst>
              <a:ext uri="{FF2B5EF4-FFF2-40B4-BE49-F238E27FC236}">
                <a16:creationId xmlns:a16="http://schemas.microsoft.com/office/drawing/2014/main" id="{F1D3C466-B6C6-7C80-D276-CC822DB944ED}"/>
              </a:ext>
            </a:extLst>
          </p:cNvPr>
          <p:cNvSpPr txBox="1"/>
          <p:nvPr/>
        </p:nvSpPr>
        <p:spPr>
          <a:xfrm>
            <a:off x="12738100" y="7523778"/>
            <a:ext cx="3238500" cy="205184"/>
          </a:xfrm>
          <a:prstGeom prst="rect">
            <a:avLst/>
          </a:prstGeom>
          <a:noFill/>
        </p:spPr>
        <p:txBody>
          <a:bodyPr vert="horz" wrap="square" lIns="25400" tIns="25400" rIns="25400" bIns="25400" rtlCol="0" anchor="ctr">
            <a:spAutoFit/>
          </a:bodyPr>
          <a:lstStyle/>
          <a:p>
            <a:pPr algn="ctr"/>
            <a:r>
              <a:rPr lang="en-GB" sz="1000" b="1">
                <a:solidFill>
                  <a:srgbClr val="7354BD"/>
                </a:solidFill>
                <a:latin typeface="Segoe UI Semibold" panose="020B0702040204020203" pitchFamily="34" charset="0"/>
              </a:rPr>
              <a:t>ADMIN | COHORT VIEW</a:t>
            </a:r>
          </a:p>
        </p:txBody>
      </p:sp>
      <p:sp>
        <p:nvSpPr>
          <p:cNvPr id="59" name="TextBox 58">
            <a:extLst>
              <a:ext uri="{FF2B5EF4-FFF2-40B4-BE49-F238E27FC236}">
                <a16:creationId xmlns:a16="http://schemas.microsoft.com/office/drawing/2014/main" id="{6CC176C5-7D25-771C-1084-174E68F42B62}"/>
              </a:ext>
            </a:extLst>
          </p:cNvPr>
          <p:cNvSpPr txBox="1"/>
          <p:nvPr/>
        </p:nvSpPr>
        <p:spPr>
          <a:xfrm>
            <a:off x="6261100" y="7987142"/>
            <a:ext cx="9715500" cy="192360"/>
          </a:xfrm>
          <a:prstGeom prst="rect">
            <a:avLst/>
          </a:prstGeom>
          <a:noFill/>
        </p:spPr>
        <p:txBody>
          <a:bodyPr vert="horz" wrap="square" lIns="0" tIns="0" rIns="0" bIns="0" rtlCol="0" anchor="ctr">
            <a:spAutoFit/>
          </a:bodyPr>
          <a:lstStyle/>
          <a:p>
            <a:r>
              <a:rPr lang="en-GB" sz="1250" b="1">
                <a:solidFill>
                  <a:srgbClr val="50627A"/>
                </a:solidFill>
                <a:latin typeface="Segoe UI Semibold" panose="020B0702040204020203" pitchFamily="34" charset="0"/>
              </a:rPr>
              <a:t>One identity, one progress record, one preparation journey.</a:t>
            </a:r>
          </a:p>
        </p:txBody>
      </p:sp>
      <p:sp>
        <p:nvSpPr>
          <p:cNvPr id="41" name="Google Shape;145;p16">
            <a:extLst>
              <a:ext uri="{FF2B5EF4-FFF2-40B4-BE49-F238E27FC236}">
                <a16:creationId xmlns:a16="http://schemas.microsoft.com/office/drawing/2014/main" id="{311C475A-EEFF-FA5C-BE35-A7CE3A6EFA14}"/>
              </a:ext>
            </a:extLst>
          </p:cNvPr>
          <p:cNvSpPr>
            <a:spLocks noGrp="1"/>
          </p:cNvSpPr>
          <p:nvPr/>
        </p:nvSpPr>
        <p:spPr>
          <a:xfrm>
            <a:off x="512956" y="351328"/>
            <a:ext cx="3577686" cy="894398"/>
          </a:xfrm>
          <a:custGeom>
            <a:avLst/>
            <a:gdLst/>
            <a:ahLst/>
            <a:cxnLst/>
            <a:rect l="l" t="t" r="r" b="b"/>
            <a:pathLst>
              <a:path w="4770247" h="1192530">
                <a:moveTo>
                  <a:pt x="0" y="0"/>
                </a:moveTo>
                <a:lnTo>
                  <a:pt x="4770247" y="0"/>
                </a:lnTo>
                <a:lnTo>
                  <a:pt x="4770247" y="1192530"/>
                </a:lnTo>
                <a:lnTo>
                  <a:pt x="0" y="1192530"/>
                </a:lnTo>
                <a:lnTo>
                  <a:pt x="0" y="0"/>
                </a:lnTo>
                <a:close/>
              </a:path>
            </a:pathLst>
          </a:custGeom>
          <a:blipFill rotWithShape="1">
            <a:blip r:embed="rId5">
              <a:alphaModFix/>
            </a:blip>
            <a:stretch>
              <a:fillRect r="-1" b="-4"/>
            </a:stretch>
          </a:blipFill>
          <a:ln>
            <a:noFill/>
          </a:ln>
        </p:spPr>
      </p:sp>
      <p:sp>
        <p:nvSpPr>
          <p:cNvPr id="49" name="Google Shape;146;p16">
            <a:extLst>
              <a:ext uri="{FF2B5EF4-FFF2-40B4-BE49-F238E27FC236}">
                <a16:creationId xmlns:a16="http://schemas.microsoft.com/office/drawing/2014/main" id="{2A6D4B42-50BF-EA7D-CB3E-4CBC44ECE293}"/>
              </a:ext>
            </a:extLst>
          </p:cNvPr>
          <p:cNvSpPr>
            <a:spLocks noGrp="1"/>
          </p:cNvSpPr>
          <p:nvPr/>
        </p:nvSpPr>
        <p:spPr>
          <a:xfrm>
            <a:off x="15876874" y="276037"/>
            <a:ext cx="1894575" cy="969727"/>
          </a:xfrm>
          <a:custGeom>
            <a:avLst/>
            <a:gdLst/>
            <a:ahLst/>
            <a:cxnLst/>
            <a:rect l="l" t="t" r="r" b="b"/>
            <a:pathLst>
              <a:path w="1894575" h="969727">
                <a:moveTo>
                  <a:pt x="0" y="0"/>
                </a:moveTo>
                <a:lnTo>
                  <a:pt x="1894575" y="0"/>
                </a:lnTo>
                <a:lnTo>
                  <a:pt x="1894575" y="969727"/>
                </a:lnTo>
                <a:lnTo>
                  <a:pt x="0" y="969727"/>
                </a:lnTo>
                <a:lnTo>
                  <a:pt x="0" y="0"/>
                </a:lnTo>
                <a:close/>
              </a:path>
            </a:pathLst>
          </a:custGeom>
          <a:blipFill rotWithShape="1">
            <a:blip r:embed="rId6">
              <a:alphaModFix/>
            </a:blip>
            <a:stretch>
              <a:fillRect l="-16123" t="-146250" r="-62286" b="-204749"/>
            </a:stretch>
          </a:blipFill>
          <a:ln>
            <a:noFill/>
          </a:ln>
        </p:spPr>
      </p:sp>
    </p:spTree>
    <p:extLst>
      <p:ext uri="{BB962C8B-B14F-4D97-AF65-F5344CB8AC3E}">
        <p14:creationId xmlns:p14="http://schemas.microsoft.com/office/powerpoint/2010/main" val="104846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Google Shape;136;p16">
            <a:extLst>
              <a:ext uri="{FF2B5EF4-FFF2-40B4-BE49-F238E27FC236}">
                <a16:creationId xmlns:a16="http://schemas.microsoft.com/office/drawing/2014/main" id="{885187C7-D9D8-43AC-ACA7-B68B52053561}"/>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rotWithShape="1">
            <a:blip r:embed="rId3">
              <a:alphaModFix/>
            </a:blip>
            <a:stretch>
              <a:fillRect l="-391" r="-391"/>
            </a:stretch>
          </a:blipFill>
          <a:ln>
            <a:noFill/>
          </a:ln>
        </p:spPr>
      </p:sp>
      <p:sp>
        <p:nvSpPr>
          <p:cNvPr id="138" name="Google Shape;138;p16">
            <a:extLst>
              <a:ext uri="{FF2B5EF4-FFF2-40B4-BE49-F238E27FC236}">
                <a16:creationId xmlns:a16="http://schemas.microsoft.com/office/drawing/2014/main" id="{015F6328-BB9B-4D2D-92F4-5DB51D15DA5E}"/>
              </a:ext>
            </a:extLst>
          </p:cNvPr>
          <p:cNvSpPr>
            <a:spLocks noGrp="1"/>
          </p:cNvSpPr>
          <p:nvPr/>
        </p:nvSpPr>
        <p:spPr>
          <a:xfrm>
            <a:off x="772625" y="2057400"/>
            <a:ext cx="16742749" cy="7534412"/>
          </a:xfrm>
          <a:custGeom>
            <a:avLst/>
            <a:gdLst/>
            <a:ahLst/>
            <a:cxnLst/>
            <a:rect l="l" t="t" r="r" b="b"/>
            <a:pathLst>
              <a:path w="4409613" h="1984372">
                <a:moveTo>
                  <a:pt x="23583" y="0"/>
                </a:moveTo>
                <a:lnTo>
                  <a:pt x="4386031" y="0"/>
                </a:lnTo>
                <a:cubicBezTo>
                  <a:pt x="4399055" y="0"/>
                  <a:pt x="4409613" y="10558"/>
                  <a:pt x="4409613" y="23583"/>
                </a:cubicBezTo>
                <a:lnTo>
                  <a:pt x="4409613" y="1960789"/>
                </a:lnTo>
                <a:cubicBezTo>
                  <a:pt x="4409613" y="1967043"/>
                  <a:pt x="4407129" y="1973042"/>
                  <a:pt x="4402706" y="1977465"/>
                </a:cubicBezTo>
                <a:cubicBezTo>
                  <a:pt x="4398283" y="1981887"/>
                  <a:pt x="4392285" y="1984372"/>
                  <a:pt x="4386031" y="1984372"/>
                </a:cubicBezTo>
                <a:lnTo>
                  <a:pt x="23583" y="1984372"/>
                </a:lnTo>
                <a:cubicBezTo>
                  <a:pt x="17328" y="1984372"/>
                  <a:pt x="11330" y="1981887"/>
                  <a:pt x="6907" y="1977465"/>
                </a:cubicBezTo>
                <a:cubicBezTo>
                  <a:pt x="2485" y="1973042"/>
                  <a:pt x="0" y="1967043"/>
                  <a:pt x="0" y="1960789"/>
                </a:cubicBezTo>
                <a:lnTo>
                  <a:pt x="0" y="23583"/>
                </a:lnTo>
                <a:cubicBezTo>
                  <a:pt x="0" y="17328"/>
                  <a:pt x="2485" y="11330"/>
                  <a:pt x="6907" y="6907"/>
                </a:cubicBezTo>
                <a:cubicBezTo>
                  <a:pt x="11330" y="2485"/>
                  <a:pt x="17328" y="0"/>
                  <a:pt x="23583" y="0"/>
                </a:cubicBezTo>
                <a:close/>
              </a:path>
            </a:pathLst>
          </a:custGeom>
          <a:solidFill>
            <a:srgbClr val="C8D1D9">
              <a:alpha val="29804"/>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strike="noStrike" cap="none" spc="0">
              <a:solidFill>
                <a:srgbClr val="000000"/>
              </a:solidFill>
              <a:latin typeface="Arial"/>
              <a:ea typeface="Arial"/>
              <a:cs typeface="Arial"/>
            </a:endParaRPr>
          </a:p>
        </p:txBody>
      </p:sp>
      <p:sp>
        <p:nvSpPr>
          <p:cNvPr id="141" name="Google Shape;141;p16">
            <a:extLst>
              <a:ext uri="{FF2B5EF4-FFF2-40B4-BE49-F238E27FC236}">
                <a16:creationId xmlns:a16="http://schemas.microsoft.com/office/drawing/2014/main" id="{D1FD2538-973C-42D8-9B1B-B189E7208271}"/>
              </a:ext>
            </a:extLst>
          </p:cNvPr>
          <p:cNvSpPr>
            <a:spLocks noGrp="1"/>
          </p:cNvSpPr>
          <p:nvPr/>
        </p:nvSpPr>
        <p:spPr>
          <a:xfrm>
            <a:off x="16717664" y="9534525"/>
            <a:ext cx="655936" cy="547687"/>
          </a:xfrm>
          <a:custGeom>
            <a:avLst/>
            <a:gdLst/>
            <a:ahLst/>
            <a:cxnLst/>
            <a:rect l="l" t="t" r="r" b="b"/>
            <a:pathLst>
              <a:path w="874581" h="730250">
                <a:moveTo>
                  <a:pt x="0" y="0"/>
                </a:moveTo>
                <a:lnTo>
                  <a:pt x="874581" y="0"/>
                </a:lnTo>
                <a:lnTo>
                  <a:pt x="874581" y="730250"/>
                </a:lnTo>
                <a:lnTo>
                  <a:pt x="0" y="730250"/>
                </a:lnTo>
                <a:close/>
              </a:path>
            </a:pathLst>
          </a:custGeom>
          <a:blipFill rotWithShape="1">
            <a:blip r:embed="rId4">
              <a:alphaModFix amt="0"/>
            </a:blip>
            <a:stretch>
              <a:fillRect t="-101810" r="-550533" b="-101810"/>
            </a:stretch>
          </a:blipFill>
          <a:ln>
            <a:noFill/>
          </a:ln>
        </p:spPr>
      </p:sp>
      <p:sp>
        <p:nvSpPr>
          <p:cNvPr id="145" name="Google Shape;145;p16">
            <a:extLst>
              <a:ext uri="{FF2B5EF4-FFF2-40B4-BE49-F238E27FC236}">
                <a16:creationId xmlns:a16="http://schemas.microsoft.com/office/drawing/2014/main" id="{F74A1B9C-803E-427C-A320-56E180716069}"/>
              </a:ext>
            </a:extLst>
          </p:cNvPr>
          <p:cNvSpPr>
            <a:spLocks noGrp="1"/>
          </p:cNvSpPr>
          <p:nvPr/>
        </p:nvSpPr>
        <p:spPr>
          <a:xfrm>
            <a:off x="512956" y="351328"/>
            <a:ext cx="3577686" cy="894398"/>
          </a:xfrm>
          <a:custGeom>
            <a:avLst/>
            <a:gdLst/>
            <a:ahLst/>
            <a:cxnLst/>
            <a:rect l="l" t="t" r="r" b="b"/>
            <a:pathLst>
              <a:path w="4770247" h="1192530">
                <a:moveTo>
                  <a:pt x="0" y="0"/>
                </a:moveTo>
                <a:lnTo>
                  <a:pt x="4770247" y="0"/>
                </a:lnTo>
                <a:lnTo>
                  <a:pt x="4770247" y="1192530"/>
                </a:lnTo>
                <a:lnTo>
                  <a:pt x="0" y="1192530"/>
                </a:lnTo>
                <a:lnTo>
                  <a:pt x="0" y="0"/>
                </a:lnTo>
                <a:close/>
              </a:path>
            </a:pathLst>
          </a:custGeom>
          <a:blipFill rotWithShape="1">
            <a:blip r:embed="rId5">
              <a:alphaModFix/>
            </a:blip>
            <a:stretch>
              <a:fillRect r="-1" b="-4"/>
            </a:stretch>
          </a:blipFill>
          <a:ln>
            <a:noFill/>
          </a:ln>
        </p:spPr>
      </p:sp>
      <p:sp>
        <p:nvSpPr>
          <p:cNvPr id="146" name="Google Shape;146;p16">
            <a:extLst>
              <a:ext uri="{FF2B5EF4-FFF2-40B4-BE49-F238E27FC236}">
                <a16:creationId xmlns:a16="http://schemas.microsoft.com/office/drawing/2014/main" id="{68728BE6-86F5-4328-8143-F46A285940D2}"/>
              </a:ext>
            </a:extLst>
          </p:cNvPr>
          <p:cNvSpPr>
            <a:spLocks noGrp="1"/>
          </p:cNvSpPr>
          <p:nvPr/>
        </p:nvSpPr>
        <p:spPr>
          <a:xfrm>
            <a:off x="15876875" y="276037"/>
            <a:ext cx="1894575" cy="969727"/>
          </a:xfrm>
          <a:custGeom>
            <a:avLst/>
            <a:gdLst/>
            <a:ahLst/>
            <a:cxnLst/>
            <a:rect l="l" t="t" r="r" b="b"/>
            <a:pathLst>
              <a:path w="1894575" h="969727">
                <a:moveTo>
                  <a:pt x="0" y="0"/>
                </a:moveTo>
                <a:lnTo>
                  <a:pt x="1894575" y="0"/>
                </a:lnTo>
                <a:lnTo>
                  <a:pt x="1894575" y="969727"/>
                </a:lnTo>
                <a:lnTo>
                  <a:pt x="0" y="969727"/>
                </a:lnTo>
                <a:lnTo>
                  <a:pt x="0" y="0"/>
                </a:lnTo>
                <a:close/>
              </a:path>
            </a:pathLst>
          </a:custGeom>
          <a:blipFill rotWithShape="1">
            <a:blip r:embed="rId6">
              <a:alphaModFix/>
            </a:blip>
            <a:stretch>
              <a:fillRect l="-16123" t="-146250" r="-62286" b="-204749"/>
            </a:stretch>
          </a:blipFill>
          <a:ln>
            <a:noFill/>
          </a:ln>
        </p:spPr>
      </p:sp>
      <p:sp>
        <p:nvSpPr>
          <p:cNvPr id="148" name="Google Shape;148;p16">
            <a:extLst>
              <a:ext uri="{FF2B5EF4-FFF2-40B4-BE49-F238E27FC236}">
                <a16:creationId xmlns:a16="http://schemas.microsoft.com/office/drawing/2014/main" id="{E376C0C6-4B2D-4BF3-A5C9-8E8CADEF2439}"/>
              </a:ext>
            </a:extLst>
          </p:cNvPr>
          <p:cNvSpPr>
            <a:spLocks noGrp="1"/>
          </p:cNvSpPr>
          <p:nvPr/>
        </p:nvSpPr>
        <p:spPr>
          <a:xfrm>
            <a:off x="3737885" y="725420"/>
            <a:ext cx="11290695" cy="1632045"/>
          </a:xfrm>
          <a:custGeom>
            <a:avLst/>
            <a:gdLst/>
            <a:ahLst/>
            <a:cxnLst/>
            <a:rect l="l" t="t" r="r" b="b"/>
            <a:pathLst>
              <a:path w="15814844" h="2286000">
                <a:moveTo>
                  <a:pt x="0" y="0"/>
                </a:moveTo>
                <a:lnTo>
                  <a:pt x="15814844" y="0"/>
                </a:lnTo>
                <a:lnTo>
                  <a:pt x="15814844" y="2286000"/>
                </a:lnTo>
                <a:lnTo>
                  <a:pt x="0" y="2286000"/>
                </a:lnTo>
                <a:close/>
              </a:path>
            </a:pathLst>
          </a:custGeom>
          <a:blipFill rotWithShape="1">
            <a:blip r:embed="rId4">
              <a:alphaModFix amt="0"/>
            </a:blip>
            <a:stretch>
              <a:fillRect t="-137056" r="-38766" b="-137056"/>
            </a:stretch>
          </a:blipFill>
          <a:ln>
            <a:noFill/>
          </a:ln>
        </p:spPr>
      </p:sp>
      <p:sp>
        <p:nvSpPr>
          <p:cNvPr id="2" name="TextBox 1">
            <a:extLst>
              <a:ext uri="{FF2B5EF4-FFF2-40B4-BE49-F238E27FC236}">
                <a16:creationId xmlns:a16="http://schemas.microsoft.com/office/drawing/2014/main" id="{2EF29A77-6209-6778-F41B-9132A0B95BA4}"/>
              </a:ext>
            </a:extLst>
          </p:cNvPr>
          <p:cNvSpPr txBox="1"/>
          <p:nvPr/>
        </p:nvSpPr>
        <p:spPr>
          <a:xfrm>
            <a:off x="4953000" y="349850"/>
            <a:ext cx="8382000" cy="138499"/>
          </a:xfrm>
          <a:prstGeom prst="rect">
            <a:avLst/>
          </a:prstGeom>
          <a:noFill/>
        </p:spPr>
        <p:txBody>
          <a:bodyPr vert="horz" wrap="square" lIns="0" tIns="0" rIns="0" bIns="0" rtlCol="0" anchor="ctr">
            <a:spAutoFit/>
          </a:bodyPr>
          <a:lstStyle/>
          <a:p>
            <a:pPr algn="ctr"/>
            <a:r>
              <a:rPr lang="en-GB" sz="900">
                <a:solidFill>
                  <a:srgbClr val="009DDC"/>
                </a:solidFill>
                <a:latin typeface="Press Start 2P" panose="020B0604020202020204" charset="0"/>
              </a:rPr>
              <a:t>TECHNICAL APPROACH // POINT-TO-POINT DATA FLOW</a:t>
            </a:r>
          </a:p>
        </p:txBody>
      </p:sp>
      <p:sp>
        <p:nvSpPr>
          <p:cNvPr id="3" name="TextBox 2">
            <a:extLst>
              <a:ext uri="{FF2B5EF4-FFF2-40B4-BE49-F238E27FC236}">
                <a16:creationId xmlns:a16="http://schemas.microsoft.com/office/drawing/2014/main" id="{26C47CCB-05FC-E541-1D06-31A1C04AF8B8}"/>
              </a:ext>
            </a:extLst>
          </p:cNvPr>
          <p:cNvSpPr txBox="1"/>
          <p:nvPr/>
        </p:nvSpPr>
        <p:spPr>
          <a:xfrm>
            <a:off x="4191000" y="943317"/>
            <a:ext cx="11176000" cy="323165"/>
          </a:xfrm>
          <a:prstGeom prst="rect">
            <a:avLst/>
          </a:prstGeom>
          <a:noFill/>
        </p:spPr>
        <p:txBody>
          <a:bodyPr vert="horz" wrap="square" lIns="0" tIns="0" rIns="0" bIns="0" rtlCol="0" anchor="ctr">
            <a:spAutoFit/>
          </a:bodyPr>
          <a:lstStyle/>
          <a:p>
            <a:pPr algn="ctr"/>
            <a:r>
              <a:rPr lang="en-GB" sz="2100">
                <a:solidFill>
                  <a:srgbClr val="19263A"/>
                </a:solidFill>
                <a:latin typeface="Press Start 2P" panose="020B0604020202020204" charset="0"/>
              </a:rPr>
              <a:t>From Practice Event to Readiness Insight</a:t>
            </a:r>
          </a:p>
        </p:txBody>
      </p:sp>
      <p:cxnSp>
        <p:nvCxnSpPr>
          <p:cNvPr id="4" name="Straight Connector 3">
            <a:extLst>
              <a:ext uri="{FF2B5EF4-FFF2-40B4-BE49-F238E27FC236}">
                <a16:creationId xmlns:a16="http://schemas.microsoft.com/office/drawing/2014/main" id="{2A16C367-4790-D3C3-4BD9-48762F7F4DE4}"/>
              </a:ext>
            </a:extLst>
          </p:cNvPr>
          <p:cNvCxnSpPr/>
          <p:nvPr/>
        </p:nvCxnSpPr>
        <p:spPr>
          <a:xfrm>
            <a:off x="7747000" y="1587500"/>
            <a:ext cx="2794000" cy="0"/>
          </a:xfrm>
          <a:prstGeom prst="line">
            <a:avLst/>
          </a:prstGeom>
          <a:ln w="50800">
            <a:solidFill>
              <a:srgbClr val="009DDC"/>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E12F667-E43C-4263-C20B-35998D6E7BC0}"/>
              </a:ext>
            </a:extLst>
          </p:cNvPr>
          <p:cNvSpPr txBox="1"/>
          <p:nvPr/>
        </p:nvSpPr>
        <p:spPr>
          <a:xfrm>
            <a:off x="16891000" y="9667389"/>
            <a:ext cx="635000" cy="184666"/>
          </a:xfrm>
          <a:prstGeom prst="rect">
            <a:avLst/>
          </a:prstGeom>
          <a:noFill/>
        </p:spPr>
        <p:txBody>
          <a:bodyPr vert="horz" wrap="square" lIns="0" tIns="0" rIns="0" bIns="0" rtlCol="0" anchor="ctr">
            <a:spAutoFit/>
          </a:bodyPr>
          <a:lstStyle/>
          <a:p>
            <a:pPr algn="ctr"/>
            <a:r>
              <a:rPr lang="en-GB" sz="1200" b="1">
                <a:solidFill>
                  <a:srgbClr val="708197"/>
                </a:solidFill>
                <a:latin typeface="Segoe UI Semibold" panose="020B0702040204020203" pitchFamily="34" charset="0"/>
              </a:rPr>
              <a:t>04</a:t>
            </a:r>
          </a:p>
        </p:txBody>
      </p:sp>
      <p:sp>
        <p:nvSpPr>
          <p:cNvPr id="6" name="TextBox 5">
            <a:extLst>
              <a:ext uri="{FF2B5EF4-FFF2-40B4-BE49-F238E27FC236}">
                <a16:creationId xmlns:a16="http://schemas.microsoft.com/office/drawing/2014/main" id="{AB3181B9-2FFB-AB33-262F-B07A4E93061C}"/>
              </a:ext>
            </a:extLst>
          </p:cNvPr>
          <p:cNvSpPr txBox="1"/>
          <p:nvPr/>
        </p:nvSpPr>
        <p:spPr>
          <a:xfrm>
            <a:off x="406400" y="9741272"/>
            <a:ext cx="2794000" cy="138499"/>
          </a:xfrm>
          <a:prstGeom prst="rect">
            <a:avLst/>
          </a:prstGeom>
          <a:noFill/>
        </p:spPr>
        <p:txBody>
          <a:bodyPr vert="horz" wrap="square" lIns="0" tIns="0" rIns="0" bIns="0" rtlCol="0" anchor="ctr">
            <a:spAutoFit/>
          </a:bodyPr>
          <a:lstStyle/>
          <a:p>
            <a:r>
              <a:rPr lang="en-GB" sz="900">
                <a:solidFill>
                  <a:srgbClr val="112D52"/>
                </a:solidFill>
                <a:latin typeface="Press Start 2P" panose="020B0604020202020204" charset="0"/>
              </a:rPr>
              <a:t>VAR // PEERPREP</a:t>
            </a:r>
          </a:p>
        </p:txBody>
      </p:sp>
      <p:sp>
        <p:nvSpPr>
          <p:cNvPr id="7" name="TextBox 6">
            <a:extLst>
              <a:ext uri="{FF2B5EF4-FFF2-40B4-BE49-F238E27FC236}">
                <a16:creationId xmlns:a16="http://schemas.microsoft.com/office/drawing/2014/main" id="{D9316303-A3DF-14EC-753A-A45BD30F21CF}"/>
              </a:ext>
            </a:extLst>
          </p:cNvPr>
          <p:cNvSpPr txBox="1"/>
          <p:nvPr/>
        </p:nvSpPr>
        <p:spPr>
          <a:xfrm>
            <a:off x="1549400" y="1856517"/>
            <a:ext cx="15189200" cy="261610"/>
          </a:xfrm>
          <a:prstGeom prst="rect">
            <a:avLst/>
          </a:prstGeom>
          <a:noFill/>
        </p:spPr>
        <p:txBody>
          <a:bodyPr vert="horz" wrap="square" lIns="0" tIns="0" rIns="0" bIns="0" rtlCol="0" anchor="ctr">
            <a:spAutoFit/>
          </a:bodyPr>
          <a:lstStyle/>
          <a:p>
            <a:pPr algn="ctr"/>
            <a:r>
              <a:rPr lang="en-GB" sz="1700" b="1">
                <a:solidFill>
                  <a:srgbClr val="112D52"/>
                </a:solidFill>
                <a:latin typeface="Segoe UI Semibold" panose="020B0702040204020203" pitchFamily="34" charset="0"/>
              </a:rPr>
              <a:t>Implemented architecture: modular API + independently scalable execution workers.</a:t>
            </a:r>
          </a:p>
        </p:txBody>
      </p:sp>
      <p:sp>
        <p:nvSpPr>
          <p:cNvPr id="8" name="Rectangle: Rounded Corners 7">
            <a:extLst>
              <a:ext uri="{FF2B5EF4-FFF2-40B4-BE49-F238E27FC236}">
                <a16:creationId xmlns:a16="http://schemas.microsoft.com/office/drawing/2014/main" id="{7148FB7F-C5C6-B12F-D613-000B0A7A4042}"/>
              </a:ext>
            </a:extLst>
          </p:cNvPr>
          <p:cNvSpPr/>
          <p:nvPr/>
        </p:nvSpPr>
        <p:spPr>
          <a:xfrm>
            <a:off x="914400" y="2667000"/>
            <a:ext cx="2794000" cy="19050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Rounded Corners 8">
            <a:extLst>
              <a:ext uri="{FF2B5EF4-FFF2-40B4-BE49-F238E27FC236}">
                <a16:creationId xmlns:a16="http://schemas.microsoft.com/office/drawing/2014/main" id="{6C1FF790-3C75-FE44-E5F5-D638BB741E44}"/>
              </a:ext>
            </a:extLst>
          </p:cNvPr>
          <p:cNvSpPr/>
          <p:nvPr/>
        </p:nvSpPr>
        <p:spPr>
          <a:xfrm>
            <a:off x="1092200" y="2819400"/>
            <a:ext cx="889000" cy="3556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566DDA8B-EE8E-F34A-A671-005A7D946439}"/>
              </a:ext>
            </a:extLst>
          </p:cNvPr>
          <p:cNvSpPr txBox="1"/>
          <p:nvPr/>
        </p:nvSpPr>
        <p:spPr>
          <a:xfrm>
            <a:off x="1092200" y="2857872"/>
            <a:ext cx="889000" cy="189796"/>
          </a:xfrm>
          <a:prstGeom prst="rect">
            <a:avLst/>
          </a:prstGeom>
          <a:noFill/>
        </p:spPr>
        <p:txBody>
          <a:bodyPr vert="horz" wrap="square" lIns="25400" tIns="25400" rIns="25400" bIns="25400" rtlCol="0" anchor="ctr">
            <a:spAutoFit/>
          </a:bodyPr>
          <a:lstStyle/>
          <a:p>
            <a:pPr algn="ctr"/>
            <a:r>
              <a:rPr lang="en-GB" sz="900" b="1">
                <a:solidFill>
                  <a:srgbClr val="009DDC"/>
                </a:solidFill>
                <a:latin typeface="Segoe UI Semibold" panose="020B0702040204020203" pitchFamily="34" charset="0"/>
              </a:rPr>
              <a:t>ACTORS</a:t>
            </a:r>
          </a:p>
        </p:txBody>
      </p:sp>
      <p:sp>
        <p:nvSpPr>
          <p:cNvPr id="11" name="TextBox 10">
            <a:extLst>
              <a:ext uri="{FF2B5EF4-FFF2-40B4-BE49-F238E27FC236}">
                <a16:creationId xmlns:a16="http://schemas.microsoft.com/office/drawing/2014/main" id="{44119138-86F0-4C96-3199-77BFC1D7AC25}"/>
              </a:ext>
            </a:extLst>
          </p:cNvPr>
          <p:cNvSpPr txBox="1"/>
          <p:nvPr/>
        </p:nvSpPr>
        <p:spPr>
          <a:xfrm>
            <a:off x="1092200" y="3281606"/>
            <a:ext cx="2438400" cy="230832"/>
          </a:xfrm>
          <a:prstGeom prst="rect">
            <a:avLst/>
          </a:prstGeom>
          <a:noFill/>
        </p:spPr>
        <p:txBody>
          <a:bodyPr vert="horz" wrap="square" lIns="0" tIns="0" rIns="0" bIns="0" rtlCol="0" anchor="ctr">
            <a:spAutoFit/>
          </a:bodyPr>
          <a:lstStyle/>
          <a:p>
            <a:r>
              <a:rPr lang="en-GB" sz="1500" b="1">
                <a:solidFill>
                  <a:srgbClr val="19263A"/>
                </a:solidFill>
                <a:latin typeface="Segoe UI Semibold" panose="020B0702040204020203" pitchFamily="34" charset="0"/>
              </a:rPr>
              <a:t>Role-based users</a:t>
            </a:r>
          </a:p>
        </p:txBody>
      </p:sp>
      <p:sp>
        <p:nvSpPr>
          <p:cNvPr id="12" name="TextBox 11">
            <a:extLst>
              <a:ext uri="{FF2B5EF4-FFF2-40B4-BE49-F238E27FC236}">
                <a16:creationId xmlns:a16="http://schemas.microsoft.com/office/drawing/2014/main" id="{0C1DD1C1-F664-6221-8F30-D2817059ACD3}"/>
              </a:ext>
            </a:extLst>
          </p:cNvPr>
          <p:cNvSpPr txBox="1"/>
          <p:nvPr/>
        </p:nvSpPr>
        <p:spPr>
          <a:xfrm>
            <a:off x="1092200" y="3657600"/>
            <a:ext cx="2438400" cy="530915"/>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Students</a:t>
            </a:r>
          </a:p>
          <a:p>
            <a:r>
              <a:rPr lang="en-GB" sz="1150">
                <a:solidFill>
                  <a:srgbClr val="50627A"/>
                </a:solidFill>
                <a:latin typeface="Segoe UI" panose="020B0502040204020203" pitchFamily="34" charset="0"/>
              </a:rPr>
              <a:t>Coordinators</a:t>
            </a:r>
          </a:p>
          <a:p>
            <a:r>
              <a:rPr lang="en-GB" sz="1150">
                <a:solidFill>
                  <a:srgbClr val="50627A"/>
                </a:solidFill>
                <a:latin typeface="Segoe UI" panose="020B0502040204020203" pitchFamily="34" charset="0"/>
              </a:rPr>
              <a:t>Administrators</a:t>
            </a:r>
          </a:p>
        </p:txBody>
      </p:sp>
      <p:sp>
        <p:nvSpPr>
          <p:cNvPr id="13" name="Rectangle: Rounded Corners 12">
            <a:extLst>
              <a:ext uri="{FF2B5EF4-FFF2-40B4-BE49-F238E27FC236}">
                <a16:creationId xmlns:a16="http://schemas.microsoft.com/office/drawing/2014/main" id="{8B99D07A-E54A-D989-0367-E5B9C8EBFB34}"/>
              </a:ext>
            </a:extLst>
          </p:cNvPr>
          <p:cNvSpPr/>
          <p:nvPr/>
        </p:nvSpPr>
        <p:spPr>
          <a:xfrm>
            <a:off x="4318000" y="2667000"/>
            <a:ext cx="2794000" cy="19050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C6C09727-7A59-882C-E477-CA3A608CA2A5}"/>
              </a:ext>
            </a:extLst>
          </p:cNvPr>
          <p:cNvSpPr/>
          <p:nvPr/>
        </p:nvSpPr>
        <p:spPr>
          <a:xfrm>
            <a:off x="4495800" y="2819400"/>
            <a:ext cx="889000" cy="3556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BAD44165-D969-5B80-CBA8-2A8E89293AFE}"/>
              </a:ext>
            </a:extLst>
          </p:cNvPr>
          <p:cNvSpPr txBox="1"/>
          <p:nvPr/>
        </p:nvSpPr>
        <p:spPr>
          <a:xfrm>
            <a:off x="4495800" y="2857872"/>
            <a:ext cx="889000" cy="189796"/>
          </a:xfrm>
          <a:prstGeom prst="rect">
            <a:avLst/>
          </a:prstGeom>
          <a:noFill/>
        </p:spPr>
        <p:txBody>
          <a:bodyPr vert="horz" wrap="square" lIns="25400" tIns="25400" rIns="25400" bIns="25400" rtlCol="0" anchor="ctr">
            <a:spAutoFit/>
          </a:bodyPr>
          <a:lstStyle/>
          <a:p>
            <a:pPr algn="ctr"/>
            <a:r>
              <a:rPr lang="en-GB" sz="900" b="1">
                <a:solidFill>
                  <a:srgbClr val="186FB7"/>
                </a:solidFill>
                <a:latin typeface="Segoe UI Semibold" panose="020B0702040204020203" pitchFamily="34" charset="0"/>
              </a:rPr>
              <a:t>UI</a:t>
            </a:r>
          </a:p>
        </p:txBody>
      </p:sp>
      <p:sp>
        <p:nvSpPr>
          <p:cNvPr id="16" name="TextBox 15">
            <a:extLst>
              <a:ext uri="{FF2B5EF4-FFF2-40B4-BE49-F238E27FC236}">
                <a16:creationId xmlns:a16="http://schemas.microsoft.com/office/drawing/2014/main" id="{1F500E93-655A-85C7-6A83-BEAC3EFB4AEB}"/>
              </a:ext>
            </a:extLst>
          </p:cNvPr>
          <p:cNvSpPr txBox="1"/>
          <p:nvPr/>
        </p:nvSpPr>
        <p:spPr>
          <a:xfrm>
            <a:off x="4495800" y="3281606"/>
            <a:ext cx="2438400" cy="230832"/>
          </a:xfrm>
          <a:prstGeom prst="rect">
            <a:avLst/>
          </a:prstGeom>
          <a:noFill/>
        </p:spPr>
        <p:txBody>
          <a:bodyPr vert="horz" wrap="square" lIns="0" tIns="0" rIns="0" bIns="0" rtlCol="0" anchor="ctr">
            <a:spAutoFit/>
          </a:bodyPr>
          <a:lstStyle/>
          <a:p>
            <a:r>
              <a:rPr lang="en-GB" sz="1500" b="1">
                <a:solidFill>
                  <a:srgbClr val="19263A"/>
                </a:solidFill>
                <a:latin typeface="Segoe UI Semibold" panose="020B0702040204020203" pitchFamily="34" charset="0"/>
              </a:rPr>
              <a:t>React 19 + Vite</a:t>
            </a:r>
          </a:p>
        </p:txBody>
      </p:sp>
      <p:sp>
        <p:nvSpPr>
          <p:cNvPr id="17" name="TextBox 16">
            <a:extLst>
              <a:ext uri="{FF2B5EF4-FFF2-40B4-BE49-F238E27FC236}">
                <a16:creationId xmlns:a16="http://schemas.microsoft.com/office/drawing/2014/main" id="{0CC224E3-936B-BAE0-879D-32F4E386030D}"/>
              </a:ext>
            </a:extLst>
          </p:cNvPr>
          <p:cNvSpPr txBox="1"/>
          <p:nvPr/>
        </p:nvSpPr>
        <p:spPr>
          <a:xfrm>
            <a:off x="4495800" y="3657600"/>
            <a:ext cx="2438400" cy="530915"/>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Dashboards</a:t>
            </a:r>
          </a:p>
          <a:p>
            <a:r>
              <a:rPr lang="en-GB" sz="1150">
                <a:solidFill>
                  <a:srgbClr val="50627A"/>
                </a:solidFill>
                <a:latin typeface="Segoe UI" panose="020B0502040204020203" pitchFamily="34" charset="0"/>
              </a:rPr>
              <a:t>Coding workspace</a:t>
            </a:r>
          </a:p>
          <a:p>
            <a:r>
              <a:rPr lang="en-GB" sz="1150">
                <a:solidFill>
                  <a:srgbClr val="50627A"/>
                </a:solidFill>
                <a:latin typeface="Segoe UI" panose="020B0502040204020203" pitchFamily="34" charset="0"/>
              </a:rPr>
              <a:t>Assessment experience</a:t>
            </a:r>
          </a:p>
        </p:txBody>
      </p:sp>
      <p:sp>
        <p:nvSpPr>
          <p:cNvPr id="18" name="Rectangle: Rounded Corners 17">
            <a:extLst>
              <a:ext uri="{FF2B5EF4-FFF2-40B4-BE49-F238E27FC236}">
                <a16:creationId xmlns:a16="http://schemas.microsoft.com/office/drawing/2014/main" id="{4A303E27-0776-10CC-5011-2128F9E28614}"/>
              </a:ext>
            </a:extLst>
          </p:cNvPr>
          <p:cNvSpPr/>
          <p:nvPr/>
        </p:nvSpPr>
        <p:spPr>
          <a:xfrm>
            <a:off x="7721600" y="2667000"/>
            <a:ext cx="2794000" cy="19050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2753DC7D-4752-EF51-40B9-12B07B72AA9C}"/>
              </a:ext>
            </a:extLst>
          </p:cNvPr>
          <p:cNvSpPr/>
          <p:nvPr/>
        </p:nvSpPr>
        <p:spPr>
          <a:xfrm>
            <a:off x="7899400" y="2819400"/>
            <a:ext cx="889000" cy="355600"/>
          </a:xfrm>
          <a:prstGeom prst="roundRect">
            <a:avLst/>
          </a:prstGeom>
          <a:solidFill>
            <a:srgbClr val="EFE9FC"/>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F8A7EBCA-8BFE-B933-F4D5-B03E652B1E74}"/>
              </a:ext>
            </a:extLst>
          </p:cNvPr>
          <p:cNvSpPr txBox="1"/>
          <p:nvPr/>
        </p:nvSpPr>
        <p:spPr>
          <a:xfrm>
            <a:off x="7899400" y="2857872"/>
            <a:ext cx="889000" cy="189796"/>
          </a:xfrm>
          <a:prstGeom prst="rect">
            <a:avLst/>
          </a:prstGeom>
          <a:noFill/>
        </p:spPr>
        <p:txBody>
          <a:bodyPr vert="horz" wrap="square" lIns="25400" tIns="25400" rIns="25400" bIns="25400" rtlCol="0" anchor="ctr">
            <a:spAutoFit/>
          </a:bodyPr>
          <a:lstStyle/>
          <a:p>
            <a:pPr algn="ctr"/>
            <a:r>
              <a:rPr lang="en-GB" sz="900" b="1">
                <a:solidFill>
                  <a:srgbClr val="7354BD"/>
                </a:solidFill>
                <a:latin typeface="Segoe UI Semibold" panose="020B0702040204020203" pitchFamily="34" charset="0"/>
              </a:rPr>
              <a:t>API</a:t>
            </a:r>
          </a:p>
        </p:txBody>
      </p:sp>
      <p:sp>
        <p:nvSpPr>
          <p:cNvPr id="21" name="TextBox 20">
            <a:extLst>
              <a:ext uri="{FF2B5EF4-FFF2-40B4-BE49-F238E27FC236}">
                <a16:creationId xmlns:a16="http://schemas.microsoft.com/office/drawing/2014/main" id="{0556362C-CEAC-B101-7AE1-8A9A848D0265}"/>
              </a:ext>
            </a:extLst>
          </p:cNvPr>
          <p:cNvSpPr txBox="1"/>
          <p:nvPr/>
        </p:nvSpPr>
        <p:spPr>
          <a:xfrm>
            <a:off x="7899400" y="3281606"/>
            <a:ext cx="2438400" cy="230832"/>
          </a:xfrm>
          <a:prstGeom prst="rect">
            <a:avLst/>
          </a:prstGeom>
          <a:noFill/>
        </p:spPr>
        <p:txBody>
          <a:bodyPr vert="horz" wrap="square" lIns="0" tIns="0" rIns="0" bIns="0" rtlCol="0" anchor="ctr">
            <a:spAutoFit/>
          </a:bodyPr>
          <a:lstStyle/>
          <a:p>
            <a:r>
              <a:rPr lang="en-GB" sz="1500" b="1">
                <a:solidFill>
                  <a:srgbClr val="19263A"/>
                </a:solidFill>
                <a:latin typeface="Segoe UI Semibold" panose="020B0702040204020203" pitchFamily="34" charset="0"/>
              </a:rPr>
              <a:t>Express service</a:t>
            </a:r>
          </a:p>
        </p:txBody>
      </p:sp>
      <p:sp>
        <p:nvSpPr>
          <p:cNvPr id="22" name="TextBox 21">
            <a:extLst>
              <a:ext uri="{FF2B5EF4-FFF2-40B4-BE49-F238E27FC236}">
                <a16:creationId xmlns:a16="http://schemas.microsoft.com/office/drawing/2014/main" id="{367EF898-30B2-66DC-4BF3-5719A96B83F0}"/>
              </a:ext>
            </a:extLst>
          </p:cNvPr>
          <p:cNvSpPr txBox="1"/>
          <p:nvPr/>
        </p:nvSpPr>
        <p:spPr>
          <a:xfrm>
            <a:off x="7899400" y="3657600"/>
            <a:ext cx="2438400" cy="530915"/>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JWT / HttpOnly cookies</a:t>
            </a:r>
          </a:p>
          <a:p>
            <a:r>
              <a:rPr lang="en-GB" sz="1150">
                <a:solidFill>
                  <a:srgbClr val="50627A"/>
                </a:solidFill>
                <a:latin typeface="Segoe UI" panose="020B0502040204020203" pitchFamily="34" charset="0"/>
              </a:rPr>
              <a:t>RBAC + validation</a:t>
            </a:r>
          </a:p>
          <a:p>
            <a:r>
              <a:rPr lang="en-GB" sz="1150">
                <a:solidFill>
                  <a:srgbClr val="50627A"/>
                </a:solidFill>
                <a:latin typeface="Segoe UI" panose="020B0502040204020203" pitchFamily="34" charset="0"/>
              </a:rPr>
              <a:t>Rate limits + audit</a:t>
            </a:r>
          </a:p>
        </p:txBody>
      </p:sp>
      <p:sp>
        <p:nvSpPr>
          <p:cNvPr id="23" name="Rectangle: Rounded Corners 22">
            <a:extLst>
              <a:ext uri="{FF2B5EF4-FFF2-40B4-BE49-F238E27FC236}">
                <a16:creationId xmlns:a16="http://schemas.microsoft.com/office/drawing/2014/main" id="{A5BFEC18-570F-2EBD-E5D2-C15B033B75A8}"/>
              </a:ext>
            </a:extLst>
          </p:cNvPr>
          <p:cNvSpPr/>
          <p:nvPr/>
        </p:nvSpPr>
        <p:spPr>
          <a:xfrm>
            <a:off x="11125200" y="2667000"/>
            <a:ext cx="2794000" cy="19050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Rounded Corners 23">
            <a:extLst>
              <a:ext uri="{FF2B5EF4-FFF2-40B4-BE49-F238E27FC236}">
                <a16:creationId xmlns:a16="http://schemas.microsoft.com/office/drawing/2014/main" id="{946A749F-1CF7-77C2-2203-CC7406049E69}"/>
              </a:ext>
            </a:extLst>
          </p:cNvPr>
          <p:cNvSpPr/>
          <p:nvPr/>
        </p:nvSpPr>
        <p:spPr>
          <a:xfrm>
            <a:off x="11303000" y="2819400"/>
            <a:ext cx="889000" cy="355600"/>
          </a:xfrm>
          <a:prstGeom prst="roundRect">
            <a:avLst/>
          </a:prstGeom>
          <a:solidFill>
            <a:srgbClr val="FFF4DE"/>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8B0923D8-6C47-7402-0088-8278EFA01BE3}"/>
              </a:ext>
            </a:extLst>
          </p:cNvPr>
          <p:cNvSpPr txBox="1"/>
          <p:nvPr/>
        </p:nvSpPr>
        <p:spPr>
          <a:xfrm>
            <a:off x="11303000" y="2857872"/>
            <a:ext cx="889000" cy="189796"/>
          </a:xfrm>
          <a:prstGeom prst="rect">
            <a:avLst/>
          </a:prstGeom>
          <a:noFill/>
        </p:spPr>
        <p:txBody>
          <a:bodyPr vert="horz" wrap="square" lIns="25400" tIns="25400" rIns="25400" bIns="25400" rtlCol="0" anchor="ctr">
            <a:spAutoFit/>
          </a:bodyPr>
          <a:lstStyle/>
          <a:p>
            <a:pPr algn="ctr"/>
            <a:r>
              <a:rPr lang="en-GB" sz="900" b="1">
                <a:solidFill>
                  <a:srgbClr val="F4A431"/>
                </a:solidFill>
                <a:latin typeface="Segoe UI Semibold" panose="020B0702040204020203" pitchFamily="34" charset="0"/>
              </a:rPr>
              <a:t>DOMAIN</a:t>
            </a:r>
          </a:p>
        </p:txBody>
      </p:sp>
      <p:sp>
        <p:nvSpPr>
          <p:cNvPr id="26" name="TextBox 25">
            <a:extLst>
              <a:ext uri="{FF2B5EF4-FFF2-40B4-BE49-F238E27FC236}">
                <a16:creationId xmlns:a16="http://schemas.microsoft.com/office/drawing/2014/main" id="{5433AA37-FE7D-AB25-BEC6-C529C41DB01A}"/>
              </a:ext>
            </a:extLst>
          </p:cNvPr>
          <p:cNvSpPr txBox="1"/>
          <p:nvPr/>
        </p:nvSpPr>
        <p:spPr>
          <a:xfrm>
            <a:off x="11303000" y="3281606"/>
            <a:ext cx="2438400" cy="230832"/>
          </a:xfrm>
          <a:prstGeom prst="rect">
            <a:avLst/>
          </a:prstGeom>
          <a:noFill/>
        </p:spPr>
        <p:txBody>
          <a:bodyPr vert="horz" wrap="square" lIns="0" tIns="0" rIns="0" bIns="0" rtlCol="0" anchor="ctr">
            <a:spAutoFit/>
          </a:bodyPr>
          <a:lstStyle/>
          <a:p>
            <a:r>
              <a:rPr lang="en-GB" sz="1500" b="1">
                <a:solidFill>
                  <a:srgbClr val="19263A"/>
                </a:solidFill>
                <a:latin typeface="Segoe UI Semibold" panose="020B0702040204020203" pitchFamily="34" charset="0"/>
              </a:rPr>
              <a:t>Core workflows</a:t>
            </a:r>
          </a:p>
        </p:txBody>
      </p:sp>
      <p:sp>
        <p:nvSpPr>
          <p:cNvPr id="27" name="TextBox 26">
            <a:extLst>
              <a:ext uri="{FF2B5EF4-FFF2-40B4-BE49-F238E27FC236}">
                <a16:creationId xmlns:a16="http://schemas.microsoft.com/office/drawing/2014/main" id="{57FF8CE6-B31A-15AA-B568-04E1AA835044}"/>
              </a:ext>
            </a:extLst>
          </p:cNvPr>
          <p:cNvSpPr txBox="1"/>
          <p:nvPr/>
        </p:nvSpPr>
        <p:spPr>
          <a:xfrm>
            <a:off x="11303000" y="3657600"/>
            <a:ext cx="2438400" cy="530915"/>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Learning | Assessments</a:t>
            </a:r>
          </a:p>
          <a:p>
            <a:r>
              <a:rPr lang="en-GB" sz="1150">
                <a:solidFill>
                  <a:srgbClr val="50627A"/>
                </a:solidFill>
                <a:latin typeface="Segoe UI" panose="020B0502040204020203" pitchFamily="34" charset="0"/>
              </a:rPr>
              <a:t>Interviews | Analytics</a:t>
            </a:r>
          </a:p>
          <a:p>
            <a:r>
              <a:rPr lang="en-GB" sz="1150">
                <a:solidFill>
                  <a:srgbClr val="50627A"/>
                </a:solidFill>
                <a:latin typeface="Segoe UI" panose="020B0502040204020203" pitchFamily="34" charset="0"/>
              </a:rPr>
              <a:t>Notifications</a:t>
            </a:r>
          </a:p>
        </p:txBody>
      </p:sp>
      <p:sp>
        <p:nvSpPr>
          <p:cNvPr id="28" name="Rectangle: Rounded Corners 27">
            <a:extLst>
              <a:ext uri="{FF2B5EF4-FFF2-40B4-BE49-F238E27FC236}">
                <a16:creationId xmlns:a16="http://schemas.microsoft.com/office/drawing/2014/main" id="{9FAAB9A2-EFFF-6ED1-F073-53D3656982CD}"/>
              </a:ext>
            </a:extLst>
          </p:cNvPr>
          <p:cNvSpPr/>
          <p:nvPr/>
        </p:nvSpPr>
        <p:spPr>
          <a:xfrm>
            <a:off x="14528800" y="2667000"/>
            <a:ext cx="2794000" cy="19050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Rounded Corners 28">
            <a:extLst>
              <a:ext uri="{FF2B5EF4-FFF2-40B4-BE49-F238E27FC236}">
                <a16:creationId xmlns:a16="http://schemas.microsoft.com/office/drawing/2014/main" id="{C68143FB-AC52-AB96-1A87-11CE5842B016}"/>
              </a:ext>
            </a:extLst>
          </p:cNvPr>
          <p:cNvSpPr/>
          <p:nvPr/>
        </p:nvSpPr>
        <p:spPr>
          <a:xfrm>
            <a:off x="14706600" y="2819400"/>
            <a:ext cx="889000" cy="355600"/>
          </a:xfrm>
          <a:prstGeom prst="roundRect">
            <a:avLst/>
          </a:prstGeom>
          <a:solidFill>
            <a:srgbClr val="E1F7EC"/>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9A30C61C-FF2B-BC76-16E7-F13C0A8ADC2F}"/>
              </a:ext>
            </a:extLst>
          </p:cNvPr>
          <p:cNvSpPr txBox="1"/>
          <p:nvPr/>
        </p:nvSpPr>
        <p:spPr>
          <a:xfrm>
            <a:off x="14706600" y="2857872"/>
            <a:ext cx="889000" cy="189796"/>
          </a:xfrm>
          <a:prstGeom prst="rect">
            <a:avLst/>
          </a:prstGeom>
          <a:noFill/>
        </p:spPr>
        <p:txBody>
          <a:bodyPr vert="horz" wrap="square" lIns="25400" tIns="25400" rIns="25400" bIns="25400" rtlCol="0" anchor="ctr">
            <a:spAutoFit/>
          </a:bodyPr>
          <a:lstStyle/>
          <a:p>
            <a:pPr algn="ctr"/>
            <a:r>
              <a:rPr lang="en-GB" sz="900" b="1">
                <a:solidFill>
                  <a:srgbClr val="26A65B"/>
                </a:solidFill>
                <a:latin typeface="Segoe UI Semibold" panose="020B0702040204020203" pitchFamily="34" charset="0"/>
              </a:rPr>
              <a:t>DATA</a:t>
            </a:r>
          </a:p>
        </p:txBody>
      </p:sp>
      <p:sp>
        <p:nvSpPr>
          <p:cNvPr id="31" name="TextBox 30">
            <a:extLst>
              <a:ext uri="{FF2B5EF4-FFF2-40B4-BE49-F238E27FC236}">
                <a16:creationId xmlns:a16="http://schemas.microsoft.com/office/drawing/2014/main" id="{36FB330B-F07D-7C53-6725-14F2E0F7F388}"/>
              </a:ext>
            </a:extLst>
          </p:cNvPr>
          <p:cNvSpPr txBox="1"/>
          <p:nvPr/>
        </p:nvSpPr>
        <p:spPr>
          <a:xfrm>
            <a:off x="14706600" y="3281606"/>
            <a:ext cx="2438400" cy="230832"/>
          </a:xfrm>
          <a:prstGeom prst="rect">
            <a:avLst/>
          </a:prstGeom>
          <a:noFill/>
        </p:spPr>
        <p:txBody>
          <a:bodyPr vert="horz" wrap="square" lIns="0" tIns="0" rIns="0" bIns="0" rtlCol="0" anchor="ctr">
            <a:spAutoFit/>
          </a:bodyPr>
          <a:lstStyle/>
          <a:p>
            <a:r>
              <a:rPr lang="en-GB" sz="1500" b="1">
                <a:solidFill>
                  <a:srgbClr val="19263A"/>
                </a:solidFill>
                <a:latin typeface="Segoe UI Semibold" panose="020B0702040204020203" pitchFamily="34" charset="0"/>
              </a:rPr>
              <a:t>State + events</a:t>
            </a:r>
          </a:p>
        </p:txBody>
      </p:sp>
      <p:sp>
        <p:nvSpPr>
          <p:cNvPr id="32" name="TextBox 31">
            <a:extLst>
              <a:ext uri="{FF2B5EF4-FFF2-40B4-BE49-F238E27FC236}">
                <a16:creationId xmlns:a16="http://schemas.microsoft.com/office/drawing/2014/main" id="{B87A0761-21EC-EB96-C738-370FA8A0F2AD}"/>
              </a:ext>
            </a:extLst>
          </p:cNvPr>
          <p:cNvSpPr txBox="1"/>
          <p:nvPr/>
        </p:nvSpPr>
        <p:spPr>
          <a:xfrm>
            <a:off x="14706600" y="3657600"/>
            <a:ext cx="2438400" cy="530915"/>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MongoDB</a:t>
            </a:r>
          </a:p>
          <a:p>
            <a:r>
              <a:rPr lang="en-GB" sz="1150">
                <a:solidFill>
                  <a:srgbClr val="50627A"/>
                </a:solidFill>
                <a:latin typeface="Segoe UI" panose="020B0502040204020203" pitchFamily="34" charset="0"/>
              </a:rPr>
              <a:t>Valkey / BullMQ</a:t>
            </a:r>
          </a:p>
          <a:p>
            <a:r>
              <a:rPr lang="en-GB" sz="1150">
                <a:solidFill>
                  <a:srgbClr val="50627A"/>
                </a:solidFill>
                <a:latin typeface="Segoe UI" panose="020B0502040204020203" pitchFamily="34" charset="0"/>
              </a:rPr>
              <a:t>Socket.IO</a:t>
            </a:r>
          </a:p>
        </p:txBody>
      </p:sp>
      <p:cxnSp>
        <p:nvCxnSpPr>
          <p:cNvPr id="33" name="Straight Connector 32">
            <a:extLst>
              <a:ext uri="{FF2B5EF4-FFF2-40B4-BE49-F238E27FC236}">
                <a16:creationId xmlns:a16="http://schemas.microsoft.com/office/drawing/2014/main" id="{3EDC63C5-D7B8-8C09-BC79-584FBD470C07}"/>
              </a:ext>
            </a:extLst>
          </p:cNvPr>
          <p:cNvCxnSpPr/>
          <p:nvPr/>
        </p:nvCxnSpPr>
        <p:spPr>
          <a:xfrm>
            <a:off x="3708400" y="3619500"/>
            <a:ext cx="609600" cy="0"/>
          </a:xfrm>
          <a:prstGeom prst="line">
            <a:avLst/>
          </a:prstGeom>
          <a:ln w="38100">
            <a:solidFill>
              <a:srgbClr val="009DDC"/>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326CE23-F195-F71E-43F6-3D3D9E8F5A95}"/>
              </a:ext>
            </a:extLst>
          </p:cNvPr>
          <p:cNvCxnSpPr/>
          <p:nvPr/>
        </p:nvCxnSpPr>
        <p:spPr>
          <a:xfrm>
            <a:off x="7112000" y="3619500"/>
            <a:ext cx="609600" cy="0"/>
          </a:xfrm>
          <a:prstGeom prst="line">
            <a:avLst/>
          </a:prstGeom>
          <a:ln w="38100">
            <a:solidFill>
              <a:srgbClr val="009DDC"/>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32040A7-B692-69CC-AF72-4BFD2B499827}"/>
              </a:ext>
            </a:extLst>
          </p:cNvPr>
          <p:cNvCxnSpPr/>
          <p:nvPr/>
        </p:nvCxnSpPr>
        <p:spPr>
          <a:xfrm>
            <a:off x="10515600" y="3619500"/>
            <a:ext cx="609600" cy="0"/>
          </a:xfrm>
          <a:prstGeom prst="line">
            <a:avLst/>
          </a:prstGeom>
          <a:ln w="38100">
            <a:solidFill>
              <a:srgbClr val="009DDC"/>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8EDD59E-78F3-24AD-A44E-A397E7E7C1A4}"/>
              </a:ext>
            </a:extLst>
          </p:cNvPr>
          <p:cNvCxnSpPr/>
          <p:nvPr/>
        </p:nvCxnSpPr>
        <p:spPr>
          <a:xfrm>
            <a:off x="13919200" y="3619500"/>
            <a:ext cx="609600" cy="0"/>
          </a:xfrm>
          <a:prstGeom prst="line">
            <a:avLst/>
          </a:prstGeom>
          <a:ln w="38100">
            <a:solidFill>
              <a:srgbClr val="009DDC"/>
            </a:solidFill>
            <a:tailEnd type="arrow"/>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C2467CA1-7E0A-C25C-CE55-1F4755CB86AB}"/>
              </a:ext>
            </a:extLst>
          </p:cNvPr>
          <p:cNvSpPr txBox="1"/>
          <p:nvPr/>
        </p:nvSpPr>
        <p:spPr>
          <a:xfrm>
            <a:off x="4064000" y="2353720"/>
            <a:ext cx="2603500" cy="130805"/>
          </a:xfrm>
          <a:prstGeom prst="rect">
            <a:avLst/>
          </a:prstGeom>
          <a:noFill/>
        </p:spPr>
        <p:txBody>
          <a:bodyPr vert="horz" wrap="square" lIns="0" tIns="0" rIns="0" bIns="0" rtlCol="0" anchor="ctr">
            <a:spAutoFit/>
          </a:bodyPr>
          <a:lstStyle/>
          <a:p>
            <a:pPr algn="ctr"/>
            <a:r>
              <a:rPr lang="en-GB" sz="850">
                <a:solidFill>
                  <a:srgbClr val="708197"/>
                </a:solidFill>
                <a:latin typeface="Press Start 2P" panose="020B0604020202020204" charset="0"/>
              </a:rPr>
              <a:t>REQUEST / COMMAND</a:t>
            </a:r>
          </a:p>
        </p:txBody>
      </p:sp>
      <p:sp>
        <p:nvSpPr>
          <p:cNvPr id="38" name="TextBox 37">
            <a:extLst>
              <a:ext uri="{FF2B5EF4-FFF2-40B4-BE49-F238E27FC236}">
                <a16:creationId xmlns:a16="http://schemas.microsoft.com/office/drawing/2014/main" id="{1A3EA049-9B47-1C60-4A0E-D0209E4FE666}"/>
              </a:ext>
            </a:extLst>
          </p:cNvPr>
          <p:cNvSpPr txBox="1"/>
          <p:nvPr/>
        </p:nvSpPr>
        <p:spPr>
          <a:xfrm>
            <a:off x="7493000" y="2353720"/>
            <a:ext cx="3175000" cy="130805"/>
          </a:xfrm>
          <a:prstGeom prst="rect">
            <a:avLst/>
          </a:prstGeom>
          <a:noFill/>
        </p:spPr>
        <p:txBody>
          <a:bodyPr vert="horz" wrap="square" lIns="0" tIns="0" rIns="0" bIns="0" rtlCol="0" anchor="ctr">
            <a:spAutoFit/>
          </a:bodyPr>
          <a:lstStyle/>
          <a:p>
            <a:pPr algn="ctr"/>
            <a:r>
              <a:rPr lang="en-GB" sz="850">
                <a:solidFill>
                  <a:srgbClr val="708197"/>
                </a:solidFill>
                <a:latin typeface="Press Start 2P" panose="020B0604020202020204" charset="0"/>
              </a:rPr>
              <a:t>VALIDATE + AUTHORIZE</a:t>
            </a:r>
          </a:p>
        </p:txBody>
      </p:sp>
      <p:sp>
        <p:nvSpPr>
          <p:cNvPr id="39" name="TextBox 38">
            <a:extLst>
              <a:ext uri="{FF2B5EF4-FFF2-40B4-BE49-F238E27FC236}">
                <a16:creationId xmlns:a16="http://schemas.microsoft.com/office/drawing/2014/main" id="{0DCE13B9-9BF6-2E8B-F7F9-6CB247128C2E}"/>
              </a:ext>
            </a:extLst>
          </p:cNvPr>
          <p:cNvSpPr txBox="1"/>
          <p:nvPr/>
        </p:nvSpPr>
        <p:spPr>
          <a:xfrm>
            <a:off x="11430000" y="2353720"/>
            <a:ext cx="2603500" cy="130805"/>
          </a:xfrm>
          <a:prstGeom prst="rect">
            <a:avLst/>
          </a:prstGeom>
          <a:noFill/>
        </p:spPr>
        <p:txBody>
          <a:bodyPr vert="horz" wrap="square" lIns="0" tIns="0" rIns="0" bIns="0" rtlCol="0" anchor="ctr">
            <a:spAutoFit/>
          </a:bodyPr>
          <a:lstStyle/>
          <a:p>
            <a:pPr algn="ctr"/>
            <a:r>
              <a:rPr lang="en-GB" sz="850">
                <a:solidFill>
                  <a:srgbClr val="708197"/>
                </a:solidFill>
                <a:latin typeface="Press Start 2P" panose="020B0604020202020204" charset="0"/>
              </a:rPr>
              <a:t>PERSIST + QUEUE</a:t>
            </a:r>
          </a:p>
        </p:txBody>
      </p:sp>
      <p:sp>
        <p:nvSpPr>
          <p:cNvPr id="40" name="Rectangle: Rounded Corners 39">
            <a:extLst>
              <a:ext uri="{FF2B5EF4-FFF2-40B4-BE49-F238E27FC236}">
                <a16:creationId xmlns:a16="http://schemas.microsoft.com/office/drawing/2014/main" id="{1D982676-369E-4B2A-4968-CAA8E8F25F34}"/>
              </a:ext>
            </a:extLst>
          </p:cNvPr>
          <p:cNvSpPr/>
          <p:nvPr/>
        </p:nvSpPr>
        <p:spPr>
          <a:xfrm>
            <a:off x="914400" y="5105400"/>
            <a:ext cx="16408400" cy="28702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D8FFF148-E2DE-B52B-705D-3E3410DD1B35}"/>
              </a:ext>
            </a:extLst>
          </p:cNvPr>
          <p:cNvSpPr txBox="1"/>
          <p:nvPr/>
        </p:nvSpPr>
        <p:spPr>
          <a:xfrm>
            <a:off x="1219200" y="5377478"/>
            <a:ext cx="5461000" cy="153888"/>
          </a:xfrm>
          <a:prstGeom prst="rect">
            <a:avLst/>
          </a:prstGeom>
          <a:noFill/>
        </p:spPr>
        <p:txBody>
          <a:bodyPr vert="horz" wrap="square" lIns="0" tIns="0" rIns="0" bIns="0" rtlCol="0" anchor="ctr">
            <a:spAutoFit/>
          </a:bodyPr>
          <a:lstStyle/>
          <a:p>
            <a:r>
              <a:rPr lang="en-GB" sz="1000">
                <a:solidFill>
                  <a:srgbClr val="009DDC"/>
                </a:solidFill>
                <a:latin typeface="Press Start 2P" panose="020B0604020202020204" charset="0"/>
              </a:rPr>
              <a:t>ASYNC + SPECIALIZED EXECUTION</a:t>
            </a:r>
          </a:p>
        </p:txBody>
      </p:sp>
      <p:sp>
        <p:nvSpPr>
          <p:cNvPr id="42" name="Rectangle: Rounded Corners 41">
            <a:extLst>
              <a:ext uri="{FF2B5EF4-FFF2-40B4-BE49-F238E27FC236}">
                <a16:creationId xmlns:a16="http://schemas.microsoft.com/office/drawing/2014/main" id="{372A3E18-B197-D7F8-FB49-772099106D33}"/>
              </a:ext>
            </a:extLst>
          </p:cNvPr>
          <p:cNvSpPr/>
          <p:nvPr/>
        </p:nvSpPr>
        <p:spPr>
          <a:xfrm>
            <a:off x="1219200" y="5854700"/>
            <a:ext cx="3302000" cy="16256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Rounded Corners 42">
            <a:extLst>
              <a:ext uri="{FF2B5EF4-FFF2-40B4-BE49-F238E27FC236}">
                <a16:creationId xmlns:a16="http://schemas.microsoft.com/office/drawing/2014/main" id="{652D93A2-11DC-350F-33D6-D96D4CCF9683}"/>
              </a:ext>
            </a:extLst>
          </p:cNvPr>
          <p:cNvSpPr/>
          <p:nvPr/>
        </p:nvSpPr>
        <p:spPr>
          <a:xfrm>
            <a:off x="1397000" y="6007100"/>
            <a:ext cx="889000" cy="3556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TextBox 43">
            <a:extLst>
              <a:ext uri="{FF2B5EF4-FFF2-40B4-BE49-F238E27FC236}">
                <a16:creationId xmlns:a16="http://schemas.microsoft.com/office/drawing/2014/main" id="{107DC351-0B1D-39DF-3D99-3C1C3F0F79F4}"/>
              </a:ext>
            </a:extLst>
          </p:cNvPr>
          <p:cNvSpPr txBox="1"/>
          <p:nvPr/>
        </p:nvSpPr>
        <p:spPr>
          <a:xfrm>
            <a:off x="1397000" y="6045572"/>
            <a:ext cx="889000" cy="189796"/>
          </a:xfrm>
          <a:prstGeom prst="rect">
            <a:avLst/>
          </a:prstGeom>
          <a:noFill/>
        </p:spPr>
        <p:txBody>
          <a:bodyPr vert="horz" wrap="square" lIns="25400" tIns="25400" rIns="25400" bIns="25400" rtlCol="0" anchor="ctr">
            <a:spAutoFit/>
          </a:bodyPr>
          <a:lstStyle/>
          <a:p>
            <a:pPr algn="ctr"/>
            <a:r>
              <a:rPr lang="en-GB" sz="900" b="1">
                <a:solidFill>
                  <a:srgbClr val="009DDC"/>
                </a:solidFill>
                <a:latin typeface="Segoe UI Semibold" panose="020B0702040204020203" pitchFamily="34" charset="0"/>
              </a:rPr>
              <a:t>QUEUE</a:t>
            </a:r>
          </a:p>
        </p:txBody>
      </p:sp>
      <p:sp>
        <p:nvSpPr>
          <p:cNvPr id="45" name="TextBox 44">
            <a:extLst>
              <a:ext uri="{FF2B5EF4-FFF2-40B4-BE49-F238E27FC236}">
                <a16:creationId xmlns:a16="http://schemas.microsoft.com/office/drawing/2014/main" id="{5255C37C-6AF4-AD0C-6A5A-26646BAB2AAF}"/>
              </a:ext>
            </a:extLst>
          </p:cNvPr>
          <p:cNvSpPr txBox="1"/>
          <p:nvPr/>
        </p:nvSpPr>
        <p:spPr>
          <a:xfrm>
            <a:off x="1397000" y="6469306"/>
            <a:ext cx="2946400" cy="230832"/>
          </a:xfrm>
          <a:prstGeom prst="rect">
            <a:avLst/>
          </a:prstGeom>
          <a:noFill/>
        </p:spPr>
        <p:txBody>
          <a:bodyPr vert="horz" wrap="square" lIns="0" tIns="0" rIns="0" bIns="0" rtlCol="0" anchor="ctr">
            <a:spAutoFit/>
          </a:bodyPr>
          <a:lstStyle/>
          <a:p>
            <a:r>
              <a:rPr lang="en-GB" sz="1500" b="1">
                <a:solidFill>
                  <a:srgbClr val="19263A"/>
                </a:solidFill>
                <a:latin typeface="Segoe UI Semibold" panose="020B0702040204020203" pitchFamily="34" charset="0"/>
              </a:rPr>
              <a:t>Tracked job</a:t>
            </a:r>
          </a:p>
        </p:txBody>
      </p:sp>
      <p:sp>
        <p:nvSpPr>
          <p:cNvPr id="46" name="TextBox 45">
            <a:extLst>
              <a:ext uri="{FF2B5EF4-FFF2-40B4-BE49-F238E27FC236}">
                <a16:creationId xmlns:a16="http://schemas.microsoft.com/office/drawing/2014/main" id="{1CF05471-C18D-BAB0-43D1-7B5FD7CED804}"/>
              </a:ext>
            </a:extLst>
          </p:cNvPr>
          <p:cNvSpPr txBox="1"/>
          <p:nvPr/>
        </p:nvSpPr>
        <p:spPr>
          <a:xfrm>
            <a:off x="1397000" y="6845300"/>
            <a:ext cx="2946400" cy="353943"/>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API creates job ID, applies limits and returns status.</a:t>
            </a:r>
          </a:p>
        </p:txBody>
      </p:sp>
      <p:sp>
        <p:nvSpPr>
          <p:cNvPr id="47" name="Rectangle: Rounded Corners 46">
            <a:extLst>
              <a:ext uri="{FF2B5EF4-FFF2-40B4-BE49-F238E27FC236}">
                <a16:creationId xmlns:a16="http://schemas.microsoft.com/office/drawing/2014/main" id="{2B82DBC2-5394-C6A9-41CD-105A9E43EB40}"/>
              </a:ext>
            </a:extLst>
          </p:cNvPr>
          <p:cNvSpPr/>
          <p:nvPr/>
        </p:nvSpPr>
        <p:spPr>
          <a:xfrm>
            <a:off x="5181600" y="5854700"/>
            <a:ext cx="3302000" cy="16256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Rounded Corners 47">
            <a:extLst>
              <a:ext uri="{FF2B5EF4-FFF2-40B4-BE49-F238E27FC236}">
                <a16:creationId xmlns:a16="http://schemas.microsoft.com/office/drawing/2014/main" id="{3DB2CF58-906A-DA66-39B3-484BCE226140}"/>
              </a:ext>
            </a:extLst>
          </p:cNvPr>
          <p:cNvSpPr/>
          <p:nvPr/>
        </p:nvSpPr>
        <p:spPr>
          <a:xfrm>
            <a:off x="5359400" y="6007100"/>
            <a:ext cx="889000" cy="355600"/>
          </a:xfrm>
          <a:prstGeom prst="roundRect">
            <a:avLst/>
          </a:prstGeom>
          <a:solidFill>
            <a:srgbClr val="EFE9FC"/>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9" name="TextBox 48">
            <a:extLst>
              <a:ext uri="{FF2B5EF4-FFF2-40B4-BE49-F238E27FC236}">
                <a16:creationId xmlns:a16="http://schemas.microsoft.com/office/drawing/2014/main" id="{FDDA9797-9ECD-5AB0-238A-E34DCE33D6D9}"/>
              </a:ext>
            </a:extLst>
          </p:cNvPr>
          <p:cNvSpPr txBox="1"/>
          <p:nvPr/>
        </p:nvSpPr>
        <p:spPr>
          <a:xfrm>
            <a:off x="5359400" y="6045572"/>
            <a:ext cx="889000" cy="189796"/>
          </a:xfrm>
          <a:prstGeom prst="rect">
            <a:avLst/>
          </a:prstGeom>
          <a:noFill/>
        </p:spPr>
        <p:txBody>
          <a:bodyPr vert="horz" wrap="square" lIns="25400" tIns="25400" rIns="25400" bIns="25400" rtlCol="0" anchor="ctr">
            <a:spAutoFit/>
          </a:bodyPr>
          <a:lstStyle/>
          <a:p>
            <a:pPr algn="ctr"/>
            <a:r>
              <a:rPr lang="en-GB" sz="900" b="1">
                <a:solidFill>
                  <a:srgbClr val="7354BD"/>
                </a:solidFill>
                <a:latin typeface="Segoe UI Semibold" panose="020B0702040204020203" pitchFamily="34" charset="0"/>
              </a:rPr>
              <a:t>WORKER</a:t>
            </a:r>
          </a:p>
        </p:txBody>
      </p:sp>
      <p:sp>
        <p:nvSpPr>
          <p:cNvPr id="50" name="TextBox 49">
            <a:extLst>
              <a:ext uri="{FF2B5EF4-FFF2-40B4-BE49-F238E27FC236}">
                <a16:creationId xmlns:a16="http://schemas.microsoft.com/office/drawing/2014/main" id="{4002D18C-8AB2-61A7-356B-0582F322599B}"/>
              </a:ext>
            </a:extLst>
          </p:cNvPr>
          <p:cNvSpPr txBox="1"/>
          <p:nvPr/>
        </p:nvSpPr>
        <p:spPr>
          <a:xfrm>
            <a:off x="5359400" y="6469306"/>
            <a:ext cx="2946400" cy="230832"/>
          </a:xfrm>
          <a:prstGeom prst="rect">
            <a:avLst/>
          </a:prstGeom>
          <a:noFill/>
        </p:spPr>
        <p:txBody>
          <a:bodyPr vert="horz" wrap="square" lIns="0" tIns="0" rIns="0" bIns="0" rtlCol="0" anchor="ctr">
            <a:spAutoFit/>
          </a:bodyPr>
          <a:lstStyle/>
          <a:p>
            <a:r>
              <a:rPr lang="en-GB" sz="1500" b="1">
                <a:solidFill>
                  <a:srgbClr val="19263A"/>
                </a:solidFill>
                <a:latin typeface="Segoe UI Semibold" panose="020B0702040204020203" pitchFamily="34" charset="0"/>
              </a:rPr>
              <a:t>Controlled execution</a:t>
            </a:r>
          </a:p>
        </p:txBody>
      </p:sp>
      <p:sp>
        <p:nvSpPr>
          <p:cNvPr id="51" name="TextBox 50">
            <a:extLst>
              <a:ext uri="{FF2B5EF4-FFF2-40B4-BE49-F238E27FC236}">
                <a16:creationId xmlns:a16="http://schemas.microsoft.com/office/drawing/2014/main" id="{BCCEEC4F-48CF-E478-A237-24D84D0A05F2}"/>
              </a:ext>
            </a:extLst>
          </p:cNvPr>
          <p:cNvSpPr txBox="1"/>
          <p:nvPr/>
        </p:nvSpPr>
        <p:spPr>
          <a:xfrm>
            <a:off x="5359400" y="6845300"/>
            <a:ext cx="2946400" cy="353943"/>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Dedicated worker retries, fails over and applies backpressure.</a:t>
            </a:r>
          </a:p>
        </p:txBody>
      </p:sp>
      <p:sp>
        <p:nvSpPr>
          <p:cNvPr id="52" name="Rectangle: Rounded Corners 51">
            <a:extLst>
              <a:ext uri="{FF2B5EF4-FFF2-40B4-BE49-F238E27FC236}">
                <a16:creationId xmlns:a16="http://schemas.microsoft.com/office/drawing/2014/main" id="{482F1304-4A52-9A47-F055-CC6ED6D22E3D}"/>
              </a:ext>
            </a:extLst>
          </p:cNvPr>
          <p:cNvSpPr/>
          <p:nvPr/>
        </p:nvSpPr>
        <p:spPr>
          <a:xfrm>
            <a:off x="9144000" y="5854700"/>
            <a:ext cx="3302000" cy="16256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Rectangle: Rounded Corners 52">
            <a:extLst>
              <a:ext uri="{FF2B5EF4-FFF2-40B4-BE49-F238E27FC236}">
                <a16:creationId xmlns:a16="http://schemas.microsoft.com/office/drawing/2014/main" id="{1C3858D7-2E26-D9F6-DC6D-AB8126613206}"/>
              </a:ext>
            </a:extLst>
          </p:cNvPr>
          <p:cNvSpPr/>
          <p:nvPr/>
        </p:nvSpPr>
        <p:spPr>
          <a:xfrm>
            <a:off x="9321800" y="6007100"/>
            <a:ext cx="889000" cy="355600"/>
          </a:xfrm>
          <a:prstGeom prst="roundRect">
            <a:avLst/>
          </a:prstGeom>
          <a:solidFill>
            <a:srgbClr val="FFF4DE"/>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4" name="TextBox 53">
            <a:extLst>
              <a:ext uri="{FF2B5EF4-FFF2-40B4-BE49-F238E27FC236}">
                <a16:creationId xmlns:a16="http://schemas.microsoft.com/office/drawing/2014/main" id="{F6338088-2D9D-DA75-D118-768A39F11408}"/>
              </a:ext>
            </a:extLst>
          </p:cNvPr>
          <p:cNvSpPr txBox="1"/>
          <p:nvPr/>
        </p:nvSpPr>
        <p:spPr>
          <a:xfrm>
            <a:off x="9321800" y="6045572"/>
            <a:ext cx="889000" cy="189796"/>
          </a:xfrm>
          <a:prstGeom prst="rect">
            <a:avLst/>
          </a:prstGeom>
          <a:noFill/>
        </p:spPr>
        <p:txBody>
          <a:bodyPr vert="horz" wrap="square" lIns="25400" tIns="25400" rIns="25400" bIns="25400" rtlCol="0" anchor="ctr">
            <a:spAutoFit/>
          </a:bodyPr>
          <a:lstStyle/>
          <a:p>
            <a:pPr algn="ctr"/>
            <a:r>
              <a:rPr lang="en-GB" sz="900" b="1">
                <a:solidFill>
                  <a:srgbClr val="F4A431"/>
                </a:solidFill>
                <a:latin typeface="Segoe UI Semibold" panose="020B0702040204020203" pitchFamily="34" charset="0"/>
              </a:rPr>
              <a:t>JUDGE0</a:t>
            </a:r>
          </a:p>
        </p:txBody>
      </p:sp>
      <p:sp>
        <p:nvSpPr>
          <p:cNvPr id="55" name="TextBox 54">
            <a:extLst>
              <a:ext uri="{FF2B5EF4-FFF2-40B4-BE49-F238E27FC236}">
                <a16:creationId xmlns:a16="http://schemas.microsoft.com/office/drawing/2014/main" id="{9F066523-0BA2-2DA9-AC8C-E2DFED470785}"/>
              </a:ext>
            </a:extLst>
          </p:cNvPr>
          <p:cNvSpPr txBox="1"/>
          <p:nvPr/>
        </p:nvSpPr>
        <p:spPr>
          <a:xfrm>
            <a:off x="9321800" y="6469306"/>
            <a:ext cx="2946400" cy="230832"/>
          </a:xfrm>
          <a:prstGeom prst="rect">
            <a:avLst/>
          </a:prstGeom>
          <a:noFill/>
        </p:spPr>
        <p:txBody>
          <a:bodyPr vert="horz" wrap="square" lIns="0" tIns="0" rIns="0" bIns="0" rtlCol="0" anchor="ctr">
            <a:spAutoFit/>
          </a:bodyPr>
          <a:lstStyle/>
          <a:p>
            <a:r>
              <a:rPr lang="en-GB" sz="1500" b="1">
                <a:solidFill>
                  <a:srgbClr val="19263A"/>
                </a:solidFill>
                <a:latin typeface="Segoe UI Semibold" panose="020B0702040204020203" pitchFamily="34" charset="0"/>
              </a:rPr>
              <a:t>Sandboxed code</a:t>
            </a:r>
          </a:p>
        </p:txBody>
      </p:sp>
      <p:sp>
        <p:nvSpPr>
          <p:cNvPr id="56" name="TextBox 55">
            <a:extLst>
              <a:ext uri="{FF2B5EF4-FFF2-40B4-BE49-F238E27FC236}">
                <a16:creationId xmlns:a16="http://schemas.microsoft.com/office/drawing/2014/main" id="{0E7DAB33-8CE2-9789-557A-74062BD83D9E}"/>
              </a:ext>
            </a:extLst>
          </p:cNvPr>
          <p:cNvSpPr txBox="1"/>
          <p:nvPr/>
        </p:nvSpPr>
        <p:spPr>
          <a:xfrm>
            <a:off x="9321800" y="6845300"/>
            <a:ext cx="2946400" cy="353943"/>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Compiler verdict, time and memory return to PeerPrep.</a:t>
            </a:r>
          </a:p>
        </p:txBody>
      </p:sp>
      <p:sp>
        <p:nvSpPr>
          <p:cNvPr id="57" name="Rectangle: Rounded Corners 56">
            <a:extLst>
              <a:ext uri="{FF2B5EF4-FFF2-40B4-BE49-F238E27FC236}">
                <a16:creationId xmlns:a16="http://schemas.microsoft.com/office/drawing/2014/main" id="{7BA4CB0B-BD7F-7341-C438-B86A34A8B068}"/>
              </a:ext>
            </a:extLst>
          </p:cNvPr>
          <p:cNvSpPr/>
          <p:nvPr/>
        </p:nvSpPr>
        <p:spPr>
          <a:xfrm>
            <a:off x="13106400" y="5854700"/>
            <a:ext cx="3860800" cy="16256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8" name="Rectangle: Rounded Corners 57">
            <a:extLst>
              <a:ext uri="{FF2B5EF4-FFF2-40B4-BE49-F238E27FC236}">
                <a16:creationId xmlns:a16="http://schemas.microsoft.com/office/drawing/2014/main" id="{CFE462A5-859C-4F0C-9A7C-281EDBCF9EF8}"/>
              </a:ext>
            </a:extLst>
          </p:cNvPr>
          <p:cNvSpPr/>
          <p:nvPr/>
        </p:nvSpPr>
        <p:spPr>
          <a:xfrm>
            <a:off x="13284200" y="6007100"/>
            <a:ext cx="889000" cy="355600"/>
          </a:xfrm>
          <a:prstGeom prst="roundRect">
            <a:avLst/>
          </a:prstGeom>
          <a:solidFill>
            <a:srgbClr val="E1F7EC"/>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9" name="TextBox 58">
            <a:extLst>
              <a:ext uri="{FF2B5EF4-FFF2-40B4-BE49-F238E27FC236}">
                <a16:creationId xmlns:a16="http://schemas.microsoft.com/office/drawing/2014/main" id="{1B7E06D9-2CDB-6DB9-17FE-39311434C824}"/>
              </a:ext>
            </a:extLst>
          </p:cNvPr>
          <p:cNvSpPr txBox="1"/>
          <p:nvPr/>
        </p:nvSpPr>
        <p:spPr>
          <a:xfrm>
            <a:off x="13284200" y="6045572"/>
            <a:ext cx="889000" cy="189796"/>
          </a:xfrm>
          <a:prstGeom prst="rect">
            <a:avLst/>
          </a:prstGeom>
          <a:noFill/>
        </p:spPr>
        <p:txBody>
          <a:bodyPr vert="horz" wrap="square" lIns="25400" tIns="25400" rIns="25400" bIns="25400" rtlCol="0" anchor="ctr">
            <a:spAutoFit/>
          </a:bodyPr>
          <a:lstStyle/>
          <a:p>
            <a:pPr algn="ctr"/>
            <a:r>
              <a:rPr lang="en-GB" sz="900" b="1">
                <a:solidFill>
                  <a:srgbClr val="26A65B"/>
                </a:solidFill>
                <a:latin typeface="Segoe UI Semibold" panose="020B0702040204020203" pitchFamily="34" charset="0"/>
              </a:rPr>
              <a:t>INSIGHT</a:t>
            </a:r>
          </a:p>
        </p:txBody>
      </p:sp>
      <p:sp>
        <p:nvSpPr>
          <p:cNvPr id="60" name="TextBox 59">
            <a:extLst>
              <a:ext uri="{FF2B5EF4-FFF2-40B4-BE49-F238E27FC236}">
                <a16:creationId xmlns:a16="http://schemas.microsoft.com/office/drawing/2014/main" id="{761E79A6-74AB-8EC2-BC33-EA56056AAEC4}"/>
              </a:ext>
            </a:extLst>
          </p:cNvPr>
          <p:cNvSpPr txBox="1"/>
          <p:nvPr/>
        </p:nvSpPr>
        <p:spPr>
          <a:xfrm>
            <a:off x="13284200" y="6469306"/>
            <a:ext cx="3505200" cy="230832"/>
          </a:xfrm>
          <a:prstGeom prst="rect">
            <a:avLst/>
          </a:prstGeom>
          <a:noFill/>
        </p:spPr>
        <p:txBody>
          <a:bodyPr vert="horz" wrap="square" lIns="0" tIns="0" rIns="0" bIns="0" rtlCol="0" anchor="ctr">
            <a:spAutoFit/>
          </a:bodyPr>
          <a:lstStyle/>
          <a:p>
            <a:r>
              <a:rPr lang="en-GB" sz="1500" b="1">
                <a:solidFill>
                  <a:srgbClr val="19263A"/>
                </a:solidFill>
                <a:latin typeface="Segoe UI Semibold" panose="020B0702040204020203" pitchFamily="34" charset="0"/>
              </a:rPr>
              <a:t>Evidence loop</a:t>
            </a:r>
          </a:p>
        </p:txBody>
      </p:sp>
      <p:sp>
        <p:nvSpPr>
          <p:cNvPr id="61" name="TextBox 60">
            <a:extLst>
              <a:ext uri="{FF2B5EF4-FFF2-40B4-BE49-F238E27FC236}">
                <a16:creationId xmlns:a16="http://schemas.microsoft.com/office/drawing/2014/main" id="{B3715667-EC4F-7684-A045-36C848C59502}"/>
              </a:ext>
            </a:extLst>
          </p:cNvPr>
          <p:cNvSpPr txBox="1"/>
          <p:nvPr/>
        </p:nvSpPr>
        <p:spPr>
          <a:xfrm>
            <a:off x="13284200" y="6845300"/>
            <a:ext cx="3505200" cy="353943"/>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Results update analytics, notifications and next actions.</a:t>
            </a:r>
          </a:p>
        </p:txBody>
      </p:sp>
      <p:cxnSp>
        <p:nvCxnSpPr>
          <p:cNvPr id="62" name="Straight Connector 61">
            <a:extLst>
              <a:ext uri="{FF2B5EF4-FFF2-40B4-BE49-F238E27FC236}">
                <a16:creationId xmlns:a16="http://schemas.microsoft.com/office/drawing/2014/main" id="{141D1FF3-DE58-85E6-FB2B-C2A5BD806F4B}"/>
              </a:ext>
            </a:extLst>
          </p:cNvPr>
          <p:cNvCxnSpPr/>
          <p:nvPr/>
        </p:nvCxnSpPr>
        <p:spPr>
          <a:xfrm>
            <a:off x="4521200" y="6667500"/>
            <a:ext cx="660400" cy="0"/>
          </a:xfrm>
          <a:prstGeom prst="line">
            <a:avLst/>
          </a:prstGeom>
          <a:ln w="38100">
            <a:solidFill>
              <a:srgbClr val="009DDC"/>
            </a:solidFill>
            <a:tailEnd type="arrow"/>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329DBC95-4266-3F86-C10D-EB43CDDC7E84}"/>
              </a:ext>
            </a:extLst>
          </p:cNvPr>
          <p:cNvCxnSpPr/>
          <p:nvPr/>
        </p:nvCxnSpPr>
        <p:spPr>
          <a:xfrm>
            <a:off x="8483600" y="6667500"/>
            <a:ext cx="660400" cy="0"/>
          </a:xfrm>
          <a:prstGeom prst="line">
            <a:avLst/>
          </a:prstGeom>
          <a:ln w="38100">
            <a:solidFill>
              <a:srgbClr val="009DDC"/>
            </a:solidFill>
            <a:tailEnd type="arrow"/>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94EAFB68-0113-C795-D627-BC3793807EEB}"/>
              </a:ext>
            </a:extLst>
          </p:cNvPr>
          <p:cNvCxnSpPr/>
          <p:nvPr/>
        </p:nvCxnSpPr>
        <p:spPr>
          <a:xfrm>
            <a:off x="12446000" y="6667500"/>
            <a:ext cx="660400" cy="0"/>
          </a:xfrm>
          <a:prstGeom prst="line">
            <a:avLst/>
          </a:prstGeom>
          <a:ln w="38100">
            <a:solidFill>
              <a:srgbClr val="009DDC"/>
            </a:solidFill>
            <a:tailEnd type="arrow"/>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ABC54A21-A6CB-D740-B47E-2C2BD5C6B457}"/>
              </a:ext>
            </a:extLst>
          </p:cNvPr>
          <p:cNvCxnSpPr/>
          <p:nvPr/>
        </p:nvCxnSpPr>
        <p:spPr>
          <a:xfrm>
            <a:off x="15036800" y="7493000"/>
            <a:ext cx="0" cy="889000"/>
          </a:xfrm>
          <a:prstGeom prst="line">
            <a:avLst/>
          </a:prstGeom>
          <a:ln w="25400">
            <a:solidFill>
              <a:srgbClr val="26A65B"/>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73827372-853B-7DE2-F444-097F8F749A11}"/>
              </a:ext>
            </a:extLst>
          </p:cNvPr>
          <p:cNvCxnSpPr/>
          <p:nvPr/>
        </p:nvCxnSpPr>
        <p:spPr>
          <a:xfrm flipH="1">
            <a:off x="5842000" y="8382000"/>
            <a:ext cx="9194800" cy="0"/>
          </a:xfrm>
          <a:prstGeom prst="line">
            <a:avLst/>
          </a:prstGeom>
          <a:ln w="25400">
            <a:solidFill>
              <a:srgbClr val="26A65B"/>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8C998BE-C7C4-A602-3E6C-101265633047}"/>
              </a:ext>
            </a:extLst>
          </p:cNvPr>
          <p:cNvCxnSpPr/>
          <p:nvPr/>
        </p:nvCxnSpPr>
        <p:spPr>
          <a:xfrm flipV="1">
            <a:off x="5842000" y="7975600"/>
            <a:ext cx="0" cy="406400"/>
          </a:xfrm>
          <a:prstGeom prst="line">
            <a:avLst/>
          </a:prstGeom>
          <a:ln w="25400">
            <a:solidFill>
              <a:srgbClr val="26A65B"/>
            </a:solidFill>
            <a:tailEnd type="arrow"/>
          </a:ln>
        </p:spPr>
        <p:style>
          <a:lnRef idx="1">
            <a:schemeClr val="accent1"/>
          </a:lnRef>
          <a:fillRef idx="0">
            <a:schemeClr val="accent1"/>
          </a:fillRef>
          <a:effectRef idx="0">
            <a:schemeClr val="accent1"/>
          </a:effectRef>
          <a:fontRef idx="minor">
            <a:schemeClr val="tx1"/>
          </a:fontRef>
        </p:style>
      </p:cxnSp>
      <p:sp>
        <p:nvSpPr>
          <p:cNvPr id="132" name="TextBox 131">
            <a:extLst>
              <a:ext uri="{FF2B5EF4-FFF2-40B4-BE49-F238E27FC236}">
                <a16:creationId xmlns:a16="http://schemas.microsoft.com/office/drawing/2014/main" id="{853D116D-00CF-5D0A-28C4-12883171FA32}"/>
              </a:ext>
            </a:extLst>
          </p:cNvPr>
          <p:cNvSpPr txBox="1"/>
          <p:nvPr/>
        </p:nvSpPr>
        <p:spPr>
          <a:xfrm>
            <a:off x="7175500" y="8195720"/>
            <a:ext cx="6604000" cy="130805"/>
          </a:xfrm>
          <a:prstGeom prst="rect">
            <a:avLst/>
          </a:prstGeom>
          <a:noFill/>
        </p:spPr>
        <p:txBody>
          <a:bodyPr vert="horz" wrap="square" lIns="0" tIns="0" rIns="0" bIns="0" rtlCol="0" anchor="ctr">
            <a:spAutoFit/>
          </a:bodyPr>
          <a:lstStyle/>
          <a:p>
            <a:pPr algn="ctr"/>
            <a:r>
              <a:rPr lang="en-GB" sz="850">
                <a:solidFill>
                  <a:srgbClr val="26A65B"/>
                </a:solidFill>
                <a:latin typeface="Press Start 2P" panose="020B0604020202020204" charset="0"/>
              </a:rPr>
              <a:t>RESULT -&gt; PROFILE -&gt; SKILL GAP -&gt; RECOMMENDED NEXT ACTION</a:t>
            </a:r>
          </a:p>
        </p:txBody>
      </p:sp>
      <p:sp>
        <p:nvSpPr>
          <p:cNvPr id="133" name="TextBox 132">
            <a:extLst>
              <a:ext uri="{FF2B5EF4-FFF2-40B4-BE49-F238E27FC236}">
                <a16:creationId xmlns:a16="http://schemas.microsoft.com/office/drawing/2014/main" id="{FBF2542A-3341-6A6C-E5C6-B60218925C82}"/>
              </a:ext>
            </a:extLst>
          </p:cNvPr>
          <p:cNvSpPr txBox="1"/>
          <p:nvPr/>
        </p:nvSpPr>
        <p:spPr>
          <a:xfrm>
            <a:off x="2286000" y="8807636"/>
            <a:ext cx="13716000" cy="176972"/>
          </a:xfrm>
          <a:prstGeom prst="rect">
            <a:avLst/>
          </a:prstGeom>
          <a:noFill/>
        </p:spPr>
        <p:txBody>
          <a:bodyPr vert="horz" wrap="square" lIns="0" tIns="0" rIns="0" bIns="0" rtlCol="0" anchor="ctr">
            <a:spAutoFit/>
          </a:bodyPr>
          <a:lstStyle/>
          <a:p>
            <a:pPr algn="ctr"/>
            <a:r>
              <a:rPr lang="en-GB" sz="1150">
                <a:solidFill>
                  <a:srgbClr val="50627A"/>
                </a:solidFill>
                <a:latin typeface="Segoe UI" panose="020B0502040204020203" pitchFamily="34" charset="0"/>
              </a:rPr>
              <a:t>Browser-side monitoring uses MediaPipe / TensorFlow.js; authenticated Socket.IO delivers personal notifications.</a:t>
            </a:r>
          </a:p>
        </p:txBody>
      </p:sp>
    </p:spTree>
    <p:extLst>
      <p:ext uri="{BB962C8B-B14F-4D97-AF65-F5344CB8AC3E}">
        <p14:creationId xmlns:p14="http://schemas.microsoft.com/office/powerpoint/2010/main" val="1857190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Google Shape;154;p17">
            <a:extLst>
              <a:ext uri="{FF2B5EF4-FFF2-40B4-BE49-F238E27FC236}">
                <a16:creationId xmlns:a16="http://schemas.microsoft.com/office/drawing/2014/main" id="{C23F4546-369F-49F5-B176-42643F71D5A9}"/>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rotWithShape="1">
            <a:blip r:embed="rId3">
              <a:alphaModFix/>
            </a:blip>
            <a:stretch>
              <a:fillRect l="-24627" r="-24627"/>
            </a:stretch>
          </a:blipFill>
          <a:ln>
            <a:noFill/>
          </a:ln>
        </p:spPr>
      </p:sp>
      <p:sp>
        <p:nvSpPr>
          <p:cNvPr id="156" name="Google Shape;156;p17">
            <a:extLst>
              <a:ext uri="{FF2B5EF4-FFF2-40B4-BE49-F238E27FC236}">
                <a16:creationId xmlns:a16="http://schemas.microsoft.com/office/drawing/2014/main" id="{E590E338-AE5D-4FF7-AF38-AF5FD42E4151}"/>
              </a:ext>
            </a:extLst>
          </p:cNvPr>
          <p:cNvSpPr>
            <a:spLocks noGrp="1"/>
          </p:cNvSpPr>
          <p:nvPr/>
        </p:nvSpPr>
        <p:spPr>
          <a:xfrm>
            <a:off x="772625" y="2057400"/>
            <a:ext cx="16742749" cy="7534412"/>
          </a:xfrm>
          <a:custGeom>
            <a:avLst/>
            <a:gdLst/>
            <a:ahLst/>
            <a:cxnLst/>
            <a:rect l="l" t="t" r="r" b="b"/>
            <a:pathLst>
              <a:path w="4409613" h="1984372">
                <a:moveTo>
                  <a:pt x="23583" y="0"/>
                </a:moveTo>
                <a:lnTo>
                  <a:pt x="4386031" y="0"/>
                </a:lnTo>
                <a:cubicBezTo>
                  <a:pt x="4399055" y="0"/>
                  <a:pt x="4409613" y="10558"/>
                  <a:pt x="4409613" y="23583"/>
                </a:cubicBezTo>
                <a:lnTo>
                  <a:pt x="4409613" y="1960789"/>
                </a:lnTo>
                <a:cubicBezTo>
                  <a:pt x="4409613" y="1967043"/>
                  <a:pt x="4407129" y="1973042"/>
                  <a:pt x="4402706" y="1977465"/>
                </a:cubicBezTo>
                <a:cubicBezTo>
                  <a:pt x="4398283" y="1981887"/>
                  <a:pt x="4392285" y="1984372"/>
                  <a:pt x="4386031" y="1984372"/>
                </a:cubicBezTo>
                <a:lnTo>
                  <a:pt x="23583" y="1984372"/>
                </a:lnTo>
                <a:cubicBezTo>
                  <a:pt x="17328" y="1984372"/>
                  <a:pt x="11330" y="1981887"/>
                  <a:pt x="6907" y="1977465"/>
                </a:cubicBezTo>
                <a:cubicBezTo>
                  <a:pt x="2485" y="1973042"/>
                  <a:pt x="0" y="1967043"/>
                  <a:pt x="0" y="1960789"/>
                </a:cubicBezTo>
                <a:lnTo>
                  <a:pt x="0" y="23583"/>
                </a:lnTo>
                <a:cubicBezTo>
                  <a:pt x="0" y="17328"/>
                  <a:pt x="2485" y="11330"/>
                  <a:pt x="6907" y="6907"/>
                </a:cubicBezTo>
                <a:cubicBezTo>
                  <a:pt x="11330" y="2485"/>
                  <a:pt x="17328" y="0"/>
                  <a:pt x="23583" y="0"/>
                </a:cubicBezTo>
                <a:close/>
              </a:path>
            </a:pathLst>
          </a:custGeom>
          <a:solidFill>
            <a:srgbClr val="C8D1D9">
              <a:alpha val="29804"/>
            </a:srgbClr>
          </a:solidFill>
          <a:ln>
            <a:noFill/>
          </a:ln>
        </p:spPr>
        <p:txBody>
          <a:bodyPr spcFirstLastPara="1" wrap="square" lIns="91425" tIns="91425" rIns="91425" bIns="91425" anchor="ctr">
            <a:noAutofit/>
          </a:bodyPr>
          <a:lstStyle/>
          <a:p>
            <a:pPr marL="0" marR="0" lvl="0" indent="0" algn="l">
              <a:lnSpc>
                <a:spcPct val="100000"/>
              </a:lnSpc>
              <a:spcBef>
                <a:spcPts val="0"/>
              </a:spcBef>
              <a:spcAft>
                <a:spcPts val="0"/>
              </a:spcAft>
              <a:buClr>
                <a:srgbClr val="000000"/>
              </a:buClr>
              <a:buSzPts val="1400"/>
              <a:buFont typeface="Arial"/>
              <a:buNone/>
            </a:pPr>
            <a:endParaRPr sz="1400" b="0" i="0" u="none" strike="noStrike" cap="none" spc="0">
              <a:solidFill>
                <a:srgbClr val="000000"/>
              </a:solidFill>
              <a:latin typeface="Arial"/>
              <a:ea typeface="Arial"/>
              <a:cs typeface="Arial"/>
            </a:endParaRPr>
          </a:p>
        </p:txBody>
      </p:sp>
      <p:sp>
        <p:nvSpPr>
          <p:cNvPr id="159" name="Google Shape;159;p17">
            <a:extLst>
              <a:ext uri="{FF2B5EF4-FFF2-40B4-BE49-F238E27FC236}">
                <a16:creationId xmlns:a16="http://schemas.microsoft.com/office/drawing/2014/main" id="{ED3B73C5-0F17-4BEF-B1B9-918835249F44}"/>
              </a:ext>
            </a:extLst>
          </p:cNvPr>
          <p:cNvSpPr>
            <a:spLocks noGrp="1"/>
          </p:cNvSpPr>
          <p:nvPr/>
        </p:nvSpPr>
        <p:spPr>
          <a:xfrm>
            <a:off x="512956" y="351328"/>
            <a:ext cx="3577686" cy="894398"/>
          </a:xfrm>
          <a:custGeom>
            <a:avLst/>
            <a:gdLst/>
            <a:ahLst/>
            <a:cxnLst/>
            <a:rect l="l" t="t" r="r" b="b"/>
            <a:pathLst>
              <a:path w="4770247" h="1192530">
                <a:moveTo>
                  <a:pt x="0" y="0"/>
                </a:moveTo>
                <a:lnTo>
                  <a:pt x="4770247" y="0"/>
                </a:lnTo>
                <a:lnTo>
                  <a:pt x="4770247" y="1192530"/>
                </a:lnTo>
                <a:lnTo>
                  <a:pt x="0" y="1192530"/>
                </a:lnTo>
                <a:lnTo>
                  <a:pt x="0" y="0"/>
                </a:lnTo>
                <a:close/>
              </a:path>
            </a:pathLst>
          </a:custGeom>
          <a:blipFill rotWithShape="1">
            <a:blip r:embed="rId4">
              <a:alphaModFix/>
            </a:blip>
            <a:stretch>
              <a:fillRect r="-1" b="-4"/>
            </a:stretch>
          </a:blipFill>
          <a:ln>
            <a:noFill/>
          </a:ln>
        </p:spPr>
      </p:sp>
      <p:sp>
        <p:nvSpPr>
          <p:cNvPr id="160" name="Google Shape;160;p17">
            <a:extLst>
              <a:ext uri="{FF2B5EF4-FFF2-40B4-BE49-F238E27FC236}">
                <a16:creationId xmlns:a16="http://schemas.microsoft.com/office/drawing/2014/main" id="{83DB234E-A105-4035-8BD8-5B913466A247}"/>
              </a:ext>
            </a:extLst>
          </p:cNvPr>
          <p:cNvSpPr>
            <a:spLocks noGrp="1"/>
          </p:cNvSpPr>
          <p:nvPr/>
        </p:nvSpPr>
        <p:spPr>
          <a:xfrm>
            <a:off x="15876875" y="276037"/>
            <a:ext cx="1894575" cy="969727"/>
          </a:xfrm>
          <a:custGeom>
            <a:avLst/>
            <a:gdLst/>
            <a:ahLst/>
            <a:cxnLst/>
            <a:rect l="l" t="t" r="r" b="b"/>
            <a:pathLst>
              <a:path w="1894575" h="969727">
                <a:moveTo>
                  <a:pt x="0" y="0"/>
                </a:moveTo>
                <a:lnTo>
                  <a:pt x="1894575" y="0"/>
                </a:lnTo>
                <a:lnTo>
                  <a:pt x="1894575" y="969727"/>
                </a:lnTo>
                <a:lnTo>
                  <a:pt x="0" y="969727"/>
                </a:lnTo>
                <a:lnTo>
                  <a:pt x="0" y="0"/>
                </a:lnTo>
                <a:close/>
              </a:path>
            </a:pathLst>
          </a:custGeom>
          <a:blipFill rotWithShape="1">
            <a:blip r:embed="rId5">
              <a:alphaModFix/>
            </a:blip>
            <a:stretch>
              <a:fillRect l="-16123" t="-146250" r="-62286" b="-204749"/>
            </a:stretch>
          </a:blipFill>
          <a:ln>
            <a:noFill/>
          </a:ln>
        </p:spPr>
      </p:sp>
      <p:sp>
        <p:nvSpPr>
          <p:cNvPr id="163" name="Google Shape;163;p17">
            <a:extLst>
              <a:ext uri="{FF2B5EF4-FFF2-40B4-BE49-F238E27FC236}">
                <a16:creationId xmlns:a16="http://schemas.microsoft.com/office/drawing/2014/main" id="{98CC5298-9F2D-4D51-8987-E9ACAEB833F3}"/>
              </a:ext>
            </a:extLst>
          </p:cNvPr>
          <p:cNvSpPr>
            <a:spLocks noGrp="1"/>
          </p:cNvSpPr>
          <p:nvPr/>
        </p:nvSpPr>
        <p:spPr>
          <a:xfrm>
            <a:off x="16717664" y="9534525"/>
            <a:ext cx="655936" cy="547687"/>
          </a:xfrm>
          <a:custGeom>
            <a:avLst/>
            <a:gdLst/>
            <a:ahLst/>
            <a:cxnLst/>
            <a:rect l="l" t="t" r="r" b="b"/>
            <a:pathLst>
              <a:path w="874581" h="730250">
                <a:moveTo>
                  <a:pt x="0" y="0"/>
                </a:moveTo>
                <a:lnTo>
                  <a:pt x="874581" y="0"/>
                </a:lnTo>
                <a:lnTo>
                  <a:pt x="874581" y="730250"/>
                </a:lnTo>
                <a:lnTo>
                  <a:pt x="0" y="730250"/>
                </a:lnTo>
                <a:close/>
              </a:path>
            </a:pathLst>
          </a:custGeom>
          <a:blipFill rotWithShape="1">
            <a:blip r:embed="rId6">
              <a:alphaModFix amt="0"/>
            </a:blip>
            <a:stretch>
              <a:fillRect t="-101810" r="-550533" b="-101810"/>
            </a:stretch>
          </a:blipFill>
          <a:ln>
            <a:noFill/>
          </a:ln>
        </p:spPr>
      </p:sp>
      <p:sp>
        <p:nvSpPr>
          <p:cNvPr id="2" name="TextBox 1">
            <a:extLst>
              <a:ext uri="{FF2B5EF4-FFF2-40B4-BE49-F238E27FC236}">
                <a16:creationId xmlns:a16="http://schemas.microsoft.com/office/drawing/2014/main" id="{1E8791F6-9DD9-3B21-8F23-A380D01419DC}"/>
              </a:ext>
            </a:extLst>
          </p:cNvPr>
          <p:cNvSpPr txBox="1"/>
          <p:nvPr/>
        </p:nvSpPr>
        <p:spPr>
          <a:xfrm>
            <a:off x="4953000" y="349850"/>
            <a:ext cx="8382000" cy="138499"/>
          </a:xfrm>
          <a:prstGeom prst="rect">
            <a:avLst/>
          </a:prstGeom>
          <a:noFill/>
        </p:spPr>
        <p:txBody>
          <a:bodyPr vert="horz" wrap="square" lIns="0" tIns="0" rIns="0" bIns="0" rtlCol="0" anchor="ctr">
            <a:spAutoFit/>
          </a:bodyPr>
          <a:lstStyle/>
          <a:p>
            <a:pPr algn="ctr"/>
            <a:r>
              <a:rPr lang="en-GB" sz="900">
                <a:solidFill>
                  <a:srgbClr val="009DDC"/>
                </a:solidFill>
                <a:latin typeface="Press Start 2P" panose="020B0604020202020204" charset="0"/>
              </a:rPr>
              <a:t>BUSINESS MODEL // VALUE + DIFFERENTIATION</a:t>
            </a:r>
          </a:p>
        </p:txBody>
      </p:sp>
      <p:sp>
        <p:nvSpPr>
          <p:cNvPr id="3" name="TextBox 2">
            <a:extLst>
              <a:ext uri="{FF2B5EF4-FFF2-40B4-BE49-F238E27FC236}">
                <a16:creationId xmlns:a16="http://schemas.microsoft.com/office/drawing/2014/main" id="{68835388-C9BB-ACF7-14B2-FF970FD626EA}"/>
              </a:ext>
            </a:extLst>
          </p:cNvPr>
          <p:cNvSpPr txBox="1"/>
          <p:nvPr/>
        </p:nvSpPr>
        <p:spPr>
          <a:xfrm>
            <a:off x="4191000" y="935622"/>
            <a:ext cx="11176000" cy="338554"/>
          </a:xfrm>
          <a:prstGeom prst="rect">
            <a:avLst/>
          </a:prstGeom>
          <a:noFill/>
        </p:spPr>
        <p:txBody>
          <a:bodyPr vert="horz" wrap="square" lIns="0" tIns="0" rIns="0" bIns="0" rtlCol="0" anchor="ctr">
            <a:spAutoFit/>
          </a:bodyPr>
          <a:lstStyle/>
          <a:p>
            <a:pPr algn="ctr"/>
            <a:r>
              <a:rPr lang="en-GB" sz="2200">
                <a:solidFill>
                  <a:srgbClr val="19263A"/>
                </a:solidFill>
                <a:latin typeface="Press Start 2P" panose="020B0604020202020204" charset="0"/>
              </a:rPr>
              <a:t>A Campus-First Model That Scales</a:t>
            </a:r>
          </a:p>
        </p:txBody>
      </p:sp>
      <p:cxnSp>
        <p:nvCxnSpPr>
          <p:cNvPr id="4" name="Straight Connector 3">
            <a:extLst>
              <a:ext uri="{FF2B5EF4-FFF2-40B4-BE49-F238E27FC236}">
                <a16:creationId xmlns:a16="http://schemas.microsoft.com/office/drawing/2014/main" id="{949B2CE5-58F8-7F08-88E2-347CA50DE21F}"/>
              </a:ext>
            </a:extLst>
          </p:cNvPr>
          <p:cNvCxnSpPr/>
          <p:nvPr/>
        </p:nvCxnSpPr>
        <p:spPr>
          <a:xfrm>
            <a:off x="7747000" y="1587500"/>
            <a:ext cx="2794000" cy="0"/>
          </a:xfrm>
          <a:prstGeom prst="line">
            <a:avLst/>
          </a:prstGeom>
          <a:ln w="50800">
            <a:solidFill>
              <a:srgbClr val="009DDC"/>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9E05ECE-C4E5-BF7B-BE3A-2E90FD28CE89}"/>
              </a:ext>
            </a:extLst>
          </p:cNvPr>
          <p:cNvSpPr txBox="1"/>
          <p:nvPr/>
        </p:nvSpPr>
        <p:spPr>
          <a:xfrm>
            <a:off x="16891000" y="9667389"/>
            <a:ext cx="635000" cy="184666"/>
          </a:xfrm>
          <a:prstGeom prst="rect">
            <a:avLst/>
          </a:prstGeom>
          <a:noFill/>
        </p:spPr>
        <p:txBody>
          <a:bodyPr vert="horz" wrap="square" lIns="0" tIns="0" rIns="0" bIns="0" rtlCol="0" anchor="ctr">
            <a:spAutoFit/>
          </a:bodyPr>
          <a:lstStyle/>
          <a:p>
            <a:pPr algn="ctr"/>
            <a:r>
              <a:rPr lang="en-GB" sz="1200" b="1">
                <a:solidFill>
                  <a:srgbClr val="708197"/>
                </a:solidFill>
                <a:latin typeface="Segoe UI Semibold" panose="020B0702040204020203" pitchFamily="34" charset="0"/>
              </a:rPr>
              <a:t>05</a:t>
            </a:r>
          </a:p>
        </p:txBody>
      </p:sp>
      <p:sp>
        <p:nvSpPr>
          <p:cNvPr id="6" name="TextBox 5">
            <a:extLst>
              <a:ext uri="{FF2B5EF4-FFF2-40B4-BE49-F238E27FC236}">
                <a16:creationId xmlns:a16="http://schemas.microsoft.com/office/drawing/2014/main" id="{F498E43B-F282-DD15-C99C-0A70EAC7EA34}"/>
              </a:ext>
            </a:extLst>
          </p:cNvPr>
          <p:cNvSpPr txBox="1"/>
          <p:nvPr/>
        </p:nvSpPr>
        <p:spPr>
          <a:xfrm>
            <a:off x="406400" y="9741272"/>
            <a:ext cx="2794000" cy="138499"/>
          </a:xfrm>
          <a:prstGeom prst="rect">
            <a:avLst/>
          </a:prstGeom>
          <a:noFill/>
        </p:spPr>
        <p:txBody>
          <a:bodyPr vert="horz" wrap="square" lIns="0" tIns="0" rIns="0" bIns="0" rtlCol="0" anchor="ctr">
            <a:spAutoFit/>
          </a:bodyPr>
          <a:lstStyle/>
          <a:p>
            <a:r>
              <a:rPr lang="en-GB" sz="900">
                <a:solidFill>
                  <a:srgbClr val="112D52"/>
                </a:solidFill>
                <a:latin typeface="Press Start 2P" panose="020B0604020202020204" charset="0"/>
              </a:rPr>
              <a:t>VAR // PEERPREP</a:t>
            </a:r>
          </a:p>
        </p:txBody>
      </p:sp>
      <p:sp>
        <p:nvSpPr>
          <p:cNvPr id="7" name="TextBox 6">
            <a:extLst>
              <a:ext uri="{FF2B5EF4-FFF2-40B4-BE49-F238E27FC236}">
                <a16:creationId xmlns:a16="http://schemas.microsoft.com/office/drawing/2014/main" id="{F8A11773-172D-CEC5-4423-DFCC1793633A}"/>
              </a:ext>
            </a:extLst>
          </p:cNvPr>
          <p:cNvSpPr txBox="1"/>
          <p:nvPr/>
        </p:nvSpPr>
        <p:spPr>
          <a:xfrm>
            <a:off x="1320800" y="1886923"/>
            <a:ext cx="6959600" cy="276999"/>
          </a:xfrm>
          <a:prstGeom prst="rect">
            <a:avLst/>
          </a:prstGeom>
          <a:noFill/>
        </p:spPr>
        <p:txBody>
          <a:bodyPr vert="horz" wrap="square" lIns="0" tIns="0" rIns="0" bIns="0" rtlCol="0" anchor="ctr">
            <a:spAutoFit/>
          </a:bodyPr>
          <a:lstStyle/>
          <a:p>
            <a:r>
              <a:rPr lang="en-GB" sz="1800" b="1">
                <a:solidFill>
                  <a:srgbClr val="112D52"/>
                </a:solidFill>
                <a:latin typeface="Segoe UI Semibold" panose="020B0702040204020203" pitchFamily="34" charset="0"/>
              </a:rPr>
              <a:t>Recommended commercialization model</a:t>
            </a:r>
          </a:p>
        </p:txBody>
      </p:sp>
      <p:sp>
        <p:nvSpPr>
          <p:cNvPr id="8" name="Rectangle: Rounded Corners 7">
            <a:extLst>
              <a:ext uri="{FF2B5EF4-FFF2-40B4-BE49-F238E27FC236}">
                <a16:creationId xmlns:a16="http://schemas.microsoft.com/office/drawing/2014/main" id="{90668084-7B7F-BDE4-080A-278EC7694ABC}"/>
              </a:ext>
            </a:extLst>
          </p:cNvPr>
          <p:cNvSpPr/>
          <p:nvPr/>
        </p:nvSpPr>
        <p:spPr>
          <a:xfrm>
            <a:off x="1346200" y="2387600"/>
            <a:ext cx="1498600" cy="355600"/>
          </a:xfrm>
          <a:prstGeom prst="roundRect">
            <a:avLst/>
          </a:prstGeom>
          <a:solidFill>
            <a:srgbClr val="FFF4DE"/>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EED411A0-8AC7-6CC2-9AF3-0A0759381C70}"/>
              </a:ext>
            </a:extLst>
          </p:cNvPr>
          <p:cNvSpPr txBox="1"/>
          <p:nvPr/>
        </p:nvSpPr>
        <p:spPr>
          <a:xfrm>
            <a:off x="1346200" y="2426072"/>
            <a:ext cx="1498600" cy="189796"/>
          </a:xfrm>
          <a:prstGeom prst="rect">
            <a:avLst/>
          </a:prstGeom>
          <a:noFill/>
        </p:spPr>
        <p:txBody>
          <a:bodyPr vert="horz" wrap="square" lIns="25400" tIns="25400" rIns="25400" bIns="25400" rtlCol="0" anchor="ctr">
            <a:spAutoFit/>
          </a:bodyPr>
          <a:lstStyle/>
          <a:p>
            <a:pPr algn="ctr"/>
            <a:r>
              <a:rPr lang="en-GB" sz="900" b="1">
                <a:solidFill>
                  <a:srgbClr val="F4A431"/>
                </a:solidFill>
                <a:latin typeface="Segoe UI Semibold" panose="020B0702040204020203" pitchFamily="34" charset="0"/>
              </a:rPr>
              <a:t>PROPOSED</a:t>
            </a:r>
          </a:p>
        </p:txBody>
      </p:sp>
      <p:sp>
        <p:nvSpPr>
          <p:cNvPr id="10" name="Rectangle: Rounded Corners 9">
            <a:extLst>
              <a:ext uri="{FF2B5EF4-FFF2-40B4-BE49-F238E27FC236}">
                <a16:creationId xmlns:a16="http://schemas.microsoft.com/office/drawing/2014/main" id="{62AD393D-FB5C-81AB-4149-A5656E46AD0B}"/>
              </a:ext>
            </a:extLst>
          </p:cNvPr>
          <p:cNvSpPr/>
          <p:nvPr/>
        </p:nvSpPr>
        <p:spPr>
          <a:xfrm>
            <a:off x="1320800" y="2921000"/>
            <a:ext cx="6985000" cy="1041400"/>
          </a:xfrm>
          <a:prstGeom prst="roundRect">
            <a:avLst/>
          </a:prstGeom>
          <a:solidFill>
            <a:srgbClr val="FFFFFF"/>
          </a:solidFill>
          <a:ln w="12700">
            <a:solidFill>
              <a:srgbClr val="C7DC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Rounded Corners 10">
            <a:extLst>
              <a:ext uri="{FF2B5EF4-FFF2-40B4-BE49-F238E27FC236}">
                <a16:creationId xmlns:a16="http://schemas.microsoft.com/office/drawing/2014/main" id="{0F17A5B6-4C82-FFD3-C44E-E0F43C69BB9E}"/>
              </a:ext>
            </a:extLst>
          </p:cNvPr>
          <p:cNvSpPr/>
          <p:nvPr/>
        </p:nvSpPr>
        <p:spPr>
          <a:xfrm>
            <a:off x="1549400" y="3098800"/>
            <a:ext cx="1422400" cy="3556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B6A47BD5-E9BF-450D-0552-4AC47F03E744}"/>
              </a:ext>
            </a:extLst>
          </p:cNvPr>
          <p:cNvSpPr txBox="1"/>
          <p:nvPr/>
        </p:nvSpPr>
        <p:spPr>
          <a:xfrm>
            <a:off x="1549400" y="3137272"/>
            <a:ext cx="1422400" cy="189796"/>
          </a:xfrm>
          <a:prstGeom prst="rect">
            <a:avLst/>
          </a:prstGeom>
          <a:noFill/>
        </p:spPr>
        <p:txBody>
          <a:bodyPr vert="horz" wrap="square" lIns="25400" tIns="25400" rIns="25400" bIns="25400" rtlCol="0" anchor="ctr">
            <a:spAutoFit/>
          </a:bodyPr>
          <a:lstStyle/>
          <a:p>
            <a:pPr algn="ctr"/>
            <a:r>
              <a:rPr lang="en-GB" sz="900" b="1">
                <a:solidFill>
                  <a:srgbClr val="009DDC"/>
                </a:solidFill>
                <a:latin typeface="Segoe UI Semibold" panose="020B0702040204020203" pitchFamily="34" charset="0"/>
              </a:rPr>
              <a:t>CUSTOMER</a:t>
            </a:r>
          </a:p>
        </p:txBody>
      </p:sp>
      <p:sp>
        <p:nvSpPr>
          <p:cNvPr id="13" name="TextBox 12">
            <a:extLst>
              <a:ext uri="{FF2B5EF4-FFF2-40B4-BE49-F238E27FC236}">
                <a16:creationId xmlns:a16="http://schemas.microsoft.com/office/drawing/2014/main" id="{6328574D-A9A2-C421-5535-3EFBEB5DD0E6}"/>
              </a:ext>
            </a:extLst>
          </p:cNvPr>
          <p:cNvSpPr txBox="1"/>
          <p:nvPr/>
        </p:nvSpPr>
        <p:spPr>
          <a:xfrm>
            <a:off x="3175000" y="3073400"/>
            <a:ext cx="4851400" cy="215444"/>
          </a:xfrm>
          <a:prstGeom prst="rect">
            <a:avLst/>
          </a:prstGeom>
          <a:noFill/>
        </p:spPr>
        <p:txBody>
          <a:bodyPr vert="horz" wrap="square" lIns="0" tIns="0" rIns="0" bIns="0" rtlCol="0" anchor="ctr">
            <a:spAutoFit/>
          </a:bodyPr>
          <a:lstStyle/>
          <a:p>
            <a:r>
              <a:rPr lang="en-GB" sz="1350" b="1">
                <a:solidFill>
                  <a:srgbClr val="19263A"/>
                </a:solidFill>
                <a:latin typeface="Segoe UI Semibold" panose="020B0702040204020203" pitchFamily="34" charset="0"/>
              </a:rPr>
              <a:t>Universities, placement cells and training partners</a:t>
            </a:r>
          </a:p>
        </p:txBody>
      </p:sp>
      <p:sp>
        <p:nvSpPr>
          <p:cNvPr id="14" name="Rectangle: Rounded Corners 13">
            <a:extLst>
              <a:ext uri="{FF2B5EF4-FFF2-40B4-BE49-F238E27FC236}">
                <a16:creationId xmlns:a16="http://schemas.microsoft.com/office/drawing/2014/main" id="{F53F5083-FCC7-D83A-7348-673CD923A5B4}"/>
              </a:ext>
            </a:extLst>
          </p:cNvPr>
          <p:cNvSpPr/>
          <p:nvPr/>
        </p:nvSpPr>
        <p:spPr>
          <a:xfrm>
            <a:off x="1320800" y="4114800"/>
            <a:ext cx="6985000" cy="1041400"/>
          </a:xfrm>
          <a:prstGeom prst="roundRect">
            <a:avLst/>
          </a:prstGeom>
          <a:solidFill>
            <a:srgbClr val="FFFFFF"/>
          </a:solidFill>
          <a:ln w="12700">
            <a:solidFill>
              <a:srgbClr val="C7DC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Rounded Corners 14">
            <a:extLst>
              <a:ext uri="{FF2B5EF4-FFF2-40B4-BE49-F238E27FC236}">
                <a16:creationId xmlns:a16="http://schemas.microsoft.com/office/drawing/2014/main" id="{E692C841-2A1E-E47C-DB53-E65B7864209A}"/>
              </a:ext>
            </a:extLst>
          </p:cNvPr>
          <p:cNvSpPr/>
          <p:nvPr/>
        </p:nvSpPr>
        <p:spPr>
          <a:xfrm>
            <a:off x="1549400" y="4292600"/>
            <a:ext cx="1422400" cy="355600"/>
          </a:xfrm>
          <a:prstGeom prst="roundRect">
            <a:avLst/>
          </a:prstGeom>
          <a:solidFill>
            <a:srgbClr val="E1F7EC"/>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0F14C156-C799-FB23-E0FA-09A61F67A70E}"/>
              </a:ext>
            </a:extLst>
          </p:cNvPr>
          <p:cNvSpPr txBox="1"/>
          <p:nvPr/>
        </p:nvSpPr>
        <p:spPr>
          <a:xfrm>
            <a:off x="1549400" y="4331072"/>
            <a:ext cx="1422400" cy="189796"/>
          </a:xfrm>
          <a:prstGeom prst="rect">
            <a:avLst/>
          </a:prstGeom>
          <a:noFill/>
        </p:spPr>
        <p:txBody>
          <a:bodyPr vert="horz" wrap="square" lIns="25400" tIns="25400" rIns="25400" bIns="25400" rtlCol="0" anchor="ctr">
            <a:spAutoFit/>
          </a:bodyPr>
          <a:lstStyle/>
          <a:p>
            <a:pPr algn="ctr"/>
            <a:r>
              <a:rPr lang="en-GB" sz="900" b="1">
                <a:solidFill>
                  <a:srgbClr val="26A65B"/>
                </a:solidFill>
                <a:latin typeface="Segoe UI Semibold" panose="020B0702040204020203" pitchFamily="34" charset="0"/>
              </a:rPr>
              <a:t>REVENUE</a:t>
            </a:r>
          </a:p>
        </p:txBody>
      </p:sp>
      <p:sp>
        <p:nvSpPr>
          <p:cNvPr id="17" name="TextBox 16">
            <a:extLst>
              <a:ext uri="{FF2B5EF4-FFF2-40B4-BE49-F238E27FC236}">
                <a16:creationId xmlns:a16="http://schemas.microsoft.com/office/drawing/2014/main" id="{44AAB443-2B0D-8F6D-2E18-44EBACCAAD8B}"/>
              </a:ext>
            </a:extLst>
          </p:cNvPr>
          <p:cNvSpPr txBox="1"/>
          <p:nvPr/>
        </p:nvSpPr>
        <p:spPr>
          <a:xfrm>
            <a:off x="3175000" y="4267200"/>
            <a:ext cx="4851400" cy="215444"/>
          </a:xfrm>
          <a:prstGeom prst="rect">
            <a:avLst/>
          </a:prstGeom>
          <a:noFill/>
        </p:spPr>
        <p:txBody>
          <a:bodyPr vert="horz" wrap="square" lIns="0" tIns="0" rIns="0" bIns="0" rtlCol="0" anchor="ctr">
            <a:spAutoFit/>
          </a:bodyPr>
          <a:lstStyle/>
          <a:p>
            <a:r>
              <a:rPr lang="en-GB" sz="1350" b="1">
                <a:solidFill>
                  <a:srgbClr val="19263A"/>
                </a:solidFill>
                <a:latin typeface="Segoe UI Semibold" panose="020B0702040204020203" pitchFamily="34" charset="0"/>
              </a:rPr>
              <a:t>Annual institutional license + active-student tiers</a:t>
            </a:r>
          </a:p>
        </p:txBody>
      </p:sp>
      <p:sp>
        <p:nvSpPr>
          <p:cNvPr id="18" name="Rectangle: Rounded Corners 17">
            <a:extLst>
              <a:ext uri="{FF2B5EF4-FFF2-40B4-BE49-F238E27FC236}">
                <a16:creationId xmlns:a16="http://schemas.microsoft.com/office/drawing/2014/main" id="{052F5188-1791-8C51-FF65-EA162D5D4C7E}"/>
              </a:ext>
            </a:extLst>
          </p:cNvPr>
          <p:cNvSpPr/>
          <p:nvPr/>
        </p:nvSpPr>
        <p:spPr>
          <a:xfrm>
            <a:off x="1320800" y="5308600"/>
            <a:ext cx="6985000" cy="1041400"/>
          </a:xfrm>
          <a:prstGeom prst="roundRect">
            <a:avLst/>
          </a:prstGeom>
          <a:solidFill>
            <a:srgbClr val="FFFFFF"/>
          </a:solidFill>
          <a:ln w="12700">
            <a:solidFill>
              <a:srgbClr val="C7DC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6B84195C-C663-2A64-FDB3-1C91E75314A6}"/>
              </a:ext>
            </a:extLst>
          </p:cNvPr>
          <p:cNvSpPr/>
          <p:nvPr/>
        </p:nvSpPr>
        <p:spPr>
          <a:xfrm>
            <a:off x="1549400" y="5486400"/>
            <a:ext cx="1422400" cy="355600"/>
          </a:xfrm>
          <a:prstGeom prst="roundRect">
            <a:avLst/>
          </a:prstGeom>
          <a:solidFill>
            <a:srgbClr val="EFE9FC"/>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18D8030A-0219-892F-68EC-DBB152DCBDF3}"/>
              </a:ext>
            </a:extLst>
          </p:cNvPr>
          <p:cNvSpPr txBox="1"/>
          <p:nvPr/>
        </p:nvSpPr>
        <p:spPr>
          <a:xfrm>
            <a:off x="1549400" y="5524872"/>
            <a:ext cx="1422400" cy="189796"/>
          </a:xfrm>
          <a:prstGeom prst="rect">
            <a:avLst/>
          </a:prstGeom>
          <a:noFill/>
        </p:spPr>
        <p:txBody>
          <a:bodyPr vert="horz" wrap="square" lIns="25400" tIns="25400" rIns="25400" bIns="25400" rtlCol="0" anchor="ctr">
            <a:spAutoFit/>
          </a:bodyPr>
          <a:lstStyle/>
          <a:p>
            <a:pPr algn="ctr"/>
            <a:r>
              <a:rPr lang="en-GB" sz="900" b="1">
                <a:solidFill>
                  <a:srgbClr val="7354BD"/>
                </a:solidFill>
                <a:latin typeface="Segoe UI Semibold" panose="020B0702040204020203" pitchFamily="34" charset="0"/>
              </a:rPr>
              <a:t>ADD-ONS</a:t>
            </a:r>
          </a:p>
        </p:txBody>
      </p:sp>
      <p:sp>
        <p:nvSpPr>
          <p:cNvPr id="21" name="TextBox 20">
            <a:extLst>
              <a:ext uri="{FF2B5EF4-FFF2-40B4-BE49-F238E27FC236}">
                <a16:creationId xmlns:a16="http://schemas.microsoft.com/office/drawing/2014/main" id="{48EED262-E61F-291A-E20B-65BBE4F82944}"/>
              </a:ext>
            </a:extLst>
          </p:cNvPr>
          <p:cNvSpPr txBox="1"/>
          <p:nvPr/>
        </p:nvSpPr>
        <p:spPr>
          <a:xfrm>
            <a:off x="3175000" y="5461000"/>
            <a:ext cx="4851400" cy="215444"/>
          </a:xfrm>
          <a:prstGeom prst="rect">
            <a:avLst/>
          </a:prstGeom>
          <a:noFill/>
        </p:spPr>
        <p:txBody>
          <a:bodyPr vert="horz" wrap="square" lIns="0" tIns="0" rIns="0" bIns="0" rtlCol="0" anchor="ctr">
            <a:spAutoFit/>
          </a:bodyPr>
          <a:lstStyle/>
          <a:p>
            <a:r>
              <a:rPr lang="en-GB" sz="1350" b="1">
                <a:solidFill>
                  <a:srgbClr val="19263A"/>
                </a:solidFill>
                <a:latin typeface="Segoe UI Semibold" panose="020B0702040204020203" pitchFamily="34" charset="0"/>
              </a:rPr>
              <a:t>Onboarding, custom assessments and advanced analytics</a:t>
            </a:r>
          </a:p>
        </p:txBody>
      </p:sp>
      <p:sp>
        <p:nvSpPr>
          <p:cNvPr id="22" name="Rectangle: Rounded Corners 21">
            <a:extLst>
              <a:ext uri="{FF2B5EF4-FFF2-40B4-BE49-F238E27FC236}">
                <a16:creationId xmlns:a16="http://schemas.microsoft.com/office/drawing/2014/main" id="{94D65EE3-E95C-1B45-90E2-887521C4CD9C}"/>
              </a:ext>
            </a:extLst>
          </p:cNvPr>
          <p:cNvSpPr/>
          <p:nvPr/>
        </p:nvSpPr>
        <p:spPr>
          <a:xfrm>
            <a:off x="1320800" y="6502400"/>
            <a:ext cx="6985000" cy="1041400"/>
          </a:xfrm>
          <a:prstGeom prst="roundRect">
            <a:avLst/>
          </a:prstGeom>
          <a:solidFill>
            <a:srgbClr val="FFFFFF"/>
          </a:solidFill>
          <a:ln w="12700">
            <a:solidFill>
              <a:srgbClr val="C7DC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Rounded Corners 22">
            <a:extLst>
              <a:ext uri="{FF2B5EF4-FFF2-40B4-BE49-F238E27FC236}">
                <a16:creationId xmlns:a16="http://schemas.microsoft.com/office/drawing/2014/main" id="{13D37299-9942-FCBC-2994-665BEA41764B}"/>
              </a:ext>
            </a:extLst>
          </p:cNvPr>
          <p:cNvSpPr/>
          <p:nvPr/>
        </p:nvSpPr>
        <p:spPr>
          <a:xfrm>
            <a:off x="1549400" y="6680200"/>
            <a:ext cx="1422400" cy="355600"/>
          </a:xfrm>
          <a:prstGeom prst="roundRect">
            <a:avLst/>
          </a:prstGeom>
          <a:solidFill>
            <a:srgbClr val="FFF4DE"/>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TextBox 23">
            <a:extLst>
              <a:ext uri="{FF2B5EF4-FFF2-40B4-BE49-F238E27FC236}">
                <a16:creationId xmlns:a16="http://schemas.microsoft.com/office/drawing/2014/main" id="{E606EBE1-23D4-DAFF-4EDA-5431CC61D4BB}"/>
              </a:ext>
            </a:extLst>
          </p:cNvPr>
          <p:cNvSpPr txBox="1"/>
          <p:nvPr/>
        </p:nvSpPr>
        <p:spPr>
          <a:xfrm>
            <a:off x="1549400" y="6718672"/>
            <a:ext cx="1422400" cy="189796"/>
          </a:xfrm>
          <a:prstGeom prst="rect">
            <a:avLst/>
          </a:prstGeom>
          <a:noFill/>
        </p:spPr>
        <p:txBody>
          <a:bodyPr vert="horz" wrap="square" lIns="25400" tIns="25400" rIns="25400" bIns="25400" rtlCol="0" anchor="ctr">
            <a:spAutoFit/>
          </a:bodyPr>
          <a:lstStyle/>
          <a:p>
            <a:pPr algn="ctr"/>
            <a:r>
              <a:rPr lang="en-GB" sz="900" b="1">
                <a:solidFill>
                  <a:srgbClr val="F4A431"/>
                </a:solidFill>
                <a:latin typeface="Segoe UI Semibold" panose="020B0702040204020203" pitchFamily="34" charset="0"/>
              </a:rPr>
              <a:t>VALUE</a:t>
            </a:r>
          </a:p>
        </p:txBody>
      </p:sp>
      <p:sp>
        <p:nvSpPr>
          <p:cNvPr id="25" name="TextBox 24">
            <a:extLst>
              <a:ext uri="{FF2B5EF4-FFF2-40B4-BE49-F238E27FC236}">
                <a16:creationId xmlns:a16="http://schemas.microsoft.com/office/drawing/2014/main" id="{67B9E327-20BF-0444-A0D6-A0B2BA563566}"/>
              </a:ext>
            </a:extLst>
          </p:cNvPr>
          <p:cNvSpPr txBox="1"/>
          <p:nvPr/>
        </p:nvSpPr>
        <p:spPr>
          <a:xfrm>
            <a:off x="3175000" y="6654800"/>
            <a:ext cx="4851400" cy="215444"/>
          </a:xfrm>
          <a:prstGeom prst="rect">
            <a:avLst/>
          </a:prstGeom>
          <a:noFill/>
        </p:spPr>
        <p:txBody>
          <a:bodyPr vert="horz" wrap="square" lIns="0" tIns="0" rIns="0" bIns="0" rtlCol="0" anchor="ctr">
            <a:spAutoFit/>
          </a:bodyPr>
          <a:lstStyle/>
          <a:p>
            <a:r>
              <a:rPr lang="en-GB" sz="1350" b="1">
                <a:solidFill>
                  <a:srgbClr val="19263A"/>
                </a:solidFill>
                <a:latin typeface="Segoe UI Semibold" panose="020B0702040204020203" pitchFamily="34" charset="0"/>
              </a:rPr>
              <a:t>Less manual tracking; earlier, targeted interventions</a:t>
            </a:r>
          </a:p>
        </p:txBody>
      </p:sp>
      <p:sp>
        <p:nvSpPr>
          <p:cNvPr id="26" name="TextBox 25">
            <a:extLst>
              <a:ext uri="{FF2B5EF4-FFF2-40B4-BE49-F238E27FC236}">
                <a16:creationId xmlns:a16="http://schemas.microsoft.com/office/drawing/2014/main" id="{8EE3AE91-F8C8-6D33-B8C3-45D6A3BC632F}"/>
              </a:ext>
            </a:extLst>
          </p:cNvPr>
          <p:cNvSpPr txBox="1"/>
          <p:nvPr/>
        </p:nvSpPr>
        <p:spPr>
          <a:xfrm>
            <a:off x="8915400" y="1886923"/>
            <a:ext cx="7874000" cy="276999"/>
          </a:xfrm>
          <a:prstGeom prst="rect">
            <a:avLst/>
          </a:prstGeom>
          <a:noFill/>
        </p:spPr>
        <p:txBody>
          <a:bodyPr vert="horz" wrap="square" lIns="0" tIns="0" rIns="0" bIns="0" rtlCol="0" anchor="ctr">
            <a:spAutoFit/>
          </a:bodyPr>
          <a:lstStyle/>
          <a:p>
            <a:r>
              <a:rPr lang="en-GB" sz="1800" b="1">
                <a:solidFill>
                  <a:srgbClr val="112D52"/>
                </a:solidFill>
                <a:latin typeface="Segoe UI Semibold" panose="020B0702040204020203" pitchFamily="34" charset="0"/>
              </a:rPr>
              <a:t>Why PeerPrep is defensible</a:t>
            </a:r>
          </a:p>
        </p:txBody>
      </p:sp>
      <p:sp>
        <p:nvSpPr>
          <p:cNvPr id="27" name="Rectangle: Rounded Corners 26">
            <a:extLst>
              <a:ext uri="{FF2B5EF4-FFF2-40B4-BE49-F238E27FC236}">
                <a16:creationId xmlns:a16="http://schemas.microsoft.com/office/drawing/2014/main" id="{2485E78D-73EF-EC71-C004-C9D4AFEE3CC4}"/>
              </a:ext>
            </a:extLst>
          </p:cNvPr>
          <p:cNvSpPr/>
          <p:nvPr/>
        </p:nvSpPr>
        <p:spPr>
          <a:xfrm>
            <a:off x="8915400" y="2514600"/>
            <a:ext cx="7874000" cy="1270000"/>
          </a:xfrm>
          <a:prstGeom prst="roundRect">
            <a:avLst/>
          </a:prstGeom>
          <a:solidFill>
            <a:srgbClr val="FFFFFF"/>
          </a:solidFill>
          <a:ln w="12700">
            <a:solidFill>
              <a:srgbClr val="C7DC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Rounded Corners 27">
            <a:extLst>
              <a:ext uri="{FF2B5EF4-FFF2-40B4-BE49-F238E27FC236}">
                <a16:creationId xmlns:a16="http://schemas.microsoft.com/office/drawing/2014/main" id="{310AE397-396F-B8AE-353C-CE42B701F38C}"/>
              </a:ext>
            </a:extLst>
          </p:cNvPr>
          <p:cNvSpPr/>
          <p:nvPr/>
        </p:nvSpPr>
        <p:spPr>
          <a:xfrm>
            <a:off x="9118600" y="2717800"/>
            <a:ext cx="660400" cy="6604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TextBox 28">
            <a:extLst>
              <a:ext uri="{FF2B5EF4-FFF2-40B4-BE49-F238E27FC236}">
                <a16:creationId xmlns:a16="http://schemas.microsoft.com/office/drawing/2014/main" id="{E185008C-7F49-5D05-B95E-71A07F817E9E}"/>
              </a:ext>
            </a:extLst>
          </p:cNvPr>
          <p:cNvSpPr txBox="1"/>
          <p:nvPr/>
        </p:nvSpPr>
        <p:spPr>
          <a:xfrm>
            <a:off x="9118600" y="2733189"/>
            <a:ext cx="660400" cy="184666"/>
          </a:xfrm>
          <a:prstGeom prst="rect">
            <a:avLst/>
          </a:prstGeom>
          <a:noFill/>
        </p:spPr>
        <p:txBody>
          <a:bodyPr vert="horz" wrap="square" lIns="0" tIns="0" rIns="0" bIns="0" rtlCol="0" anchor="ctr">
            <a:spAutoFit/>
          </a:bodyPr>
          <a:lstStyle/>
          <a:p>
            <a:pPr algn="ctr"/>
            <a:r>
              <a:rPr lang="en-GB" sz="1200">
                <a:solidFill>
                  <a:srgbClr val="009DDC"/>
                </a:solidFill>
                <a:latin typeface="Press Start 2P" panose="020B0604020202020204" charset="0"/>
              </a:rPr>
              <a:t>01</a:t>
            </a:r>
          </a:p>
        </p:txBody>
      </p:sp>
      <p:sp>
        <p:nvSpPr>
          <p:cNvPr id="30" name="TextBox 29">
            <a:extLst>
              <a:ext uri="{FF2B5EF4-FFF2-40B4-BE49-F238E27FC236}">
                <a16:creationId xmlns:a16="http://schemas.microsoft.com/office/drawing/2014/main" id="{3AE8D141-98C8-CBF5-A7AC-3672ADBA712F}"/>
              </a:ext>
            </a:extLst>
          </p:cNvPr>
          <p:cNvSpPr txBox="1"/>
          <p:nvPr/>
        </p:nvSpPr>
        <p:spPr>
          <a:xfrm>
            <a:off x="10007600" y="2663153"/>
            <a:ext cx="6477000" cy="223138"/>
          </a:xfrm>
          <a:prstGeom prst="rect">
            <a:avLst/>
          </a:prstGeom>
          <a:noFill/>
        </p:spPr>
        <p:txBody>
          <a:bodyPr vert="horz" wrap="square" lIns="0" tIns="0" rIns="0" bIns="0" rtlCol="0" anchor="ctr">
            <a:spAutoFit/>
          </a:bodyPr>
          <a:lstStyle/>
          <a:p>
            <a:r>
              <a:rPr lang="en-GB" sz="1450" b="1">
                <a:solidFill>
                  <a:srgbClr val="19263A"/>
                </a:solidFill>
                <a:latin typeface="Segoe UI Semibold" panose="020B0702040204020203" pitchFamily="34" charset="0"/>
              </a:rPr>
              <a:t>Unified evidence graph</a:t>
            </a:r>
          </a:p>
        </p:txBody>
      </p:sp>
      <p:sp>
        <p:nvSpPr>
          <p:cNvPr id="31" name="TextBox 30">
            <a:extLst>
              <a:ext uri="{FF2B5EF4-FFF2-40B4-BE49-F238E27FC236}">
                <a16:creationId xmlns:a16="http://schemas.microsoft.com/office/drawing/2014/main" id="{95F7DBD7-5E63-C13C-0D5E-51A6587BEF49}"/>
              </a:ext>
            </a:extLst>
          </p:cNvPr>
          <p:cNvSpPr txBox="1"/>
          <p:nvPr/>
        </p:nvSpPr>
        <p:spPr>
          <a:xfrm>
            <a:off x="10007600" y="3022600"/>
            <a:ext cx="6477000" cy="176972"/>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Learning, code, assessment, interview and activity signals share one student context.</a:t>
            </a:r>
          </a:p>
        </p:txBody>
      </p:sp>
      <p:sp>
        <p:nvSpPr>
          <p:cNvPr id="32" name="Rectangle: Rounded Corners 31">
            <a:extLst>
              <a:ext uri="{FF2B5EF4-FFF2-40B4-BE49-F238E27FC236}">
                <a16:creationId xmlns:a16="http://schemas.microsoft.com/office/drawing/2014/main" id="{52E448C8-C3CB-2171-5EB8-0A2DE52061D6}"/>
              </a:ext>
            </a:extLst>
          </p:cNvPr>
          <p:cNvSpPr/>
          <p:nvPr/>
        </p:nvSpPr>
        <p:spPr>
          <a:xfrm>
            <a:off x="8915400" y="3911600"/>
            <a:ext cx="7874000" cy="1270000"/>
          </a:xfrm>
          <a:prstGeom prst="roundRect">
            <a:avLst/>
          </a:prstGeom>
          <a:solidFill>
            <a:srgbClr val="FFFFFF"/>
          </a:solidFill>
          <a:ln w="12700">
            <a:solidFill>
              <a:srgbClr val="C7DC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Rounded Corners 32">
            <a:extLst>
              <a:ext uri="{FF2B5EF4-FFF2-40B4-BE49-F238E27FC236}">
                <a16:creationId xmlns:a16="http://schemas.microsoft.com/office/drawing/2014/main" id="{F6520413-6B18-317E-9C13-29175EAA26BD}"/>
              </a:ext>
            </a:extLst>
          </p:cNvPr>
          <p:cNvSpPr/>
          <p:nvPr/>
        </p:nvSpPr>
        <p:spPr>
          <a:xfrm>
            <a:off x="9118600" y="4114800"/>
            <a:ext cx="660400" cy="660400"/>
          </a:xfrm>
          <a:prstGeom prst="roundRect">
            <a:avLst/>
          </a:prstGeom>
          <a:solidFill>
            <a:srgbClr val="EFE9FC"/>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TextBox 33">
            <a:extLst>
              <a:ext uri="{FF2B5EF4-FFF2-40B4-BE49-F238E27FC236}">
                <a16:creationId xmlns:a16="http://schemas.microsoft.com/office/drawing/2014/main" id="{C4E8FF19-C3A9-F7A4-B7D6-FEEE65B44B4F}"/>
              </a:ext>
            </a:extLst>
          </p:cNvPr>
          <p:cNvSpPr txBox="1"/>
          <p:nvPr/>
        </p:nvSpPr>
        <p:spPr>
          <a:xfrm>
            <a:off x="9118600" y="4130189"/>
            <a:ext cx="660400" cy="184666"/>
          </a:xfrm>
          <a:prstGeom prst="rect">
            <a:avLst/>
          </a:prstGeom>
          <a:noFill/>
        </p:spPr>
        <p:txBody>
          <a:bodyPr vert="horz" wrap="square" lIns="0" tIns="0" rIns="0" bIns="0" rtlCol="0" anchor="ctr">
            <a:spAutoFit/>
          </a:bodyPr>
          <a:lstStyle/>
          <a:p>
            <a:pPr algn="ctr"/>
            <a:r>
              <a:rPr lang="en-GB" sz="1200">
                <a:solidFill>
                  <a:srgbClr val="7354BD"/>
                </a:solidFill>
                <a:latin typeface="Press Start 2P" panose="020B0604020202020204" charset="0"/>
              </a:rPr>
              <a:t>02</a:t>
            </a:r>
          </a:p>
        </p:txBody>
      </p:sp>
      <p:sp>
        <p:nvSpPr>
          <p:cNvPr id="35" name="TextBox 34">
            <a:extLst>
              <a:ext uri="{FF2B5EF4-FFF2-40B4-BE49-F238E27FC236}">
                <a16:creationId xmlns:a16="http://schemas.microsoft.com/office/drawing/2014/main" id="{E0F80A28-92E6-7AF1-9B38-BD262BC052B2}"/>
              </a:ext>
            </a:extLst>
          </p:cNvPr>
          <p:cNvSpPr txBox="1"/>
          <p:nvPr/>
        </p:nvSpPr>
        <p:spPr>
          <a:xfrm>
            <a:off x="10007600" y="4060153"/>
            <a:ext cx="6477000" cy="223138"/>
          </a:xfrm>
          <a:prstGeom prst="rect">
            <a:avLst/>
          </a:prstGeom>
          <a:noFill/>
        </p:spPr>
        <p:txBody>
          <a:bodyPr vert="horz" wrap="square" lIns="0" tIns="0" rIns="0" bIns="0" rtlCol="0" anchor="ctr">
            <a:spAutoFit/>
          </a:bodyPr>
          <a:lstStyle/>
          <a:p>
            <a:r>
              <a:rPr lang="en-GB" sz="1450" b="1">
                <a:solidFill>
                  <a:srgbClr val="19263A"/>
                </a:solidFill>
                <a:latin typeface="Segoe UI Semibold" panose="020B0702040204020203" pitchFamily="34" charset="0"/>
              </a:rPr>
              <a:t>Operational - not just educational</a:t>
            </a:r>
          </a:p>
        </p:txBody>
      </p:sp>
      <p:sp>
        <p:nvSpPr>
          <p:cNvPr id="36" name="TextBox 35">
            <a:extLst>
              <a:ext uri="{FF2B5EF4-FFF2-40B4-BE49-F238E27FC236}">
                <a16:creationId xmlns:a16="http://schemas.microsoft.com/office/drawing/2014/main" id="{F6A55E49-6AAD-ECA6-38C9-98DDE8CE7E6A}"/>
              </a:ext>
            </a:extLst>
          </p:cNvPr>
          <p:cNvSpPr txBox="1"/>
          <p:nvPr/>
        </p:nvSpPr>
        <p:spPr>
          <a:xfrm>
            <a:off x="10007600" y="4419600"/>
            <a:ext cx="6477000" cy="176972"/>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Admin and coordinator workflows turn insight into assignments, reminders and support.</a:t>
            </a:r>
          </a:p>
        </p:txBody>
      </p:sp>
      <p:sp>
        <p:nvSpPr>
          <p:cNvPr id="37" name="Rectangle: Rounded Corners 36">
            <a:extLst>
              <a:ext uri="{FF2B5EF4-FFF2-40B4-BE49-F238E27FC236}">
                <a16:creationId xmlns:a16="http://schemas.microsoft.com/office/drawing/2014/main" id="{F47D99A8-1EE9-6CF2-70BC-EF24173F6EE0}"/>
              </a:ext>
            </a:extLst>
          </p:cNvPr>
          <p:cNvSpPr/>
          <p:nvPr/>
        </p:nvSpPr>
        <p:spPr>
          <a:xfrm>
            <a:off x="8915400" y="5308600"/>
            <a:ext cx="7874000" cy="1270000"/>
          </a:xfrm>
          <a:prstGeom prst="roundRect">
            <a:avLst/>
          </a:prstGeom>
          <a:solidFill>
            <a:srgbClr val="FFFFFF"/>
          </a:solidFill>
          <a:ln w="12700">
            <a:solidFill>
              <a:srgbClr val="C7DC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ectangle: Rounded Corners 37">
            <a:extLst>
              <a:ext uri="{FF2B5EF4-FFF2-40B4-BE49-F238E27FC236}">
                <a16:creationId xmlns:a16="http://schemas.microsoft.com/office/drawing/2014/main" id="{52BCDE8F-2F2A-B48C-D556-98C53703EAAE}"/>
              </a:ext>
            </a:extLst>
          </p:cNvPr>
          <p:cNvSpPr/>
          <p:nvPr/>
        </p:nvSpPr>
        <p:spPr>
          <a:xfrm>
            <a:off x="9118600" y="5511800"/>
            <a:ext cx="660400" cy="660400"/>
          </a:xfrm>
          <a:prstGeom prst="roundRect">
            <a:avLst/>
          </a:prstGeom>
          <a:solidFill>
            <a:srgbClr val="FFF4DE"/>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3CEC1DA7-0405-7CC9-A9D3-FC53FE17E380}"/>
              </a:ext>
            </a:extLst>
          </p:cNvPr>
          <p:cNvSpPr txBox="1"/>
          <p:nvPr/>
        </p:nvSpPr>
        <p:spPr>
          <a:xfrm>
            <a:off x="9118600" y="5527189"/>
            <a:ext cx="660400" cy="184666"/>
          </a:xfrm>
          <a:prstGeom prst="rect">
            <a:avLst/>
          </a:prstGeom>
          <a:noFill/>
        </p:spPr>
        <p:txBody>
          <a:bodyPr vert="horz" wrap="square" lIns="0" tIns="0" rIns="0" bIns="0" rtlCol="0" anchor="ctr">
            <a:spAutoFit/>
          </a:bodyPr>
          <a:lstStyle/>
          <a:p>
            <a:pPr algn="ctr"/>
            <a:r>
              <a:rPr lang="en-GB" sz="1200">
                <a:solidFill>
                  <a:srgbClr val="F4A431"/>
                </a:solidFill>
                <a:latin typeface="Press Start 2P" panose="020B0604020202020204" charset="0"/>
              </a:rPr>
              <a:t>03</a:t>
            </a:r>
          </a:p>
        </p:txBody>
      </p:sp>
      <p:sp>
        <p:nvSpPr>
          <p:cNvPr id="40" name="TextBox 39">
            <a:extLst>
              <a:ext uri="{FF2B5EF4-FFF2-40B4-BE49-F238E27FC236}">
                <a16:creationId xmlns:a16="http://schemas.microsoft.com/office/drawing/2014/main" id="{534DFE17-02A1-53ED-ACD1-51C9F3A7628A}"/>
              </a:ext>
            </a:extLst>
          </p:cNvPr>
          <p:cNvSpPr txBox="1"/>
          <p:nvPr/>
        </p:nvSpPr>
        <p:spPr>
          <a:xfrm>
            <a:off x="10007600" y="5457153"/>
            <a:ext cx="6477000" cy="223138"/>
          </a:xfrm>
          <a:prstGeom prst="rect">
            <a:avLst/>
          </a:prstGeom>
          <a:noFill/>
        </p:spPr>
        <p:txBody>
          <a:bodyPr vert="horz" wrap="square" lIns="0" tIns="0" rIns="0" bIns="0" rtlCol="0" anchor="ctr">
            <a:spAutoFit/>
          </a:bodyPr>
          <a:lstStyle/>
          <a:p>
            <a:r>
              <a:rPr lang="en-GB" sz="1450" b="1">
                <a:solidFill>
                  <a:srgbClr val="19263A"/>
                </a:solidFill>
                <a:latin typeface="Segoe UI Semibold" panose="020B0702040204020203" pitchFamily="34" charset="0"/>
              </a:rPr>
              <a:t>Safe execution pipeline</a:t>
            </a:r>
          </a:p>
        </p:txBody>
      </p:sp>
      <p:sp>
        <p:nvSpPr>
          <p:cNvPr id="41" name="TextBox 40">
            <a:extLst>
              <a:ext uri="{FF2B5EF4-FFF2-40B4-BE49-F238E27FC236}">
                <a16:creationId xmlns:a16="http://schemas.microsoft.com/office/drawing/2014/main" id="{3AF37BE9-1B8B-0F16-E195-50E7C16CD01C}"/>
              </a:ext>
            </a:extLst>
          </p:cNvPr>
          <p:cNvSpPr txBox="1"/>
          <p:nvPr/>
        </p:nvSpPr>
        <p:spPr>
          <a:xfrm>
            <a:off x="10007600" y="5816600"/>
            <a:ext cx="6477000" cy="176972"/>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Queued jobs, tracked status, limits and Judge0 isolation separate bursty code workloads.</a:t>
            </a:r>
          </a:p>
        </p:txBody>
      </p:sp>
      <p:sp>
        <p:nvSpPr>
          <p:cNvPr id="42" name="Rectangle: Rounded Corners 41">
            <a:extLst>
              <a:ext uri="{FF2B5EF4-FFF2-40B4-BE49-F238E27FC236}">
                <a16:creationId xmlns:a16="http://schemas.microsoft.com/office/drawing/2014/main" id="{7117D0DA-8E34-65ED-BE0A-3AFA6052BEBF}"/>
              </a:ext>
            </a:extLst>
          </p:cNvPr>
          <p:cNvSpPr/>
          <p:nvPr/>
        </p:nvSpPr>
        <p:spPr>
          <a:xfrm>
            <a:off x="8915400" y="6705600"/>
            <a:ext cx="7874000" cy="1270000"/>
          </a:xfrm>
          <a:prstGeom prst="roundRect">
            <a:avLst/>
          </a:prstGeom>
          <a:solidFill>
            <a:srgbClr val="FFFFFF"/>
          </a:solidFill>
          <a:ln w="12700">
            <a:solidFill>
              <a:srgbClr val="C7DC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Rounded Corners 42">
            <a:extLst>
              <a:ext uri="{FF2B5EF4-FFF2-40B4-BE49-F238E27FC236}">
                <a16:creationId xmlns:a16="http://schemas.microsoft.com/office/drawing/2014/main" id="{0B5C0042-31D6-95C9-5F05-5A0406E438D2}"/>
              </a:ext>
            </a:extLst>
          </p:cNvPr>
          <p:cNvSpPr/>
          <p:nvPr/>
        </p:nvSpPr>
        <p:spPr>
          <a:xfrm>
            <a:off x="9118600" y="6908800"/>
            <a:ext cx="660400" cy="660400"/>
          </a:xfrm>
          <a:prstGeom prst="roundRect">
            <a:avLst/>
          </a:prstGeom>
          <a:solidFill>
            <a:srgbClr val="E1F7EC"/>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4" name="TextBox 43">
            <a:extLst>
              <a:ext uri="{FF2B5EF4-FFF2-40B4-BE49-F238E27FC236}">
                <a16:creationId xmlns:a16="http://schemas.microsoft.com/office/drawing/2014/main" id="{32DE9886-D23E-A8EC-57DF-C390DFABC3B7}"/>
              </a:ext>
            </a:extLst>
          </p:cNvPr>
          <p:cNvSpPr txBox="1"/>
          <p:nvPr/>
        </p:nvSpPr>
        <p:spPr>
          <a:xfrm>
            <a:off x="9118600" y="6924189"/>
            <a:ext cx="660400" cy="184666"/>
          </a:xfrm>
          <a:prstGeom prst="rect">
            <a:avLst/>
          </a:prstGeom>
          <a:noFill/>
        </p:spPr>
        <p:txBody>
          <a:bodyPr vert="horz" wrap="square" lIns="0" tIns="0" rIns="0" bIns="0" rtlCol="0" anchor="ctr">
            <a:spAutoFit/>
          </a:bodyPr>
          <a:lstStyle/>
          <a:p>
            <a:pPr algn="ctr"/>
            <a:r>
              <a:rPr lang="en-GB" sz="1200">
                <a:solidFill>
                  <a:srgbClr val="26A65B"/>
                </a:solidFill>
                <a:latin typeface="Press Start 2P" panose="020B0604020202020204" charset="0"/>
              </a:rPr>
              <a:t>04</a:t>
            </a:r>
          </a:p>
        </p:txBody>
      </p:sp>
      <p:sp>
        <p:nvSpPr>
          <p:cNvPr id="45" name="TextBox 44">
            <a:extLst>
              <a:ext uri="{FF2B5EF4-FFF2-40B4-BE49-F238E27FC236}">
                <a16:creationId xmlns:a16="http://schemas.microsoft.com/office/drawing/2014/main" id="{1B8FFFAF-FB3A-40C6-D726-618FC88E9A15}"/>
              </a:ext>
            </a:extLst>
          </p:cNvPr>
          <p:cNvSpPr txBox="1"/>
          <p:nvPr/>
        </p:nvSpPr>
        <p:spPr>
          <a:xfrm>
            <a:off x="10007600" y="6854153"/>
            <a:ext cx="6477000" cy="223138"/>
          </a:xfrm>
          <a:prstGeom prst="rect">
            <a:avLst/>
          </a:prstGeom>
          <a:noFill/>
        </p:spPr>
        <p:txBody>
          <a:bodyPr vert="horz" wrap="square" lIns="0" tIns="0" rIns="0" bIns="0" rtlCol="0" anchor="ctr">
            <a:spAutoFit/>
          </a:bodyPr>
          <a:lstStyle/>
          <a:p>
            <a:r>
              <a:rPr lang="en-GB" sz="1450" b="1">
                <a:solidFill>
                  <a:srgbClr val="19263A"/>
                </a:solidFill>
                <a:latin typeface="Segoe UI Semibold" panose="020B0702040204020203" pitchFamily="34" charset="0"/>
              </a:rPr>
              <a:t>Privacy-aware monitoring</a:t>
            </a:r>
          </a:p>
        </p:txBody>
      </p:sp>
      <p:sp>
        <p:nvSpPr>
          <p:cNvPr id="46" name="TextBox 45">
            <a:extLst>
              <a:ext uri="{FF2B5EF4-FFF2-40B4-BE49-F238E27FC236}">
                <a16:creationId xmlns:a16="http://schemas.microsoft.com/office/drawing/2014/main" id="{37929033-B1BC-BBCF-DF08-42F0D1A91CA4}"/>
              </a:ext>
            </a:extLst>
          </p:cNvPr>
          <p:cNvSpPr txBox="1"/>
          <p:nvPr/>
        </p:nvSpPr>
        <p:spPr>
          <a:xfrm>
            <a:off x="10007600" y="7213600"/>
            <a:ext cx="6477000" cy="176972"/>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Browser-side proctoring signals reduce the need to stream raw video to generative AI.</a:t>
            </a:r>
          </a:p>
        </p:txBody>
      </p:sp>
      <p:sp>
        <p:nvSpPr>
          <p:cNvPr id="47" name="Rectangle: Rounded Corners 46">
            <a:extLst>
              <a:ext uri="{FF2B5EF4-FFF2-40B4-BE49-F238E27FC236}">
                <a16:creationId xmlns:a16="http://schemas.microsoft.com/office/drawing/2014/main" id="{B2DA38CF-54CB-16C6-EFF5-108C8F06CED3}"/>
              </a:ext>
            </a:extLst>
          </p:cNvPr>
          <p:cNvSpPr/>
          <p:nvPr/>
        </p:nvSpPr>
        <p:spPr>
          <a:xfrm>
            <a:off x="1320800" y="7899400"/>
            <a:ext cx="15468600" cy="1041400"/>
          </a:xfrm>
          <a:prstGeom prst="roundRect">
            <a:avLst/>
          </a:prstGeom>
          <a:solidFill>
            <a:srgbClr val="112D52"/>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TextBox 47">
            <a:extLst>
              <a:ext uri="{FF2B5EF4-FFF2-40B4-BE49-F238E27FC236}">
                <a16:creationId xmlns:a16="http://schemas.microsoft.com/office/drawing/2014/main" id="{2F9BA1A7-E639-9CA1-73D7-5B8D94D39AFB}"/>
              </a:ext>
            </a:extLst>
          </p:cNvPr>
          <p:cNvSpPr txBox="1"/>
          <p:nvPr/>
        </p:nvSpPr>
        <p:spPr>
          <a:xfrm>
            <a:off x="1600200" y="8141072"/>
            <a:ext cx="2413000" cy="138499"/>
          </a:xfrm>
          <a:prstGeom prst="rect">
            <a:avLst/>
          </a:prstGeom>
          <a:noFill/>
        </p:spPr>
        <p:txBody>
          <a:bodyPr vert="horz" wrap="square" lIns="0" tIns="0" rIns="0" bIns="0" rtlCol="0" anchor="ctr">
            <a:spAutoFit/>
          </a:bodyPr>
          <a:lstStyle/>
          <a:p>
            <a:r>
              <a:rPr lang="en-GB" sz="900">
                <a:solidFill>
                  <a:srgbClr val="E2F4FD"/>
                </a:solidFill>
                <a:latin typeface="Press Start 2P" panose="020B0604020202020204" charset="0"/>
              </a:rPr>
              <a:t>CURRENT STACK</a:t>
            </a:r>
          </a:p>
        </p:txBody>
      </p:sp>
      <p:sp>
        <p:nvSpPr>
          <p:cNvPr id="49" name="TextBox 48">
            <a:extLst>
              <a:ext uri="{FF2B5EF4-FFF2-40B4-BE49-F238E27FC236}">
                <a16:creationId xmlns:a16="http://schemas.microsoft.com/office/drawing/2014/main" id="{3019DE16-A72D-CEB0-95CC-2B13510EA763}"/>
              </a:ext>
            </a:extLst>
          </p:cNvPr>
          <p:cNvSpPr txBox="1"/>
          <p:nvPr/>
        </p:nvSpPr>
        <p:spPr>
          <a:xfrm>
            <a:off x="4114800" y="7987142"/>
            <a:ext cx="12319000" cy="192360"/>
          </a:xfrm>
          <a:prstGeom prst="rect">
            <a:avLst/>
          </a:prstGeom>
          <a:noFill/>
        </p:spPr>
        <p:txBody>
          <a:bodyPr vert="horz" wrap="square" lIns="0" tIns="0" rIns="0" bIns="0" rtlCol="0" anchor="ctr">
            <a:spAutoFit/>
          </a:bodyPr>
          <a:lstStyle/>
          <a:p>
            <a:r>
              <a:rPr lang="en-GB" sz="1250" b="1">
                <a:solidFill>
                  <a:srgbClr val="FFFFFF"/>
                </a:solidFill>
                <a:latin typeface="Segoe UI Semibold" panose="020B0702040204020203" pitchFamily="34" charset="0"/>
              </a:rPr>
              <a:t>React 19 + Vite   |   Node.js + Express   |   MongoDB   |   Valkey / BullMQ   |   Judge0   |   Socket.IO   |   MediaPipe / TensorFlow.js</a:t>
            </a:r>
          </a:p>
        </p:txBody>
      </p:sp>
      <p:sp>
        <p:nvSpPr>
          <p:cNvPr id="50" name="TextBox 49">
            <a:extLst>
              <a:ext uri="{FF2B5EF4-FFF2-40B4-BE49-F238E27FC236}">
                <a16:creationId xmlns:a16="http://schemas.microsoft.com/office/drawing/2014/main" id="{286A67C3-0FAA-EEF9-132B-A6B87A516099}"/>
              </a:ext>
            </a:extLst>
          </p:cNvPr>
          <p:cNvSpPr txBox="1"/>
          <p:nvPr/>
        </p:nvSpPr>
        <p:spPr>
          <a:xfrm>
            <a:off x="4114800" y="8519383"/>
            <a:ext cx="12319000" cy="169277"/>
          </a:xfrm>
          <a:prstGeom prst="rect">
            <a:avLst/>
          </a:prstGeom>
          <a:noFill/>
        </p:spPr>
        <p:txBody>
          <a:bodyPr vert="horz" wrap="square" lIns="0" tIns="0" rIns="0" bIns="0" rtlCol="0" anchor="ctr">
            <a:spAutoFit/>
          </a:bodyPr>
          <a:lstStyle/>
          <a:p>
            <a:r>
              <a:rPr lang="en-GB" sz="1100">
                <a:solidFill>
                  <a:srgbClr val="E2F4FD"/>
                </a:solidFill>
                <a:latin typeface="Segoe UI" panose="020B0502040204020203" pitchFamily="34" charset="0"/>
              </a:rPr>
              <a:t>Near-term target: a well-bounded modular monolith with independently scalable workers.</a:t>
            </a:r>
          </a:p>
        </p:txBody>
      </p:sp>
    </p:spTree>
    <p:extLst>
      <p:ext uri="{BB962C8B-B14F-4D97-AF65-F5344CB8AC3E}">
        <p14:creationId xmlns:p14="http://schemas.microsoft.com/office/powerpoint/2010/main" val="901756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Google Shape;169;p18">
            <a:extLst>
              <a:ext uri="{FF2B5EF4-FFF2-40B4-BE49-F238E27FC236}">
                <a16:creationId xmlns:a16="http://schemas.microsoft.com/office/drawing/2014/main" id="{65B972D2-4333-46D4-8EBD-EA5178E609B1}"/>
              </a:ext>
            </a:extLst>
          </p:cNvPr>
          <p:cNvSpPr>
            <a:spLocks noGrp="1"/>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rotWithShape="1">
            <a:blip r:embed="rId3">
              <a:alphaModFix/>
            </a:blip>
            <a:stretch>
              <a:fillRect l="-366" r="-366"/>
            </a:stretch>
          </a:blipFill>
          <a:ln>
            <a:noFill/>
          </a:ln>
        </p:spPr>
      </p:sp>
      <p:sp>
        <p:nvSpPr>
          <p:cNvPr id="171" name="Google Shape;171;p18">
            <a:extLst>
              <a:ext uri="{FF2B5EF4-FFF2-40B4-BE49-F238E27FC236}">
                <a16:creationId xmlns:a16="http://schemas.microsoft.com/office/drawing/2014/main" id="{13BB5EBB-B775-4009-BC74-74DAD06850AE}"/>
              </a:ext>
            </a:extLst>
          </p:cNvPr>
          <p:cNvSpPr>
            <a:spLocks noGrp="1"/>
          </p:cNvSpPr>
          <p:nvPr/>
        </p:nvSpPr>
        <p:spPr>
          <a:xfrm>
            <a:off x="3853513" y="458687"/>
            <a:ext cx="10674112" cy="1714500"/>
          </a:xfrm>
          <a:custGeom>
            <a:avLst/>
            <a:gdLst/>
            <a:ahLst/>
            <a:cxnLst/>
            <a:rect l="l" t="t" r="r" b="b"/>
            <a:pathLst>
              <a:path w="14232150" h="2286000">
                <a:moveTo>
                  <a:pt x="0" y="0"/>
                </a:moveTo>
                <a:lnTo>
                  <a:pt x="14232150" y="0"/>
                </a:lnTo>
                <a:lnTo>
                  <a:pt x="14232150" y="2286000"/>
                </a:lnTo>
                <a:lnTo>
                  <a:pt x="0" y="2286000"/>
                </a:lnTo>
                <a:close/>
              </a:path>
            </a:pathLst>
          </a:custGeom>
          <a:blipFill rotWithShape="1">
            <a:blip r:embed="rId4">
              <a:alphaModFix amt="0"/>
            </a:blip>
            <a:stretch>
              <a:fillRect t="-137056" r="-54197" b="-137056"/>
            </a:stretch>
          </a:blipFill>
          <a:ln>
            <a:noFill/>
          </a:ln>
        </p:spPr>
      </p:sp>
      <p:sp>
        <p:nvSpPr>
          <p:cNvPr id="175" name="Google Shape;175;p18">
            <a:extLst>
              <a:ext uri="{FF2B5EF4-FFF2-40B4-BE49-F238E27FC236}">
                <a16:creationId xmlns:a16="http://schemas.microsoft.com/office/drawing/2014/main" id="{F41DA780-F213-4ABB-9CB3-8273414870FE}"/>
              </a:ext>
            </a:extLst>
          </p:cNvPr>
          <p:cNvSpPr>
            <a:spLocks noGrp="1"/>
          </p:cNvSpPr>
          <p:nvPr/>
        </p:nvSpPr>
        <p:spPr>
          <a:xfrm>
            <a:off x="16905046" y="9558014"/>
            <a:ext cx="478077" cy="500713"/>
          </a:xfrm>
          <a:custGeom>
            <a:avLst/>
            <a:gdLst/>
            <a:ahLst/>
            <a:cxnLst/>
            <a:rect l="l" t="t" r="r" b="b"/>
            <a:pathLst>
              <a:path w="637436" h="667618">
                <a:moveTo>
                  <a:pt x="0" y="0"/>
                </a:moveTo>
                <a:lnTo>
                  <a:pt x="637436" y="0"/>
                </a:lnTo>
                <a:lnTo>
                  <a:pt x="637436" y="667618"/>
                </a:lnTo>
                <a:lnTo>
                  <a:pt x="0" y="667618"/>
                </a:lnTo>
                <a:close/>
              </a:path>
            </a:pathLst>
          </a:custGeom>
          <a:blipFill rotWithShape="1">
            <a:blip r:embed="rId4">
              <a:alphaModFix amt="0"/>
            </a:blip>
            <a:stretch>
              <a:fillRect l="-84380" r="-84380" b="-1"/>
            </a:stretch>
          </a:blipFill>
          <a:ln>
            <a:noFill/>
          </a:ln>
        </p:spPr>
      </p:sp>
      <p:sp>
        <p:nvSpPr>
          <p:cNvPr id="178" name="Google Shape;178;p18">
            <a:extLst>
              <a:ext uri="{FF2B5EF4-FFF2-40B4-BE49-F238E27FC236}">
                <a16:creationId xmlns:a16="http://schemas.microsoft.com/office/drawing/2014/main" id="{9831AA58-24F8-4572-8758-41C0A041E513}"/>
              </a:ext>
            </a:extLst>
          </p:cNvPr>
          <p:cNvSpPr>
            <a:spLocks noGrp="1"/>
          </p:cNvSpPr>
          <p:nvPr/>
        </p:nvSpPr>
        <p:spPr>
          <a:xfrm>
            <a:off x="512956" y="351328"/>
            <a:ext cx="3577686" cy="894398"/>
          </a:xfrm>
          <a:custGeom>
            <a:avLst/>
            <a:gdLst/>
            <a:ahLst/>
            <a:cxnLst/>
            <a:rect l="l" t="t" r="r" b="b"/>
            <a:pathLst>
              <a:path w="4770247" h="1192530">
                <a:moveTo>
                  <a:pt x="0" y="0"/>
                </a:moveTo>
                <a:lnTo>
                  <a:pt x="4770247" y="0"/>
                </a:lnTo>
                <a:lnTo>
                  <a:pt x="4770247" y="1192530"/>
                </a:lnTo>
                <a:lnTo>
                  <a:pt x="0" y="1192530"/>
                </a:lnTo>
                <a:lnTo>
                  <a:pt x="0" y="0"/>
                </a:lnTo>
                <a:close/>
              </a:path>
            </a:pathLst>
          </a:custGeom>
          <a:blipFill rotWithShape="1">
            <a:blip r:embed="rId5">
              <a:alphaModFix/>
            </a:blip>
            <a:stretch>
              <a:fillRect r="-1" b="-4"/>
            </a:stretch>
          </a:blipFill>
          <a:ln>
            <a:noFill/>
          </a:ln>
        </p:spPr>
      </p:sp>
      <p:sp>
        <p:nvSpPr>
          <p:cNvPr id="179" name="Google Shape;179;p18">
            <a:extLst>
              <a:ext uri="{FF2B5EF4-FFF2-40B4-BE49-F238E27FC236}">
                <a16:creationId xmlns:a16="http://schemas.microsoft.com/office/drawing/2014/main" id="{15FF2F5E-34D8-42E8-884D-08A3E8DD0390}"/>
              </a:ext>
            </a:extLst>
          </p:cNvPr>
          <p:cNvSpPr>
            <a:spLocks noGrp="1"/>
          </p:cNvSpPr>
          <p:nvPr/>
        </p:nvSpPr>
        <p:spPr>
          <a:xfrm>
            <a:off x="15876875" y="276037"/>
            <a:ext cx="1894575" cy="969727"/>
          </a:xfrm>
          <a:custGeom>
            <a:avLst/>
            <a:gdLst/>
            <a:ahLst/>
            <a:cxnLst/>
            <a:rect l="l" t="t" r="r" b="b"/>
            <a:pathLst>
              <a:path w="1894575" h="969727">
                <a:moveTo>
                  <a:pt x="0" y="0"/>
                </a:moveTo>
                <a:lnTo>
                  <a:pt x="1894575" y="0"/>
                </a:lnTo>
                <a:lnTo>
                  <a:pt x="1894575" y="969727"/>
                </a:lnTo>
                <a:lnTo>
                  <a:pt x="0" y="969727"/>
                </a:lnTo>
                <a:lnTo>
                  <a:pt x="0" y="0"/>
                </a:lnTo>
                <a:close/>
              </a:path>
            </a:pathLst>
          </a:custGeom>
          <a:blipFill rotWithShape="1">
            <a:blip r:embed="rId6">
              <a:alphaModFix/>
            </a:blip>
            <a:stretch>
              <a:fillRect l="-16123" t="-146250" r="-62286" b="-204749"/>
            </a:stretch>
          </a:blipFill>
          <a:ln>
            <a:noFill/>
          </a:ln>
        </p:spPr>
      </p:sp>
      <p:sp>
        <p:nvSpPr>
          <p:cNvPr id="2" name="TextBox 1">
            <a:extLst>
              <a:ext uri="{FF2B5EF4-FFF2-40B4-BE49-F238E27FC236}">
                <a16:creationId xmlns:a16="http://schemas.microsoft.com/office/drawing/2014/main" id="{32B601A7-AF20-2299-AD09-42969A987030}"/>
              </a:ext>
            </a:extLst>
          </p:cNvPr>
          <p:cNvSpPr txBox="1"/>
          <p:nvPr/>
        </p:nvSpPr>
        <p:spPr>
          <a:xfrm>
            <a:off x="4953000" y="349850"/>
            <a:ext cx="8382000" cy="138499"/>
          </a:xfrm>
          <a:prstGeom prst="rect">
            <a:avLst/>
          </a:prstGeom>
          <a:noFill/>
        </p:spPr>
        <p:txBody>
          <a:bodyPr vert="horz" wrap="square" lIns="0" tIns="0" rIns="0" bIns="0" rtlCol="0" anchor="ctr">
            <a:spAutoFit/>
          </a:bodyPr>
          <a:lstStyle/>
          <a:p>
            <a:pPr algn="ctr"/>
            <a:r>
              <a:rPr lang="en-GB" sz="900">
                <a:solidFill>
                  <a:srgbClr val="009DDC"/>
                </a:solidFill>
                <a:latin typeface="Press Start 2P" panose="020B0604020202020204" charset="0"/>
              </a:rPr>
              <a:t>IMPACT // MEASURE WHAT CHANGES</a:t>
            </a:r>
          </a:p>
        </p:txBody>
      </p:sp>
      <p:sp>
        <p:nvSpPr>
          <p:cNvPr id="3" name="TextBox 2">
            <a:extLst>
              <a:ext uri="{FF2B5EF4-FFF2-40B4-BE49-F238E27FC236}">
                <a16:creationId xmlns:a16="http://schemas.microsoft.com/office/drawing/2014/main" id="{E8A01868-C80B-841E-A048-F07D750D1856}"/>
              </a:ext>
            </a:extLst>
          </p:cNvPr>
          <p:cNvSpPr txBox="1"/>
          <p:nvPr/>
        </p:nvSpPr>
        <p:spPr>
          <a:xfrm>
            <a:off x="4191000" y="935622"/>
            <a:ext cx="11176000" cy="338554"/>
          </a:xfrm>
          <a:prstGeom prst="rect">
            <a:avLst/>
          </a:prstGeom>
          <a:noFill/>
        </p:spPr>
        <p:txBody>
          <a:bodyPr vert="horz" wrap="square" lIns="0" tIns="0" rIns="0" bIns="0" rtlCol="0" anchor="ctr">
            <a:spAutoFit/>
          </a:bodyPr>
          <a:lstStyle/>
          <a:p>
            <a:pPr algn="ctr"/>
            <a:r>
              <a:rPr lang="en-GB" sz="2200">
                <a:solidFill>
                  <a:srgbClr val="19263A"/>
                </a:solidFill>
                <a:latin typeface="Press Start 2P" panose="020B0604020202020204" charset="0"/>
              </a:rPr>
              <a:t>Pilot -&gt; Evidence -&gt; Campus Scale</a:t>
            </a:r>
          </a:p>
        </p:txBody>
      </p:sp>
      <p:cxnSp>
        <p:nvCxnSpPr>
          <p:cNvPr id="4" name="Straight Connector 3">
            <a:extLst>
              <a:ext uri="{FF2B5EF4-FFF2-40B4-BE49-F238E27FC236}">
                <a16:creationId xmlns:a16="http://schemas.microsoft.com/office/drawing/2014/main" id="{4D7E902D-CB31-28A7-165E-CD9682C72D0D}"/>
              </a:ext>
            </a:extLst>
          </p:cNvPr>
          <p:cNvCxnSpPr/>
          <p:nvPr/>
        </p:nvCxnSpPr>
        <p:spPr>
          <a:xfrm>
            <a:off x="7747000" y="1587500"/>
            <a:ext cx="2794000" cy="0"/>
          </a:xfrm>
          <a:prstGeom prst="line">
            <a:avLst/>
          </a:prstGeom>
          <a:ln w="50800">
            <a:solidFill>
              <a:srgbClr val="009DDC"/>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D0BB9DC1-B2AC-C22F-D9A0-F6B146709AB5}"/>
              </a:ext>
            </a:extLst>
          </p:cNvPr>
          <p:cNvSpPr txBox="1"/>
          <p:nvPr/>
        </p:nvSpPr>
        <p:spPr>
          <a:xfrm>
            <a:off x="16891000" y="9667389"/>
            <a:ext cx="635000" cy="184666"/>
          </a:xfrm>
          <a:prstGeom prst="rect">
            <a:avLst/>
          </a:prstGeom>
          <a:noFill/>
        </p:spPr>
        <p:txBody>
          <a:bodyPr vert="horz" wrap="square" lIns="0" tIns="0" rIns="0" bIns="0" rtlCol="0" anchor="ctr">
            <a:spAutoFit/>
          </a:bodyPr>
          <a:lstStyle/>
          <a:p>
            <a:pPr algn="ctr"/>
            <a:r>
              <a:rPr lang="en-GB" sz="1200" b="1">
                <a:solidFill>
                  <a:srgbClr val="708197"/>
                </a:solidFill>
                <a:latin typeface="Segoe UI Semibold" panose="020B0702040204020203" pitchFamily="34" charset="0"/>
              </a:rPr>
              <a:t>06</a:t>
            </a:r>
          </a:p>
        </p:txBody>
      </p:sp>
      <p:sp>
        <p:nvSpPr>
          <p:cNvPr id="6" name="TextBox 5">
            <a:extLst>
              <a:ext uri="{FF2B5EF4-FFF2-40B4-BE49-F238E27FC236}">
                <a16:creationId xmlns:a16="http://schemas.microsoft.com/office/drawing/2014/main" id="{9EA2E154-47F4-576C-F6B2-C6EE65D52B7D}"/>
              </a:ext>
            </a:extLst>
          </p:cNvPr>
          <p:cNvSpPr txBox="1"/>
          <p:nvPr/>
        </p:nvSpPr>
        <p:spPr>
          <a:xfrm>
            <a:off x="406400" y="9741272"/>
            <a:ext cx="2794000" cy="138499"/>
          </a:xfrm>
          <a:prstGeom prst="rect">
            <a:avLst/>
          </a:prstGeom>
          <a:noFill/>
        </p:spPr>
        <p:txBody>
          <a:bodyPr vert="horz" wrap="square" lIns="0" tIns="0" rIns="0" bIns="0" rtlCol="0" anchor="ctr">
            <a:spAutoFit/>
          </a:bodyPr>
          <a:lstStyle/>
          <a:p>
            <a:r>
              <a:rPr lang="en-GB" sz="900">
                <a:solidFill>
                  <a:srgbClr val="112D52"/>
                </a:solidFill>
                <a:latin typeface="Press Start 2P" panose="020B0604020202020204" charset="0"/>
              </a:rPr>
              <a:t>VAR // PEERPREP</a:t>
            </a:r>
          </a:p>
        </p:txBody>
      </p:sp>
      <p:sp>
        <p:nvSpPr>
          <p:cNvPr id="7" name="TextBox 6">
            <a:extLst>
              <a:ext uri="{FF2B5EF4-FFF2-40B4-BE49-F238E27FC236}">
                <a16:creationId xmlns:a16="http://schemas.microsoft.com/office/drawing/2014/main" id="{E81C276D-1C2D-EED5-C70D-F76B75D6AADF}"/>
              </a:ext>
            </a:extLst>
          </p:cNvPr>
          <p:cNvSpPr txBox="1"/>
          <p:nvPr/>
        </p:nvSpPr>
        <p:spPr>
          <a:xfrm>
            <a:off x="1193800" y="1836123"/>
            <a:ext cx="9144000" cy="276999"/>
          </a:xfrm>
          <a:prstGeom prst="rect">
            <a:avLst/>
          </a:prstGeom>
          <a:noFill/>
        </p:spPr>
        <p:txBody>
          <a:bodyPr vert="horz" wrap="square" lIns="0" tIns="0" rIns="0" bIns="0" rtlCol="0" anchor="ctr">
            <a:spAutoFit/>
          </a:bodyPr>
          <a:lstStyle/>
          <a:p>
            <a:r>
              <a:rPr lang="en-GB" sz="1800" b="1">
                <a:solidFill>
                  <a:srgbClr val="112D52"/>
                </a:solidFill>
                <a:latin typeface="Segoe UI Semibold" panose="020B0702040204020203" pitchFamily="34" charset="0"/>
              </a:rPr>
              <a:t>Success metrics for a 90-day pilot</a:t>
            </a:r>
          </a:p>
        </p:txBody>
      </p:sp>
      <p:sp>
        <p:nvSpPr>
          <p:cNvPr id="8" name="Rectangle: Rounded Corners 7">
            <a:extLst>
              <a:ext uri="{FF2B5EF4-FFF2-40B4-BE49-F238E27FC236}">
                <a16:creationId xmlns:a16="http://schemas.microsoft.com/office/drawing/2014/main" id="{CC457A53-56FD-11A3-A4E0-3ABDC5AEA64D}"/>
              </a:ext>
            </a:extLst>
          </p:cNvPr>
          <p:cNvSpPr/>
          <p:nvPr/>
        </p:nvSpPr>
        <p:spPr>
          <a:xfrm>
            <a:off x="1193800" y="2413000"/>
            <a:ext cx="3810000" cy="14986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Rounded Corners 8">
            <a:extLst>
              <a:ext uri="{FF2B5EF4-FFF2-40B4-BE49-F238E27FC236}">
                <a16:creationId xmlns:a16="http://schemas.microsoft.com/office/drawing/2014/main" id="{04A3DF79-8171-B058-5E74-2AB14C0C1EE1}"/>
              </a:ext>
            </a:extLst>
          </p:cNvPr>
          <p:cNvSpPr/>
          <p:nvPr/>
        </p:nvSpPr>
        <p:spPr>
          <a:xfrm>
            <a:off x="1397000" y="2603500"/>
            <a:ext cx="609600" cy="355600"/>
          </a:xfrm>
          <a:prstGeom prst="roundRect">
            <a:avLst/>
          </a:prstGeom>
          <a:solidFill>
            <a:srgbClr val="E2F4FD"/>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0151759B-7CBA-5E21-4542-904BD33D73E0}"/>
              </a:ext>
            </a:extLst>
          </p:cNvPr>
          <p:cNvSpPr txBox="1"/>
          <p:nvPr/>
        </p:nvSpPr>
        <p:spPr>
          <a:xfrm>
            <a:off x="1397000" y="2641972"/>
            <a:ext cx="609600" cy="189796"/>
          </a:xfrm>
          <a:prstGeom prst="rect">
            <a:avLst/>
          </a:prstGeom>
          <a:noFill/>
        </p:spPr>
        <p:txBody>
          <a:bodyPr vert="horz" wrap="square" lIns="25400" tIns="25400" rIns="25400" bIns="25400" rtlCol="0" anchor="ctr">
            <a:spAutoFit/>
          </a:bodyPr>
          <a:lstStyle/>
          <a:p>
            <a:pPr algn="ctr"/>
            <a:r>
              <a:rPr lang="en-GB" sz="900" b="1">
                <a:solidFill>
                  <a:srgbClr val="009DDC"/>
                </a:solidFill>
                <a:latin typeface="Segoe UI Semibold" panose="020B0702040204020203" pitchFamily="34" charset="0"/>
              </a:rPr>
              <a:t>01</a:t>
            </a:r>
          </a:p>
        </p:txBody>
      </p:sp>
      <p:sp>
        <p:nvSpPr>
          <p:cNvPr id="11" name="TextBox 10">
            <a:extLst>
              <a:ext uri="{FF2B5EF4-FFF2-40B4-BE49-F238E27FC236}">
                <a16:creationId xmlns:a16="http://schemas.microsoft.com/office/drawing/2014/main" id="{7ECD8154-E361-0FE5-8CF9-A32A69402398}"/>
              </a:ext>
            </a:extLst>
          </p:cNvPr>
          <p:cNvSpPr txBox="1"/>
          <p:nvPr/>
        </p:nvSpPr>
        <p:spPr>
          <a:xfrm>
            <a:off x="2184400" y="2595806"/>
            <a:ext cx="2540000" cy="230832"/>
          </a:xfrm>
          <a:prstGeom prst="rect">
            <a:avLst/>
          </a:prstGeom>
          <a:noFill/>
        </p:spPr>
        <p:txBody>
          <a:bodyPr vert="horz" wrap="square" lIns="0" tIns="0" rIns="0" bIns="0" rtlCol="0" anchor="ctr">
            <a:spAutoFit/>
          </a:bodyPr>
          <a:lstStyle/>
          <a:p>
            <a:r>
              <a:rPr lang="en-GB" sz="1500" b="1">
                <a:solidFill>
                  <a:srgbClr val="19263A"/>
                </a:solidFill>
                <a:latin typeface="Segoe UI Semibold" panose="020B0702040204020203" pitchFamily="34" charset="0"/>
              </a:rPr>
              <a:t>Completion</a:t>
            </a:r>
          </a:p>
        </p:txBody>
      </p:sp>
      <p:sp>
        <p:nvSpPr>
          <p:cNvPr id="12" name="TextBox 11">
            <a:extLst>
              <a:ext uri="{FF2B5EF4-FFF2-40B4-BE49-F238E27FC236}">
                <a16:creationId xmlns:a16="http://schemas.microsoft.com/office/drawing/2014/main" id="{DEDB6D61-74F5-1B33-976F-F4432BC39DB7}"/>
              </a:ext>
            </a:extLst>
          </p:cNvPr>
          <p:cNvSpPr txBox="1"/>
          <p:nvPr/>
        </p:nvSpPr>
        <p:spPr>
          <a:xfrm>
            <a:off x="1397000" y="3098800"/>
            <a:ext cx="3378200" cy="176972"/>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Learning + assessment completion rate</a:t>
            </a:r>
          </a:p>
        </p:txBody>
      </p:sp>
      <p:sp>
        <p:nvSpPr>
          <p:cNvPr id="13" name="Rectangle: Rounded Corners 12">
            <a:extLst>
              <a:ext uri="{FF2B5EF4-FFF2-40B4-BE49-F238E27FC236}">
                <a16:creationId xmlns:a16="http://schemas.microsoft.com/office/drawing/2014/main" id="{8CC28E77-F0B3-BBC6-178C-EDCDEA685727}"/>
              </a:ext>
            </a:extLst>
          </p:cNvPr>
          <p:cNvSpPr/>
          <p:nvPr/>
        </p:nvSpPr>
        <p:spPr>
          <a:xfrm>
            <a:off x="5232400" y="2413000"/>
            <a:ext cx="3810000" cy="14986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ectangle: Rounded Corners 13">
            <a:extLst>
              <a:ext uri="{FF2B5EF4-FFF2-40B4-BE49-F238E27FC236}">
                <a16:creationId xmlns:a16="http://schemas.microsoft.com/office/drawing/2014/main" id="{8E850C39-52AB-9D55-95C1-B7ECAC9B278D}"/>
              </a:ext>
            </a:extLst>
          </p:cNvPr>
          <p:cNvSpPr/>
          <p:nvPr/>
        </p:nvSpPr>
        <p:spPr>
          <a:xfrm>
            <a:off x="5435600" y="2603500"/>
            <a:ext cx="609600" cy="355600"/>
          </a:xfrm>
          <a:prstGeom prst="roundRect">
            <a:avLst/>
          </a:prstGeom>
          <a:solidFill>
            <a:srgbClr val="EFE9FC"/>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446540C7-2154-681E-A321-A76099130431}"/>
              </a:ext>
            </a:extLst>
          </p:cNvPr>
          <p:cNvSpPr txBox="1"/>
          <p:nvPr/>
        </p:nvSpPr>
        <p:spPr>
          <a:xfrm>
            <a:off x="5435600" y="2641972"/>
            <a:ext cx="609600" cy="189796"/>
          </a:xfrm>
          <a:prstGeom prst="rect">
            <a:avLst/>
          </a:prstGeom>
          <a:noFill/>
        </p:spPr>
        <p:txBody>
          <a:bodyPr vert="horz" wrap="square" lIns="25400" tIns="25400" rIns="25400" bIns="25400" rtlCol="0" anchor="ctr">
            <a:spAutoFit/>
          </a:bodyPr>
          <a:lstStyle/>
          <a:p>
            <a:pPr algn="ctr"/>
            <a:r>
              <a:rPr lang="en-GB" sz="900" b="1">
                <a:solidFill>
                  <a:srgbClr val="7354BD"/>
                </a:solidFill>
                <a:latin typeface="Segoe UI Semibold" panose="020B0702040204020203" pitchFamily="34" charset="0"/>
              </a:rPr>
              <a:t>02</a:t>
            </a:r>
          </a:p>
        </p:txBody>
      </p:sp>
      <p:sp>
        <p:nvSpPr>
          <p:cNvPr id="16" name="TextBox 15">
            <a:extLst>
              <a:ext uri="{FF2B5EF4-FFF2-40B4-BE49-F238E27FC236}">
                <a16:creationId xmlns:a16="http://schemas.microsoft.com/office/drawing/2014/main" id="{528165BC-D153-A077-A856-ED6FB9DDAC80}"/>
              </a:ext>
            </a:extLst>
          </p:cNvPr>
          <p:cNvSpPr txBox="1"/>
          <p:nvPr/>
        </p:nvSpPr>
        <p:spPr>
          <a:xfrm>
            <a:off x="6223000" y="2595806"/>
            <a:ext cx="2540000" cy="230832"/>
          </a:xfrm>
          <a:prstGeom prst="rect">
            <a:avLst/>
          </a:prstGeom>
          <a:noFill/>
        </p:spPr>
        <p:txBody>
          <a:bodyPr vert="horz" wrap="square" lIns="0" tIns="0" rIns="0" bIns="0" rtlCol="0" anchor="ctr">
            <a:spAutoFit/>
          </a:bodyPr>
          <a:lstStyle/>
          <a:p>
            <a:r>
              <a:rPr lang="en-GB" sz="1500" b="1">
                <a:solidFill>
                  <a:srgbClr val="19263A"/>
                </a:solidFill>
                <a:latin typeface="Segoe UI Semibold" panose="020B0702040204020203" pitchFamily="34" charset="0"/>
              </a:rPr>
              <a:t>Skill gap</a:t>
            </a:r>
          </a:p>
        </p:txBody>
      </p:sp>
      <p:sp>
        <p:nvSpPr>
          <p:cNvPr id="17" name="TextBox 16">
            <a:extLst>
              <a:ext uri="{FF2B5EF4-FFF2-40B4-BE49-F238E27FC236}">
                <a16:creationId xmlns:a16="http://schemas.microsoft.com/office/drawing/2014/main" id="{1984998A-1847-349A-D966-ECBF005D99D9}"/>
              </a:ext>
            </a:extLst>
          </p:cNvPr>
          <p:cNvSpPr txBox="1"/>
          <p:nvPr/>
        </p:nvSpPr>
        <p:spPr>
          <a:xfrm>
            <a:off x="5435600" y="3098800"/>
            <a:ext cx="3378200" cy="176972"/>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Improvement by topic and difficulty</a:t>
            </a:r>
          </a:p>
        </p:txBody>
      </p:sp>
      <p:sp>
        <p:nvSpPr>
          <p:cNvPr id="18" name="Rectangle: Rounded Corners 17">
            <a:extLst>
              <a:ext uri="{FF2B5EF4-FFF2-40B4-BE49-F238E27FC236}">
                <a16:creationId xmlns:a16="http://schemas.microsoft.com/office/drawing/2014/main" id="{60547B10-E2BA-9333-B6C8-4CDCFC2D8796}"/>
              </a:ext>
            </a:extLst>
          </p:cNvPr>
          <p:cNvSpPr/>
          <p:nvPr/>
        </p:nvSpPr>
        <p:spPr>
          <a:xfrm>
            <a:off x="9271000" y="2413000"/>
            <a:ext cx="3810000" cy="14986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ectangle: Rounded Corners 18">
            <a:extLst>
              <a:ext uri="{FF2B5EF4-FFF2-40B4-BE49-F238E27FC236}">
                <a16:creationId xmlns:a16="http://schemas.microsoft.com/office/drawing/2014/main" id="{C71F35C2-2BEC-37D9-C017-796847EF048C}"/>
              </a:ext>
            </a:extLst>
          </p:cNvPr>
          <p:cNvSpPr/>
          <p:nvPr/>
        </p:nvSpPr>
        <p:spPr>
          <a:xfrm>
            <a:off x="9474200" y="2603500"/>
            <a:ext cx="609600" cy="355600"/>
          </a:xfrm>
          <a:prstGeom prst="roundRect">
            <a:avLst/>
          </a:prstGeom>
          <a:solidFill>
            <a:srgbClr val="FFF4DE"/>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40324FE3-2E53-5B36-3759-CA340A0DFB45}"/>
              </a:ext>
            </a:extLst>
          </p:cNvPr>
          <p:cNvSpPr txBox="1"/>
          <p:nvPr/>
        </p:nvSpPr>
        <p:spPr>
          <a:xfrm>
            <a:off x="9474200" y="2641972"/>
            <a:ext cx="609600" cy="189796"/>
          </a:xfrm>
          <a:prstGeom prst="rect">
            <a:avLst/>
          </a:prstGeom>
          <a:noFill/>
        </p:spPr>
        <p:txBody>
          <a:bodyPr vert="horz" wrap="square" lIns="25400" tIns="25400" rIns="25400" bIns="25400" rtlCol="0" anchor="ctr">
            <a:spAutoFit/>
          </a:bodyPr>
          <a:lstStyle/>
          <a:p>
            <a:pPr algn="ctr"/>
            <a:r>
              <a:rPr lang="en-GB" sz="900" b="1">
                <a:solidFill>
                  <a:srgbClr val="F4A431"/>
                </a:solidFill>
                <a:latin typeface="Segoe UI Semibold" panose="020B0702040204020203" pitchFamily="34" charset="0"/>
              </a:rPr>
              <a:t>03</a:t>
            </a:r>
          </a:p>
        </p:txBody>
      </p:sp>
      <p:sp>
        <p:nvSpPr>
          <p:cNvPr id="21" name="TextBox 20">
            <a:extLst>
              <a:ext uri="{FF2B5EF4-FFF2-40B4-BE49-F238E27FC236}">
                <a16:creationId xmlns:a16="http://schemas.microsoft.com/office/drawing/2014/main" id="{C66AE852-FE59-1ADF-3235-D9E7E0D17075}"/>
              </a:ext>
            </a:extLst>
          </p:cNvPr>
          <p:cNvSpPr txBox="1"/>
          <p:nvPr/>
        </p:nvSpPr>
        <p:spPr>
          <a:xfrm>
            <a:off x="10261600" y="2595806"/>
            <a:ext cx="2540000" cy="230832"/>
          </a:xfrm>
          <a:prstGeom prst="rect">
            <a:avLst/>
          </a:prstGeom>
          <a:noFill/>
        </p:spPr>
        <p:txBody>
          <a:bodyPr vert="horz" wrap="square" lIns="0" tIns="0" rIns="0" bIns="0" rtlCol="0" anchor="ctr">
            <a:spAutoFit/>
          </a:bodyPr>
          <a:lstStyle/>
          <a:p>
            <a:r>
              <a:rPr lang="en-GB" sz="1500" b="1">
                <a:solidFill>
                  <a:srgbClr val="19263A"/>
                </a:solidFill>
                <a:latin typeface="Segoe UI Semibold" panose="020B0702040204020203" pitchFamily="34" charset="0"/>
              </a:rPr>
              <a:t>Interview</a:t>
            </a:r>
          </a:p>
        </p:txBody>
      </p:sp>
      <p:sp>
        <p:nvSpPr>
          <p:cNvPr id="22" name="TextBox 21">
            <a:extLst>
              <a:ext uri="{FF2B5EF4-FFF2-40B4-BE49-F238E27FC236}">
                <a16:creationId xmlns:a16="http://schemas.microsoft.com/office/drawing/2014/main" id="{8082CA24-6781-884D-0FF2-6488F6E8DB2F}"/>
              </a:ext>
            </a:extLst>
          </p:cNvPr>
          <p:cNvSpPr txBox="1"/>
          <p:nvPr/>
        </p:nvSpPr>
        <p:spPr>
          <a:xfrm>
            <a:off x="9474200" y="3098800"/>
            <a:ext cx="3378200" cy="176972"/>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Participation + feedback turnaround</a:t>
            </a:r>
          </a:p>
        </p:txBody>
      </p:sp>
      <p:sp>
        <p:nvSpPr>
          <p:cNvPr id="23" name="Rectangle: Rounded Corners 22">
            <a:extLst>
              <a:ext uri="{FF2B5EF4-FFF2-40B4-BE49-F238E27FC236}">
                <a16:creationId xmlns:a16="http://schemas.microsoft.com/office/drawing/2014/main" id="{A3FD7ADB-4975-9AF8-B5B6-A936ED456848}"/>
              </a:ext>
            </a:extLst>
          </p:cNvPr>
          <p:cNvSpPr/>
          <p:nvPr/>
        </p:nvSpPr>
        <p:spPr>
          <a:xfrm>
            <a:off x="13309600" y="2413000"/>
            <a:ext cx="3810000" cy="1498600"/>
          </a:xfrm>
          <a:prstGeom prst="roundRect">
            <a:avLst/>
          </a:prstGeom>
          <a:solidFill>
            <a:srgbClr val="FFFFFF"/>
          </a:solidFill>
          <a:ln w="12700">
            <a:solidFill>
              <a:srgbClr val="C7DCEC"/>
            </a:solidFill>
          </a:ln>
          <a:effectLst>
            <a:outerShdw blurRad="127000" dist="50800" dir="5400000" rotWithShape="0">
              <a:srgbClr val="18324C">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Rounded Corners 23">
            <a:extLst>
              <a:ext uri="{FF2B5EF4-FFF2-40B4-BE49-F238E27FC236}">
                <a16:creationId xmlns:a16="http://schemas.microsoft.com/office/drawing/2014/main" id="{4EEA70AA-1240-12FB-9B87-C30B95F83D44}"/>
              </a:ext>
            </a:extLst>
          </p:cNvPr>
          <p:cNvSpPr/>
          <p:nvPr/>
        </p:nvSpPr>
        <p:spPr>
          <a:xfrm>
            <a:off x="13512800" y="2603500"/>
            <a:ext cx="609600" cy="355600"/>
          </a:xfrm>
          <a:prstGeom prst="roundRect">
            <a:avLst/>
          </a:prstGeom>
          <a:solidFill>
            <a:srgbClr val="E1F7EC"/>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A46205A7-FB1F-1C3D-7A96-B6A5FED6F0C3}"/>
              </a:ext>
            </a:extLst>
          </p:cNvPr>
          <p:cNvSpPr txBox="1"/>
          <p:nvPr/>
        </p:nvSpPr>
        <p:spPr>
          <a:xfrm>
            <a:off x="13512800" y="2641972"/>
            <a:ext cx="609600" cy="189796"/>
          </a:xfrm>
          <a:prstGeom prst="rect">
            <a:avLst/>
          </a:prstGeom>
          <a:noFill/>
        </p:spPr>
        <p:txBody>
          <a:bodyPr vert="horz" wrap="square" lIns="25400" tIns="25400" rIns="25400" bIns="25400" rtlCol="0" anchor="ctr">
            <a:spAutoFit/>
          </a:bodyPr>
          <a:lstStyle/>
          <a:p>
            <a:pPr algn="ctr"/>
            <a:r>
              <a:rPr lang="en-GB" sz="900" b="1">
                <a:solidFill>
                  <a:srgbClr val="26A65B"/>
                </a:solidFill>
                <a:latin typeface="Segoe UI Semibold" panose="020B0702040204020203" pitchFamily="34" charset="0"/>
              </a:rPr>
              <a:t>04</a:t>
            </a:r>
          </a:p>
        </p:txBody>
      </p:sp>
      <p:sp>
        <p:nvSpPr>
          <p:cNvPr id="26" name="TextBox 25">
            <a:extLst>
              <a:ext uri="{FF2B5EF4-FFF2-40B4-BE49-F238E27FC236}">
                <a16:creationId xmlns:a16="http://schemas.microsoft.com/office/drawing/2014/main" id="{4E403928-741F-028A-753C-CD4B2019A0C8}"/>
              </a:ext>
            </a:extLst>
          </p:cNvPr>
          <p:cNvSpPr txBox="1"/>
          <p:nvPr/>
        </p:nvSpPr>
        <p:spPr>
          <a:xfrm>
            <a:off x="14300200" y="2595806"/>
            <a:ext cx="2540000" cy="230832"/>
          </a:xfrm>
          <a:prstGeom prst="rect">
            <a:avLst/>
          </a:prstGeom>
          <a:noFill/>
        </p:spPr>
        <p:txBody>
          <a:bodyPr vert="horz" wrap="square" lIns="0" tIns="0" rIns="0" bIns="0" rtlCol="0" anchor="ctr">
            <a:spAutoFit/>
          </a:bodyPr>
          <a:lstStyle/>
          <a:p>
            <a:r>
              <a:rPr lang="en-GB" sz="1500" b="1">
                <a:solidFill>
                  <a:srgbClr val="19263A"/>
                </a:solidFill>
                <a:latin typeface="Segoe UI Semibold" panose="020B0702040204020203" pitchFamily="34" charset="0"/>
              </a:rPr>
              <a:t>Readiness</a:t>
            </a:r>
          </a:p>
        </p:txBody>
      </p:sp>
      <p:sp>
        <p:nvSpPr>
          <p:cNvPr id="27" name="TextBox 26">
            <a:extLst>
              <a:ext uri="{FF2B5EF4-FFF2-40B4-BE49-F238E27FC236}">
                <a16:creationId xmlns:a16="http://schemas.microsoft.com/office/drawing/2014/main" id="{129D669E-472A-E767-6A39-42F1057C11CB}"/>
              </a:ext>
            </a:extLst>
          </p:cNvPr>
          <p:cNvSpPr txBox="1"/>
          <p:nvPr/>
        </p:nvSpPr>
        <p:spPr>
          <a:xfrm>
            <a:off x="13512800" y="3098800"/>
            <a:ext cx="3378200" cy="176972"/>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Change in evidence-backed cohort score</a:t>
            </a:r>
          </a:p>
        </p:txBody>
      </p:sp>
      <p:sp>
        <p:nvSpPr>
          <p:cNvPr id="28" name="TextBox 27">
            <a:extLst>
              <a:ext uri="{FF2B5EF4-FFF2-40B4-BE49-F238E27FC236}">
                <a16:creationId xmlns:a16="http://schemas.microsoft.com/office/drawing/2014/main" id="{E38B83FD-F4B1-31F4-7008-C84EB4E78790}"/>
              </a:ext>
            </a:extLst>
          </p:cNvPr>
          <p:cNvSpPr txBox="1"/>
          <p:nvPr/>
        </p:nvSpPr>
        <p:spPr>
          <a:xfrm>
            <a:off x="1193800" y="4361478"/>
            <a:ext cx="5842000" cy="153888"/>
          </a:xfrm>
          <a:prstGeom prst="rect">
            <a:avLst/>
          </a:prstGeom>
          <a:noFill/>
        </p:spPr>
        <p:txBody>
          <a:bodyPr vert="horz" wrap="square" lIns="0" tIns="0" rIns="0" bIns="0" rtlCol="0" anchor="ctr">
            <a:spAutoFit/>
          </a:bodyPr>
          <a:lstStyle/>
          <a:p>
            <a:r>
              <a:rPr lang="en-GB" sz="1000">
                <a:solidFill>
                  <a:srgbClr val="009DDC"/>
                </a:solidFill>
                <a:latin typeface="Press Start 2P" panose="020B0604020202020204" charset="0"/>
              </a:rPr>
              <a:t>90-DAY EXECUTION ROADMAP</a:t>
            </a:r>
          </a:p>
        </p:txBody>
      </p:sp>
      <p:cxnSp>
        <p:nvCxnSpPr>
          <p:cNvPr id="29" name="Straight Connector 28">
            <a:extLst>
              <a:ext uri="{FF2B5EF4-FFF2-40B4-BE49-F238E27FC236}">
                <a16:creationId xmlns:a16="http://schemas.microsoft.com/office/drawing/2014/main" id="{EFE1292C-9786-C348-AC5D-356E780BB168}"/>
              </a:ext>
            </a:extLst>
          </p:cNvPr>
          <p:cNvCxnSpPr/>
          <p:nvPr/>
        </p:nvCxnSpPr>
        <p:spPr>
          <a:xfrm>
            <a:off x="2159000" y="5257800"/>
            <a:ext cx="13843000" cy="0"/>
          </a:xfrm>
          <a:prstGeom prst="line">
            <a:avLst/>
          </a:prstGeom>
          <a:ln w="76200">
            <a:solidFill>
              <a:srgbClr val="C7DCEC"/>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8BB5FF97-D188-8256-D19D-F80199D6FE4E}"/>
              </a:ext>
            </a:extLst>
          </p:cNvPr>
          <p:cNvSpPr/>
          <p:nvPr/>
        </p:nvSpPr>
        <p:spPr>
          <a:xfrm>
            <a:off x="2159000" y="4991100"/>
            <a:ext cx="533400" cy="533400"/>
          </a:xfrm>
          <a:prstGeom prst="ellipse">
            <a:avLst/>
          </a:prstGeom>
          <a:solidFill>
            <a:srgbClr val="009DDC"/>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extBox 30">
            <a:extLst>
              <a:ext uri="{FF2B5EF4-FFF2-40B4-BE49-F238E27FC236}">
                <a16:creationId xmlns:a16="http://schemas.microsoft.com/office/drawing/2014/main" id="{78C64CDC-D306-FC9E-AE6F-39B5BFEC86C8}"/>
              </a:ext>
            </a:extLst>
          </p:cNvPr>
          <p:cNvSpPr txBox="1"/>
          <p:nvPr/>
        </p:nvSpPr>
        <p:spPr>
          <a:xfrm>
            <a:off x="1778000" y="5715372"/>
            <a:ext cx="2286000" cy="138499"/>
          </a:xfrm>
          <a:prstGeom prst="rect">
            <a:avLst/>
          </a:prstGeom>
          <a:noFill/>
        </p:spPr>
        <p:txBody>
          <a:bodyPr vert="horz" wrap="square" lIns="0" tIns="0" rIns="0" bIns="0" rtlCol="0" anchor="ctr">
            <a:spAutoFit/>
          </a:bodyPr>
          <a:lstStyle/>
          <a:p>
            <a:r>
              <a:rPr lang="en-GB" sz="900">
                <a:solidFill>
                  <a:srgbClr val="009DDC"/>
                </a:solidFill>
                <a:latin typeface="Press Start 2P" panose="020B0604020202020204" charset="0"/>
              </a:rPr>
              <a:t>0-30 DAYS</a:t>
            </a:r>
          </a:p>
        </p:txBody>
      </p:sp>
      <p:sp>
        <p:nvSpPr>
          <p:cNvPr id="32" name="TextBox 31">
            <a:extLst>
              <a:ext uri="{FF2B5EF4-FFF2-40B4-BE49-F238E27FC236}">
                <a16:creationId xmlns:a16="http://schemas.microsoft.com/office/drawing/2014/main" id="{099DF55D-1142-30B1-7B0A-95C2A7B5D89D}"/>
              </a:ext>
            </a:extLst>
          </p:cNvPr>
          <p:cNvSpPr txBox="1"/>
          <p:nvPr/>
        </p:nvSpPr>
        <p:spPr>
          <a:xfrm>
            <a:off x="1778000" y="6029812"/>
            <a:ext cx="3683000" cy="246221"/>
          </a:xfrm>
          <a:prstGeom prst="rect">
            <a:avLst/>
          </a:prstGeom>
          <a:noFill/>
        </p:spPr>
        <p:txBody>
          <a:bodyPr vert="horz" wrap="square" lIns="0" tIns="0" rIns="0" bIns="0" rtlCol="0" anchor="ctr">
            <a:spAutoFit/>
          </a:bodyPr>
          <a:lstStyle/>
          <a:p>
            <a:r>
              <a:rPr lang="en-GB" sz="1600" b="1">
                <a:solidFill>
                  <a:srgbClr val="19263A"/>
                </a:solidFill>
                <a:latin typeface="Segoe UI Semibold" panose="020B0702040204020203" pitchFamily="34" charset="0"/>
              </a:rPr>
              <a:t>Pilot setup</a:t>
            </a:r>
          </a:p>
        </p:txBody>
      </p:sp>
      <p:sp>
        <p:nvSpPr>
          <p:cNvPr id="33" name="TextBox 32">
            <a:extLst>
              <a:ext uri="{FF2B5EF4-FFF2-40B4-BE49-F238E27FC236}">
                <a16:creationId xmlns:a16="http://schemas.microsoft.com/office/drawing/2014/main" id="{3A890A67-C9A6-6929-47E4-A3E60AF8CB3C}"/>
              </a:ext>
            </a:extLst>
          </p:cNvPr>
          <p:cNvSpPr txBox="1"/>
          <p:nvPr/>
        </p:nvSpPr>
        <p:spPr>
          <a:xfrm>
            <a:off x="1778000" y="6426200"/>
            <a:ext cx="3937000" cy="176972"/>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Select cohort | baseline skills | configure content</a:t>
            </a:r>
          </a:p>
        </p:txBody>
      </p:sp>
      <p:sp>
        <p:nvSpPr>
          <p:cNvPr id="34" name="Oval 33">
            <a:extLst>
              <a:ext uri="{FF2B5EF4-FFF2-40B4-BE49-F238E27FC236}">
                <a16:creationId xmlns:a16="http://schemas.microsoft.com/office/drawing/2014/main" id="{D017AF1B-1535-FAC3-9CA9-46EE8261E1CD}"/>
              </a:ext>
            </a:extLst>
          </p:cNvPr>
          <p:cNvSpPr/>
          <p:nvPr/>
        </p:nvSpPr>
        <p:spPr>
          <a:xfrm>
            <a:off x="6921500" y="4991100"/>
            <a:ext cx="533400" cy="533400"/>
          </a:xfrm>
          <a:prstGeom prst="ellipse">
            <a:avLst/>
          </a:prstGeom>
          <a:solidFill>
            <a:srgbClr val="F4A431"/>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a:extLst>
              <a:ext uri="{FF2B5EF4-FFF2-40B4-BE49-F238E27FC236}">
                <a16:creationId xmlns:a16="http://schemas.microsoft.com/office/drawing/2014/main" id="{F2EEDC20-7639-C3C1-E5F5-D7AAB35424E9}"/>
              </a:ext>
            </a:extLst>
          </p:cNvPr>
          <p:cNvSpPr txBox="1"/>
          <p:nvPr/>
        </p:nvSpPr>
        <p:spPr>
          <a:xfrm>
            <a:off x="6540500" y="5715372"/>
            <a:ext cx="2286000" cy="138499"/>
          </a:xfrm>
          <a:prstGeom prst="rect">
            <a:avLst/>
          </a:prstGeom>
          <a:noFill/>
        </p:spPr>
        <p:txBody>
          <a:bodyPr vert="horz" wrap="square" lIns="0" tIns="0" rIns="0" bIns="0" rtlCol="0" anchor="ctr">
            <a:spAutoFit/>
          </a:bodyPr>
          <a:lstStyle/>
          <a:p>
            <a:r>
              <a:rPr lang="en-GB" sz="900">
                <a:solidFill>
                  <a:srgbClr val="F4A431"/>
                </a:solidFill>
                <a:latin typeface="Press Start 2P" panose="020B0604020202020204" charset="0"/>
              </a:rPr>
              <a:t>31-60 DAYS</a:t>
            </a:r>
          </a:p>
        </p:txBody>
      </p:sp>
      <p:sp>
        <p:nvSpPr>
          <p:cNvPr id="36" name="TextBox 35">
            <a:extLst>
              <a:ext uri="{FF2B5EF4-FFF2-40B4-BE49-F238E27FC236}">
                <a16:creationId xmlns:a16="http://schemas.microsoft.com/office/drawing/2014/main" id="{5ADC2309-69B6-15F8-A3D3-353CEEBEC665}"/>
              </a:ext>
            </a:extLst>
          </p:cNvPr>
          <p:cNvSpPr txBox="1"/>
          <p:nvPr/>
        </p:nvSpPr>
        <p:spPr>
          <a:xfrm>
            <a:off x="6540500" y="6029812"/>
            <a:ext cx="3683000" cy="246221"/>
          </a:xfrm>
          <a:prstGeom prst="rect">
            <a:avLst/>
          </a:prstGeom>
          <a:noFill/>
        </p:spPr>
        <p:txBody>
          <a:bodyPr vert="horz" wrap="square" lIns="0" tIns="0" rIns="0" bIns="0" rtlCol="0" anchor="ctr">
            <a:spAutoFit/>
          </a:bodyPr>
          <a:lstStyle/>
          <a:p>
            <a:r>
              <a:rPr lang="en-GB" sz="1600" b="1">
                <a:solidFill>
                  <a:srgbClr val="19263A"/>
                </a:solidFill>
                <a:latin typeface="Segoe UI Semibold" panose="020B0702040204020203" pitchFamily="34" charset="0"/>
              </a:rPr>
              <a:t>Run the loop</a:t>
            </a:r>
          </a:p>
        </p:txBody>
      </p:sp>
      <p:sp>
        <p:nvSpPr>
          <p:cNvPr id="37" name="TextBox 36">
            <a:extLst>
              <a:ext uri="{FF2B5EF4-FFF2-40B4-BE49-F238E27FC236}">
                <a16:creationId xmlns:a16="http://schemas.microsoft.com/office/drawing/2014/main" id="{A62EA4AF-1493-4268-04C0-9C8ED37D8EED}"/>
              </a:ext>
            </a:extLst>
          </p:cNvPr>
          <p:cNvSpPr txBox="1"/>
          <p:nvPr/>
        </p:nvSpPr>
        <p:spPr>
          <a:xfrm>
            <a:off x="6540500" y="6426200"/>
            <a:ext cx="3937000" cy="176972"/>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Practice | assessments | interviews | interventions</a:t>
            </a:r>
          </a:p>
        </p:txBody>
      </p:sp>
      <p:sp>
        <p:nvSpPr>
          <p:cNvPr id="38" name="Oval 37">
            <a:extLst>
              <a:ext uri="{FF2B5EF4-FFF2-40B4-BE49-F238E27FC236}">
                <a16:creationId xmlns:a16="http://schemas.microsoft.com/office/drawing/2014/main" id="{4BC361DF-3294-022B-5C78-EA8C397CCC8E}"/>
              </a:ext>
            </a:extLst>
          </p:cNvPr>
          <p:cNvSpPr/>
          <p:nvPr/>
        </p:nvSpPr>
        <p:spPr>
          <a:xfrm>
            <a:off x="11684000" y="4991100"/>
            <a:ext cx="533400" cy="533400"/>
          </a:xfrm>
          <a:prstGeom prst="ellipse">
            <a:avLst/>
          </a:prstGeom>
          <a:solidFill>
            <a:srgbClr val="26A65B"/>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TextBox 38">
            <a:extLst>
              <a:ext uri="{FF2B5EF4-FFF2-40B4-BE49-F238E27FC236}">
                <a16:creationId xmlns:a16="http://schemas.microsoft.com/office/drawing/2014/main" id="{E3E06A43-AD51-B3B9-C0B3-286D4E4BA2B7}"/>
              </a:ext>
            </a:extLst>
          </p:cNvPr>
          <p:cNvSpPr txBox="1"/>
          <p:nvPr/>
        </p:nvSpPr>
        <p:spPr>
          <a:xfrm>
            <a:off x="11303000" y="5715372"/>
            <a:ext cx="2286000" cy="138499"/>
          </a:xfrm>
          <a:prstGeom prst="rect">
            <a:avLst/>
          </a:prstGeom>
          <a:noFill/>
        </p:spPr>
        <p:txBody>
          <a:bodyPr vert="horz" wrap="square" lIns="0" tIns="0" rIns="0" bIns="0" rtlCol="0" anchor="ctr">
            <a:spAutoFit/>
          </a:bodyPr>
          <a:lstStyle/>
          <a:p>
            <a:r>
              <a:rPr lang="en-GB" sz="900">
                <a:solidFill>
                  <a:srgbClr val="26A65B"/>
                </a:solidFill>
                <a:latin typeface="Press Start 2P" panose="020B0604020202020204" charset="0"/>
              </a:rPr>
              <a:t>61-90 DAYS</a:t>
            </a:r>
          </a:p>
        </p:txBody>
      </p:sp>
      <p:sp>
        <p:nvSpPr>
          <p:cNvPr id="40" name="TextBox 39">
            <a:extLst>
              <a:ext uri="{FF2B5EF4-FFF2-40B4-BE49-F238E27FC236}">
                <a16:creationId xmlns:a16="http://schemas.microsoft.com/office/drawing/2014/main" id="{9832A343-2DF7-024B-0314-DFF6CA4DB0CE}"/>
              </a:ext>
            </a:extLst>
          </p:cNvPr>
          <p:cNvSpPr txBox="1"/>
          <p:nvPr/>
        </p:nvSpPr>
        <p:spPr>
          <a:xfrm>
            <a:off x="11303000" y="6029812"/>
            <a:ext cx="3683000" cy="246221"/>
          </a:xfrm>
          <a:prstGeom prst="rect">
            <a:avLst/>
          </a:prstGeom>
          <a:noFill/>
        </p:spPr>
        <p:txBody>
          <a:bodyPr vert="horz" wrap="square" lIns="0" tIns="0" rIns="0" bIns="0" rtlCol="0" anchor="ctr">
            <a:spAutoFit/>
          </a:bodyPr>
          <a:lstStyle/>
          <a:p>
            <a:r>
              <a:rPr lang="en-GB" sz="1600" b="1">
                <a:solidFill>
                  <a:srgbClr val="19263A"/>
                </a:solidFill>
                <a:latin typeface="Segoe UI Semibold" panose="020B0702040204020203" pitchFamily="34" charset="0"/>
              </a:rPr>
              <a:t>Prove + scale</a:t>
            </a:r>
          </a:p>
        </p:txBody>
      </p:sp>
      <p:sp>
        <p:nvSpPr>
          <p:cNvPr id="41" name="TextBox 40">
            <a:extLst>
              <a:ext uri="{FF2B5EF4-FFF2-40B4-BE49-F238E27FC236}">
                <a16:creationId xmlns:a16="http://schemas.microsoft.com/office/drawing/2014/main" id="{E9676D4C-EB9C-DD2F-4E95-3DC1FBDE8F23}"/>
              </a:ext>
            </a:extLst>
          </p:cNvPr>
          <p:cNvSpPr txBox="1"/>
          <p:nvPr/>
        </p:nvSpPr>
        <p:spPr>
          <a:xfrm>
            <a:off x="11303000" y="6426200"/>
            <a:ext cx="3937000" cy="176972"/>
          </a:xfrm>
          <a:prstGeom prst="rect">
            <a:avLst/>
          </a:prstGeom>
          <a:noFill/>
        </p:spPr>
        <p:txBody>
          <a:bodyPr vert="horz" wrap="square" lIns="0" tIns="0" rIns="0" bIns="0" rtlCol="0" anchor="t">
            <a:spAutoFit/>
          </a:bodyPr>
          <a:lstStyle/>
          <a:p>
            <a:r>
              <a:rPr lang="en-GB" sz="1150">
                <a:solidFill>
                  <a:srgbClr val="50627A"/>
                </a:solidFill>
                <a:latin typeface="Segoe UI" panose="020B0502040204020203" pitchFamily="34" charset="0"/>
              </a:rPr>
              <a:t>Compare outcomes | harden ops | campus rollout</a:t>
            </a:r>
          </a:p>
        </p:txBody>
      </p:sp>
      <p:sp>
        <p:nvSpPr>
          <p:cNvPr id="42" name="Rectangle: Rounded Corners 41">
            <a:extLst>
              <a:ext uri="{FF2B5EF4-FFF2-40B4-BE49-F238E27FC236}">
                <a16:creationId xmlns:a16="http://schemas.microsoft.com/office/drawing/2014/main" id="{A4960CD6-EE4B-78D2-05ED-DE79574162AF}"/>
              </a:ext>
            </a:extLst>
          </p:cNvPr>
          <p:cNvSpPr/>
          <p:nvPr/>
        </p:nvSpPr>
        <p:spPr>
          <a:xfrm>
            <a:off x="1193800" y="7353300"/>
            <a:ext cx="15748000" cy="1422400"/>
          </a:xfrm>
          <a:prstGeom prst="roundRect">
            <a:avLst/>
          </a:prstGeom>
          <a:solidFill>
            <a:srgbClr val="112D52"/>
          </a:solidFill>
          <a:ln w="25400">
            <a:noFill/>
            <a:prstDash val="solid"/>
          </a:ln>
          <a:effectLst/>
          <a:extLst>
            <a:ext uri="{91240B29-F687-4F45-9708-019B960494DF}">
              <a14:hiddenLine xmlns:a14="http://schemas.microsoft.com/office/drawing/2010/main" w="2540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Box 42">
            <a:extLst>
              <a:ext uri="{FF2B5EF4-FFF2-40B4-BE49-F238E27FC236}">
                <a16:creationId xmlns:a16="http://schemas.microsoft.com/office/drawing/2014/main" id="{0BDD3D6A-A026-F45E-5BA6-88BA2EE0EF10}"/>
              </a:ext>
            </a:extLst>
          </p:cNvPr>
          <p:cNvSpPr txBox="1"/>
          <p:nvPr/>
        </p:nvSpPr>
        <p:spPr>
          <a:xfrm>
            <a:off x="1524000" y="7625378"/>
            <a:ext cx="3429000" cy="153888"/>
          </a:xfrm>
          <a:prstGeom prst="rect">
            <a:avLst/>
          </a:prstGeom>
          <a:noFill/>
        </p:spPr>
        <p:txBody>
          <a:bodyPr vert="horz" wrap="square" lIns="0" tIns="0" rIns="0" bIns="0" rtlCol="0" anchor="ctr">
            <a:spAutoFit/>
          </a:bodyPr>
          <a:lstStyle/>
          <a:p>
            <a:r>
              <a:rPr lang="en-GB" sz="1000">
                <a:solidFill>
                  <a:srgbClr val="E2F4FD"/>
                </a:solidFill>
                <a:latin typeface="Press Start 2P" panose="020B0604020202020204" charset="0"/>
              </a:rPr>
              <a:t>THE HACKATHON ASK</a:t>
            </a:r>
          </a:p>
        </p:txBody>
      </p:sp>
      <p:sp>
        <p:nvSpPr>
          <p:cNvPr id="44" name="TextBox 43">
            <a:extLst>
              <a:ext uri="{FF2B5EF4-FFF2-40B4-BE49-F238E27FC236}">
                <a16:creationId xmlns:a16="http://schemas.microsoft.com/office/drawing/2014/main" id="{21E495FE-8373-35D9-DC4E-61AD3A469FD7}"/>
              </a:ext>
            </a:extLst>
          </p:cNvPr>
          <p:cNvSpPr txBox="1"/>
          <p:nvPr/>
        </p:nvSpPr>
        <p:spPr>
          <a:xfrm>
            <a:off x="5105400" y="7454528"/>
            <a:ext cx="11303000" cy="292388"/>
          </a:xfrm>
          <a:prstGeom prst="rect">
            <a:avLst/>
          </a:prstGeom>
          <a:noFill/>
        </p:spPr>
        <p:txBody>
          <a:bodyPr vert="horz" wrap="square" lIns="0" tIns="0" rIns="0" bIns="0" rtlCol="0" anchor="ctr">
            <a:spAutoFit/>
          </a:bodyPr>
          <a:lstStyle/>
          <a:p>
            <a:r>
              <a:rPr lang="en-GB" sz="1900" b="1">
                <a:solidFill>
                  <a:srgbClr val="FFFFFF"/>
                </a:solidFill>
                <a:latin typeface="Segoe UI Semibold" panose="020B0702040204020203" pitchFamily="34" charset="0"/>
              </a:rPr>
              <a:t>Pilot PeerPrep with one placement cohort - and evaluate it on evidence, not promises.</a:t>
            </a:r>
          </a:p>
        </p:txBody>
      </p:sp>
      <p:sp>
        <p:nvSpPr>
          <p:cNvPr id="45" name="TextBox 44">
            <a:extLst>
              <a:ext uri="{FF2B5EF4-FFF2-40B4-BE49-F238E27FC236}">
                <a16:creationId xmlns:a16="http://schemas.microsoft.com/office/drawing/2014/main" id="{464DC8F7-6764-7204-0264-77696FB611D1}"/>
              </a:ext>
            </a:extLst>
          </p:cNvPr>
          <p:cNvSpPr txBox="1"/>
          <p:nvPr/>
        </p:nvSpPr>
        <p:spPr>
          <a:xfrm>
            <a:off x="5105400" y="8143389"/>
            <a:ext cx="11303000" cy="184666"/>
          </a:xfrm>
          <a:prstGeom prst="rect">
            <a:avLst/>
          </a:prstGeom>
          <a:noFill/>
        </p:spPr>
        <p:txBody>
          <a:bodyPr vert="horz" wrap="square" lIns="0" tIns="0" rIns="0" bIns="0" rtlCol="0" anchor="ctr">
            <a:spAutoFit/>
          </a:bodyPr>
          <a:lstStyle/>
          <a:p>
            <a:r>
              <a:rPr lang="en-GB" sz="1200">
                <a:solidFill>
                  <a:srgbClr val="E2F4FD"/>
                </a:solidFill>
                <a:latin typeface="Segoe UI" panose="020B0502040204020203" pitchFamily="34" charset="0"/>
              </a:rPr>
              <a:t>Social: clearer support  |  Economic: less manual coordination  |  Environmental: digital-first assessments and reports</a:t>
            </a:r>
          </a:p>
        </p:txBody>
      </p:sp>
      <p:sp>
        <p:nvSpPr>
          <p:cNvPr id="46" name="TextBox 45">
            <a:extLst>
              <a:ext uri="{FF2B5EF4-FFF2-40B4-BE49-F238E27FC236}">
                <a16:creationId xmlns:a16="http://schemas.microsoft.com/office/drawing/2014/main" id="{1B49D489-DC90-A834-C33B-D06D54435534}"/>
              </a:ext>
            </a:extLst>
          </p:cNvPr>
          <p:cNvSpPr txBox="1"/>
          <p:nvPr/>
        </p:nvSpPr>
        <p:spPr>
          <a:xfrm>
            <a:off x="3556000" y="9149378"/>
            <a:ext cx="11176000" cy="153888"/>
          </a:xfrm>
          <a:prstGeom prst="rect">
            <a:avLst/>
          </a:prstGeom>
          <a:noFill/>
        </p:spPr>
        <p:txBody>
          <a:bodyPr vert="horz" wrap="square" lIns="0" tIns="0" rIns="0" bIns="0" rtlCol="0" anchor="ctr">
            <a:spAutoFit/>
          </a:bodyPr>
          <a:lstStyle/>
          <a:p>
            <a:pPr algn="ctr"/>
            <a:r>
              <a:rPr lang="en-GB" sz="1000">
                <a:solidFill>
                  <a:srgbClr val="112D52"/>
                </a:solidFill>
                <a:latin typeface="Press Start 2P" panose="020B0604020202020204" charset="0"/>
              </a:rPr>
              <a:t>ANUBHAV DHYANI  |  VIVEK SEMWAL  |  AKSHIT RAWAT</a:t>
            </a:r>
          </a:p>
        </p:txBody>
      </p:sp>
      <p:sp>
        <p:nvSpPr>
          <p:cNvPr id="47" name="TextBox 46">
            <a:extLst>
              <a:ext uri="{FF2B5EF4-FFF2-40B4-BE49-F238E27FC236}">
                <a16:creationId xmlns:a16="http://schemas.microsoft.com/office/drawing/2014/main" id="{844E5756-D2AD-98D5-3B04-480271C34246}"/>
              </a:ext>
            </a:extLst>
          </p:cNvPr>
          <p:cNvSpPr txBox="1"/>
          <p:nvPr/>
        </p:nvSpPr>
        <p:spPr>
          <a:xfrm>
            <a:off x="4826000" y="9468036"/>
            <a:ext cx="8636000" cy="176972"/>
          </a:xfrm>
          <a:prstGeom prst="rect">
            <a:avLst/>
          </a:prstGeom>
          <a:noFill/>
        </p:spPr>
        <p:txBody>
          <a:bodyPr vert="horz" wrap="square" lIns="0" tIns="0" rIns="0" bIns="0" rtlCol="0" anchor="ctr">
            <a:spAutoFit/>
          </a:bodyPr>
          <a:lstStyle/>
          <a:p>
            <a:pPr algn="ctr"/>
            <a:r>
              <a:rPr lang="en-GB" sz="1150">
                <a:solidFill>
                  <a:srgbClr val="50627A"/>
                </a:solidFill>
                <a:latin typeface="Segoe UI" panose="020B0502040204020203" pitchFamily="34" charset="0"/>
              </a:rPr>
              <a:t>Graphic Era Hill University | Dehradun, Uttarakhand</a:t>
            </a:r>
          </a:p>
        </p:txBody>
      </p:sp>
    </p:spTree>
    <p:extLst>
      <p:ext uri="{BB962C8B-B14F-4D97-AF65-F5344CB8AC3E}">
        <p14:creationId xmlns:p14="http://schemas.microsoft.com/office/powerpoint/2010/main" val="189753480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TotalTime>
  <Words>1147</Words>
  <Application>Microsoft Office PowerPoint</Application>
  <DocSecurity>0</DocSecurity>
  <PresentationFormat>Custom</PresentationFormat>
  <Paragraphs>180</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Press Start 2P</vt:lpstr>
      <vt:lpstr>Calibri</vt:lpstr>
      <vt:lpstr>Segoe UI Semibold</vt:lpstr>
      <vt:lpstr>Segoe UI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vivek semwal</cp:lastModifiedBy>
  <cp:revision>4</cp:revision>
  <dcterms:created xsi:type="dcterms:W3CDTF">2026-10-12T10:05:21Z</dcterms:created>
  <dcterms:modified xsi:type="dcterms:W3CDTF">2026-10-13T11:11:12Z</dcterms:modified>
</cp:coreProperties>
</file>